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Θέλω να ξεκινήσω με μια απλή ερώτηση. Πόσοι από εμάς έχουμε αφιερώσει ώρες — ίσως και ολόκληρα Σαββατοκύριακα — για ένα έργο που δεν μας αποφέρει άμεσα χρήματα; Ένα bug, μια μετάφραση, ένα documentation fix, μια εφαρμογή που ήθελε κάποιος να υπάρχει;</a:t>
            </a:r>
            <a:endParaRPr/>
          </a:p>
          <a:p>
            <a:pPr indent="0" lvl="0" marL="0" rtl="0" algn="l">
              <a:spcBef>
                <a:spcPts val="0"/>
              </a:spcBef>
              <a:spcAft>
                <a:spcPts val="0"/>
              </a:spcAft>
              <a:buNone/>
            </a:pPr>
            <a:r>
              <a:rPr lang="el"/>
              <a:t>Σήμερα θα μιλήσουμε για αυτή την προσφορά, για το πώς μπορούμε να τη συνεχίσουμε χωρίς να εξαντλούμαστε και για το πώς η τεχνητή νοημοσύνη μπορεί να μας βοηθήσει, αρκεί να τη χρησιμοποιούμε σωστά</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aae288c749803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haae288c749803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aae288c7498039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aae288c7498039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6ecbb5c705033a5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6ecbb5c705033a5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Όταν λέμε ελεύθερο λογισμικό, συνήθως σκεφτόμαστε τον κώδικα. Όμως ένα έργο χρειάζεται πολλά περισσότερα: τεκμηρίωση, μεταφράσεις, αναφορές σφαλμάτων, δοκιμές, διαχείριση υποδομών και ανθρώπους που απαντούν σε ερωτήσεις.</a:t>
            </a:r>
            <a:endParaRPr/>
          </a:p>
          <a:p>
            <a:pPr indent="0" lvl="0" marL="0" rtl="0" algn="l">
              <a:spcBef>
                <a:spcPts val="0"/>
              </a:spcBef>
              <a:spcAft>
                <a:spcPts val="0"/>
              </a:spcAft>
              <a:buNone/>
            </a:pPr>
            <a:r>
              <a:rPr lang="el"/>
              <a:t>Ένα μικρό pull request μπορεί να είναι εξίσου σημαντικό για έναν χρήστη με μια μεγάλη νέα λειτουργία. Η αξία της συνεισφοράς δεν μετριέται μόνο σε γραμμές κώδικα</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6ecbb5c705033a5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6ecbb5c705033a5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Ένα έργο δεν τελειώνει όταν δημοσιεύσουμε την πρώτη έκδοση. Μετά έρχονται τα issues, οι ενημερώσεις, οι ασυμβατότητες, οι ερωτήσεις χρηστών και οι νέες εκδόσεις.</a:t>
            </a:r>
            <a:endParaRPr/>
          </a:p>
          <a:p>
            <a:pPr indent="0" lvl="0" marL="0" rtl="0" algn="l">
              <a:spcBef>
                <a:spcPts val="0"/>
              </a:spcBef>
              <a:spcAft>
                <a:spcPts val="0"/>
              </a:spcAft>
              <a:buNone/>
            </a:pPr>
            <a:r>
              <a:rPr lang="el"/>
              <a:t>Και πολύ συχνά, ο ίδιος άνθρωπος καλείται να τα κάνει όλα. Όταν οι χρήστες βλέπουν ένα project να λειτουργεί, δεν βλέπουν πάντα την αόρατη εργασία που το κρατά ζωντανό.</a:t>
            </a:r>
            <a:endParaRPr/>
          </a:p>
          <a:p>
            <a:pPr indent="0" lvl="0" marL="0" rtl="0" algn="l">
              <a:spcBef>
                <a:spcPts val="0"/>
              </a:spcBef>
              <a:spcAft>
                <a:spcPts val="0"/>
              </a:spcAft>
              <a:buNone/>
            </a:pPr>
            <a:r>
              <a:rPr lang="el"/>
              <a:t>Αυτό δημιουργεί ένα ερώτημα: πώς παραμένουμε δημιουργικοί και χρήσιμοι όταν οι ανάγκες του έργου δεν τελειώνουν ποτέ;</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6ecbb5c705033a59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h6ecbb5c705033a59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Στις κοινότητες ελεύθερου λογισμικού, η αφοσίωση είναι κάτι πολύτιμο. Αλλά υπάρχει μια λεπτή γραμμή ανάμεσα στην αφοσίωση και στην εξάντληση.</a:t>
            </a:r>
            <a:endParaRPr/>
          </a:p>
          <a:p>
            <a:pPr indent="0" lvl="0" marL="0" rtl="0" algn="l">
              <a:spcBef>
                <a:spcPts val="0"/>
              </a:spcBef>
              <a:spcAft>
                <a:spcPts val="0"/>
              </a:spcAft>
              <a:buNone/>
            </a:pPr>
            <a:r>
              <a:rPr lang="el"/>
              <a:t>Όταν κάθε ειδοποίηση γίνεται επείγουσα, όταν κάθε issue θεωρείται δική μας υποχρέωση και όταν αισθανόμαστε ενοχές επειδή δεν συνεισφέραμε αυτή την εβδομάδα, τότε κάτι δεν λειτουργεί σωστά.</a:t>
            </a:r>
            <a:endParaRPr/>
          </a:p>
          <a:p>
            <a:pPr indent="0" lvl="0" marL="0" rtl="0" algn="l">
              <a:spcBef>
                <a:spcPts val="0"/>
              </a:spcBef>
              <a:spcAft>
                <a:spcPts val="0"/>
              </a:spcAft>
              <a:buNone/>
            </a:pPr>
            <a:r>
              <a:rPr lang="el"/>
              <a:t>Δεν είναι βιώσιμο να βασίζεται ένα έργο στην εξάντληση των ανθρώπων του. Και δεν χρειάζεται να φτάσουμε στα όριά μας για να αποδείξουμε ότι νοιαζόμαστε</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6ecbb5c705033a59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6ecbb5c705033a59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Το διάλειμμα δεν είναι εγκατάλειψη. Είναι μέρος μιας βιώσιμης δημιουργικής διαδικασίας.</a:t>
            </a:r>
            <a:endParaRPr/>
          </a:p>
          <a:p>
            <a:pPr indent="0" lvl="0" marL="0" rtl="0" algn="l">
              <a:spcBef>
                <a:spcPts val="0"/>
              </a:spcBef>
              <a:spcAft>
                <a:spcPts val="0"/>
              </a:spcAft>
              <a:buNone/>
            </a:pPr>
            <a:r>
              <a:rPr lang="el"/>
              <a:t>Μπορούμε να ορίσουμε ώρες συνεισφοράς, να μην απαντάμε σε κάθε ειδοποίηση αμέσως, να ζητάμε βοήθεια, να μοιραζόμαστε τη συντήρηση και να κάνουμε ένα βήμα πίσω όταν χρειάζεται.</a:t>
            </a:r>
            <a:endParaRPr/>
          </a:p>
          <a:p>
            <a:pPr indent="0" lvl="0" marL="0" rtl="0" algn="l">
              <a:spcBef>
                <a:spcPts val="0"/>
              </a:spcBef>
              <a:spcAft>
                <a:spcPts val="0"/>
              </a:spcAft>
              <a:buNone/>
            </a:pPr>
            <a:r>
              <a:rPr lang="el"/>
              <a:t>Και αυτό συνδέεται άμεσα με το θέμα μας. Γιατί τώρα έχουμε ένα νέο εργαλείο που μπορεί να μας βοηθήσει να δημιουργούμε πιο γρήγορα. Το ερώτημα είναι αν θα χρησιμοποιήσουμε τον χρόνο που κερδίζουμε για να δημιουργούμε καλύτερα ή απλώς για να αναλάβουμε ακόμη περισσότερη δουλειά».</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Μετάβαση: «Ας δούμε, λοιπόν, τι αλλάζει όταν ο κώδικας γράφεται σε μεγάλο βαθμό από την AI</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6ecbb5c705033a59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h6ecbb5c705033a59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Το vibe coding έγινε γνωστό ως τρόπος δημιουργίας λογισμικού περιγράφοντας αυτό που θέλουμε σε φυσική γλώσσα και αφήνοντας το μοντέλο να γράψει μεγάλο μέρος του κώδικα.</a:t>
            </a:r>
            <a:endParaRPr/>
          </a:p>
          <a:p>
            <a:pPr indent="0" lvl="0" marL="0" rtl="0" algn="l">
              <a:spcBef>
                <a:spcPts val="0"/>
              </a:spcBef>
              <a:spcAft>
                <a:spcPts val="0"/>
              </a:spcAft>
              <a:buNone/>
            </a:pPr>
            <a:r>
              <a:rPr lang="el"/>
              <a:t>Αυτό αλλάζει το σημείο εκκίνησης. Μπορούμε να δοκιμάσουμε μια ιδέα, να δημιουργήσουμε ένα prototype ή να αυτοματοποιήσουμε μια επαναλαμβανόμενη εργασία χωρίς να γράψουμε κάθε γραμμή με το χέρι.</a:t>
            </a:r>
            <a:endParaRPr/>
          </a:p>
          <a:p>
            <a:pPr indent="0" lvl="0" marL="0" rtl="0" algn="l">
              <a:spcBef>
                <a:spcPts val="0"/>
              </a:spcBef>
              <a:spcAft>
                <a:spcPts val="0"/>
              </a:spcAft>
              <a:buNone/>
            </a:pPr>
            <a:r>
              <a:rPr lang="el"/>
              <a:t>Αλλά εδώ υπάρχει μια παγίδα: το γεγονός ότι μια εφαρμογή δημιουργείται γρήγορα δεν σημαίνει ότι είναι σωστή, ασφαλής ή έτοιμη για παραγωγή</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6ecbb5c705033a59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h6ecbb5c705033a59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Μπορεί να έχουμε ένα όμορφο interface, κουμπιά που φαίνονται σωστά και μια εντυπωσιακή επίδειξη. Τι γίνεται όμως όταν ο χρήστης βάλει λάθος δεδομένα; Όταν λήξει η συνεδρία του; Όταν αποτύχει η βάση δεδομένων; Όταν δύο χρήστες προσπαθήσουν να αλλάξουν το ίδιο στοιχείο;</a:t>
            </a:r>
            <a:endParaRPr/>
          </a:p>
          <a:p>
            <a:pPr indent="0" lvl="0" marL="0" rtl="0" algn="l">
              <a:spcBef>
                <a:spcPts val="0"/>
              </a:spcBef>
              <a:spcAft>
                <a:spcPts val="0"/>
              </a:spcAft>
              <a:buNone/>
            </a:pPr>
            <a:r>
              <a:rPr lang="el"/>
              <a:t>Το AI μπορεί να παράγει κώδικα που φαίνεται πειστικός, αλλά η εμφάνιση δεν είναι απόδειξη ορθότητας. Χρειάζεται να ξεχωρίσουμε το prototype από το production-ready λογισμικό</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6ecbb5c705033a59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h6ecbb5c705033a59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Η Daniela Petruzalek, στο άρθρο της Taming Vibe Coding, περιγράφει την AI ως έναν τρόπο να αναθέτουμε τη συγγραφή του κώδικα, ώστε να επικεντρωνόμαστε περισσότερο στη λύση του προβλήματος.</a:t>
            </a:r>
            <a:endParaRPr/>
          </a:p>
          <a:p>
            <a:pPr indent="0" lvl="0" marL="0" rtl="0" algn="l">
              <a:spcBef>
                <a:spcPts val="0"/>
              </a:spcBef>
              <a:spcAft>
                <a:spcPts val="0"/>
              </a:spcAft>
              <a:buNone/>
            </a:pPr>
            <a:r>
              <a:rPr lang="el"/>
              <a:t>Αυτή είναι μια πολύ χρήσιμη οπτική. Η δουλειά του μηχανικού δεν περιορίζεται στο να πληκτρολογεί κώδικα. Περιλαμβάνει τον σχεδιασμό, την επιλογή συμβιβασμών, την επαλήθευση και την ευθύνη για το αποτέλεσμα.</a:t>
            </a:r>
            <a:endParaRPr/>
          </a:p>
          <a:p>
            <a:pPr indent="0" lvl="0" marL="0" rtl="0" algn="l">
              <a:spcBef>
                <a:spcPts val="0"/>
              </a:spcBef>
              <a:spcAft>
                <a:spcPts val="0"/>
              </a:spcAft>
              <a:buNone/>
            </a:pPr>
            <a:r>
              <a:rPr lang="el"/>
              <a:t>Αν η AI γράφει περισσότερο κώδικα, δεν σημαίνει ότι πρέπει να σκεφτόμαστε λιγότερο. Σημαίνει ότι πρέπει να σκεφτόμαστε καλύτερα πού επενδύουμε την προσοχή μας</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h6ecbb5c705033a59_0_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h6ecbb5c705033a59_0_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Η πρώτη παγίδα είναι να πούμε στην AI “φτιάξε μου μια εφαρμογή” και να αρχίσουμε αμέσως να προσθέτουμε λειτουργίες.</a:t>
            </a:r>
            <a:endParaRPr/>
          </a:p>
          <a:p>
            <a:pPr indent="0" lvl="0" marL="0" rtl="0" algn="l">
              <a:spcBef>
                <a:spcPts val="0"/>
              </a:spcBef>
              <a:spcAft>
                <a:spcPts val="0"/>
              </a:spcAft>
              <a:buNone/>
            </a:pPr>
            <a:r>
              <a:rPr lang="el"/>
              <a:t>Πριν από τον κώδικα, πρέπει να ξεκαθαρίσουμε τι θέλουμε να φτιάξουμε, ποιος θα το χρησιμοποιεί, ποιες είναι οι βασικές λειτουργίες και τι θεωρούμε επιτυχία.</a:t>
            </a:r>
            <a:endParaRPr/>
          </a:p>
          <a:p>
            <a:pPr indent="0" lvl="0" marL="0" rtl="0" algn="l">
              <a:spcBef>
                <a:spcPts val="0"/>
              </a:spcBef>
              <a:spcAft>
                <a:spcPts val="0"/>
              </a:spcAft>
              <a:buNone/>
            </a:pPr>
            <a:r>
              <a:rPr lang="el"/>
              <a:t>Στο δικό μου άρθρο προτείνω ένα μικρό Product Requirements Document (PRD) σε Markdown και τη χρήση του Plan Mode. Ζητάμε από την AI να παρουσιάσει το σχέδιο, τα αρχεία που θα αλλάξει και τις υποθέσεις της. Διορθώνουμε το σχέδιο πριν αρχίσει η υλοποίηση.</a:t>
            </a:r>
            <a:endParaRPr/>
          </a:p>
          <a:p>
            <a:pPr indent="0" lvl="0" marL="0" rtl="0" algn="l">
              <a:spcBef>
                <a:spcPts val="0"/>
              </a:spcBef>
              <a:spcAft>
                <a:spcPts val="0"/>
              </a:spcAft>
              <a:buNone/>
            </a:pPr>
            <a:r>
              <a:rPr lang="el"/>
              <a:t>Είναι πολύ φθηνότερο να διορθώσεις μια λάθος ιδέα σε ένα Markdown αρχείο παρά να ξηλώσεις μια εφαρμογή που βασίστηκε σε αυτή».</a:t>
            </a:r>
            <a:endParaRPr/>
          </a:p>
          <a:p>
            <a:pPr indent="0" lvl="0" marL="0" rtl="0" algn="l">
              <a:spcBef>
                <a:spcPts val="0"/>
              </a:spcBef>
              <a:spcAft>
                <a:spcPts val="0"/>
              </a:spcAft>
              <a:buNone/>
            </a:pPr>
            <a:r>
              <a:rPr lang="el"/>
              <a:t>Πρακτικό παράδειγμα: Πριν δημιουργήσουμε μια εφαρμογή καταγραφής εργασιών, ορίζουμε ρόλους χρηστών, βασικές λειτουργίες, αποθήκευση δεδομένων και κριτήρια αποδοχής.</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6ecbb5c705033a59_0_1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h6ecbb5c705033a59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Η Daniela Petruzalek προτείνει να αντιμετωπίζουμε τα prompts όπως τα τεχνικά tickets μιας ομάδας ανάπτυξης.</a:t>
            </a:r>
            <a:endParaRPr/>
          </a:p>
          <a:p>
            <a:pPr indent="0" lvl="0" marL="0" rtl="0" algn="l">
              <a:spcBef>
                <a:spcPts val="0"/>
              </a:spcBef>
              <a:spcAft>
                <a:spcPts val="0"/>
              </a:spcAft>
              <a:buNone/>
            </a:pPr>
            <a:r>
              <a:rPr lang="el"/>
              <a:t>Πρώτα εξηγούμε το πλαίσιο. Μετά περιγράφουμε τι πρέπει να γίνει. Αν χρειάζεται, διευκρινίζουμε τι δεν πρέπει να γίνει. Τέλος, ορίζουμε τα κριτήρια αποδοχής.</a:t>
            </a:r>
            <a:endParaRPr/>
          </a:p>
          <a:p>
            <a:pPr indent="0" lvl="0" marL="0" rtl="0" algn="l">
              <a:spcBef>
                <a:spcPts val="0"/>
              </a:spcBef>
              <a:spcAft>
                <a:spcPts val="0"/>
              </a:spcAft>
              <a:buNone/>
            </a:pPr>
            <a:r>
              <a:rPr lang="el"/>
              <a:t>Για παράδειγμα, αντί να πούμε “φτιάξε login”, λέμε ότι θέλουμε μια λειτουργία σύνδεσης με συγκεκριμένες απαιτήσεις, σαφή χειρισμό αποτυχημένης σύνδεσης και δοκιμές για επιτυχία και αποτυχία.</a:t>
            </a:r>
            <a:endParaRPr/>
          </a:p>
          <a:p>
            <a:pPr indent="0" lvl="0" marL="0" rtl="0" algn="l">
              <a:spcBef>
                <a:spcPts val="0"/>
              </a:spcBef>
              <a:spcAft>
                <a:spcPts val="0"/>
              </a:spcAft>
              <a:buNone/>
            </a:pPr>
            <a:r>
              <a:rPr lang="el"/>
              <a:t>Όσο πιο ξεκάθαρος είναι ο ορισμός του προβλήματος, τόσο λιγότερο αφήνουμε το μοντέλο να μαντεύει».</a:t>
            </a:r>
            <a:endParaRPr/>
          </a:p>
          <a:p>
            <a:pPr indent="0" lvl="0" marL="0" rtl="0" algn="l">
              <a:spcBef>
                <a:spcPts val="0"/>
              </a:spcBef>
              <a:spcAft>
                <a:spcPts val="0"/>
              </a:spcAft>
              <a:buNone/>
            </a:pPr>
            <a:r>
              <a:rPr lang="el"/>
              <a:t>Μπορείς να δείξεις ένα πραγματικό prompt για να γίνει η διαφορά αμέσως αντιληπτή.</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h6ecbb5c705033a59_0_1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h6ecbb5c705033a59_0_1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Δεν αρκεί να έχουμε ένα καλό prompt, αν το μοντέλο δεν γνωρίζει το περιβάλλον στο οποίο δουλεύει.</a:t>
            </a:r>
            <a:endParaRPr/>
          </a:p>
          <a:p>
            <a:pPr indent="0" lvl="0" marL="0" rtl="0" algn="l">
              <a:spcBef>
                <a:spcPts val="0"/>
              </a:spcBef>
              <a:spcAft>
                <a:spcPts val="0"/>
              </a:spcAft>
              <a:buNone/>
            </a:pPr>
            <a:r>
              <a:rPr lang="el"/>
              <a:t>Χρειάζεται να του δίνουμε την τεκμηρίωση της βιβλιοθήκης που χρησιμοποιούμε, τη δομή του έργου, παραδείγματα και, όταν σχεδιάζουμε interface, screenshots ή ένα σχεδιάγραμμα.</a:t>
            </a:r>
            <a:endParaRPr/>
          </a:p>
          <a:p>
            <a:pPr indent="0" lvl="0" marL="0" rtl="0" algn="l">
              <a:spcBef>
                <a:spcPts val="0"/>
              </a:spcBef>
              <a:spcAft>
                <a:spcPts val="0"/>
              </a:spcAft>
              <a:buNone/>
            </a:pPr>
            <a:r>
              <a:rPr lang="el"/>
              <a:t>Ένα αρχείο όπως το AGENTS.md μπορεί να περιέχει τις βασικές συμβάσεις του project, τις εντολές build και test και τους περιορισμούς που πρέπει να τηρούνται.</a:t>
            </a:r>
            <a:endParaRPr/>
          </a:p>
          <a:p>
            <a:pPr indent="0" lvl="0" marL="0" rtl="0" algn="l">
              <a:spcBef>
                <a:spcPts val="0"/>
              </a:spcBef>
              <a:spcAft>
                <a:spcPts val="0"/>
              </a:spcAft>
              <a:buNone/>
            </a:pPr>
            <a:r>
              <a:rPr lang="el"/>
              <a:t>Στόχος δεν είναι να δώσουμε στην AI όσο το δυνατόν περισσότερες πληροφορίες. Είναι να της δώσουμε τις σωστές πληροφορίες, ενημερωμένες και σχετικές με την εργασία».</a:t>
            </a:r>
            <a:endParaRPr/>
          </a:p>
          <a:p>
            <a:pPr indent="0" lvl="0" marL="0" rtl="0" algn="l">
              <a:spcBef>
                <a:spcPts val="0"/>
              </a:spcBef>
              <a:spcAft>
                <a:spcPts val="0"/>
              </a:spcAft>
              <a:buNone/>
            </a:pPr>
            <a:r>
              <a:rPr lang="el"/>
              <a:t>Κεντρική φράση: Το context είναι μέρος της μηχανικής, όχι απλώς μέρος του prompt.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6ecbb5c705033a59_0_1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h6ecbb5c705033a59_0_1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Αν αφήσουμε την AI να αλλάζει πολλά αρχεία χωρίς checkpoints, μια μικρή αλλαγή μπορεί να καταστρέψει κάτι που ήδη λειτουργούσε.</a:t>
            </a:r>
            <a:endParaRPr/>
          </a:p>
          <a:p>
            <a:pPr indent="0" lvl="0" marL="0" rtl="0" algn="l">
              <a:spcBef>
                <a:spcPts val="0"/>
              </a:spcBef>
              <a:spcAft>
                <a:spcPts val="0"/>
              </a:spcAft>
              <a:buNone/>
            </a:pPr>
            <a:r>
              <a:rPr lang="el"/>
              <a:t>Γι' αυτό χρησιμοποιούμε Git, μικρά commits και ξεχωριστά branches για πειραματισμούς. Πριν αποδεχτούμε μια αλλαγή, εξετάζουμε το diff: τι προστέθηκε, τι διαγράφηκε, ποιες εξαρτήσεις άλλαξαν και αν επηρεάζονται κρίσιμες λειτουργίες.</a:t>
            </a:r>
            <a:endParaRPr/>
          </a:p>
          <a:p>
            <a:pPr indent="0" lvl="0" marL="0" rtl="0" algn="l">
              <a:spcBef>
                <a:spcPts val="0"/>
              </a:spcBef>
              <a:spcAft>
                <a:spcPts val="0"/>
              </a:spcAft>
              <a:buNone/>
            </a:pPr>
            <a:r>
              <a:rPr lang="el"/>
              <a:t>Το Git δεν μας προστατεύει από κάθε πρόβλημα, αλλά μας επιτρέπει να πειραματιζόμαστε με ελεγχόμενο τρόπο και να επιστρέφουμε σε μια γνωστή καλή κατάσταση».</a:t>
            </a:r>
            <a:endParaRPr/>
          </a:p>
          <a:p>
            <a:pPr indent="0" lvl="0" marL="0" rtl="0" algn="l">
              <a:spcBef>
                <a:spcPts val="0"/>
              </a:spcBef>
              <a:spcAft>
                <a:spcPts val="0"/>
              </a:spcAft>
              <a:buNone/>
            </a:pPr>
            <a:r>
              <a:rPr lang="el"/>
              <a:t>Σημείο που αξίζει να τονίσεις: Μην αποδέχεσαι ένα μεγάλο σύνολο αλλαγών μόνο και μόνο επειδή η AI αναφέρει ότι ολοκλήρωσε επιτυχώς την εργασία.</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h6ecbb5c705033a59_0_1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h6ecbb5c705033a59_0_1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Η AI μπορεί να δημιουργήσει μια λειτουργία που δουλεύει στο ιδανικό σενάριο, αλλά αποτυγχάνει στις πραγματικές συνθήκες.</a:t>
            </a:r>
            <a:endParaRPr/>
          </a:p>
          <a:p>
            <a:pPr indent="0" lvl="0" marL="0" rtl="0" algn="l">
              <a:spcBef>
                <a:spcPts val="0"/>
              </a:spcBef>
              <a:spcAft>
                <a:spcPts val="0"/>
              </a:spcAft>
              <a:buNone/>
            </a:pPr>
            <a:r>
              <a:rPr lang="el"/>
              <a:t>Δεν αρκεί να δούμε αν ένα κουμπί λειτουργεί. Πρέπει να δοκιμάσουμε κενά πεδία, μη έγκυρα δεδομένα, χρήστες χωρίς δικαιώματα, αποτυχία δικτύου και περιπτώσεις που δεν είχαμε προβλέψει.</a:t>
            </a:r>
            <a:endParaRPr/>
          </a:p>
          <a:p>
            <a:pPr indent="0" lvl="0" marL="0" rtl="0" algn="l">
              <a:spcBef>
                <a:spcPts val="0"/>
              </a:spcBef>
              <a:spcAft>
                <a:spcPts val="0"/>
              </a:spcAft>
              <a:buNone/>
            </a:pPr>
            <a:r>
              <a:rPr lang="el"/>
              <a:t>Μετά από κάθε μικρή αλλαγή, εκτελούμε τα σχετικά tests, το type checking και το linting όπου εφαρμόζονται. Αν κάτι αποτύχει, εξετάζουμε το αποτέλεσμα αντί να υποθέτουμε ότι όλα είναι εντάξει.</a:t>
            </a:r>
            <a:endParaRPr/>
          </a:p>
          <a:p>
            <a:pPr indent="0" lvl="0" marL="0" rtl="0" algn="l">
              <a:spcBef>
                <a:spcPts val="0"/>
              </a:spcBef>
              <a:spcAft>
                <a:spcPts val="0"/>
              </a:spcAft>
              <a:buNone/>
            </a:pPr>
            <a:r>
              <a:rPr lang="el"/>
              <a:t>Και κάτι σημαντικό: το γεγονός ότι πέρασαν τα tests δεν αποδεικνύει ότι δεν υπάρχουν bugs. Σημαίνει ότι ελέγξαμε συγκεκριμένες συμπεριφορές».</a:t>
            </a:r>
            <a:endParaRPr/>
          </a:p>
          <a:p>
            <a:pPr indent="0" lvl="0" marL="0" rtl="0" algn="l">
              <a:spcBef>
                <a:spcPts val="0"/>
              </a:spcBef>
              <a:spcAft>
                <a:spcPts val="0"/>
              </a:spcAft>
              <a:buNone/>
            </a:pPr>
            <a:r>
              <a:rPr lang="el"/>
              <a:t>Παράδειγμα: Σε μια εφαρμογή διαχείρισης χρηστών, δοκιμάζουμε τόσο τη σύνδεση ενός έγκυρου χρήστη όσο και την πρόσβαση σε προστατευμένα δεδομένα από μη εξουσιοδοτημένο χρήστη.</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6ecbb5c705033a59_0_1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6ecbb5c705033a59_0_1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Όταν μια εφαρμογή διαχειρίζεται προσωπικά δεδομένα, λογαριασμούς ή πληρωμές, το κόστος ενός λάθους είναι πολύ μεγαλύτερο από το κόστος μιας κακής εμφάνισης.</a:t>
            </a:r>
            <a:endParaRPr/>
          </a:p>
          <a:p>
            <a:pPr indent="0" lvl="0" marL="0" rtl="0" algn="l">
              <a:spcBef>
                <a:spcPts val="0"/>
              </a:spcBef>
              <a:spcAft>
                <a:spcPts val="0"/>
              </a:spcAft>
              <a:buNone/>
            </a:pPr>
            <a:r>
              <a:rPr lang="el"/>
              <a:t>Ελέγχουμε την αυθεντικοποίηση και την εξουσιοδότηση, την επικύρωση εισόδων, τη διαχείριση μυστικών, τις εξαρτήσεις και τον χειρισμό σφαλμάτων.</a:t>
            </a:r>
            <a:endParaRPr/>
          </a:p>
          <a:p>
            <a:pPr indent="0" lvl="0" marL="0" rtl="0" algn="l">
              <a:spcBef>
                <a:spcPts val="0"/>
              </a:spcBef>
              <a:spcAft>
                <a:spcPts val="0"/>
              </a:spcAft>
              <a:buNone/>
            </a:pPr>
            <a:r>
              <a:rPr lang="el"/>
              <a:t>Δεν αρκεί να ζητήσουμε από την ίδια AI που έγραψε τον κώδικα να μας πει ότι είναι ασφαλής. Μπορούμε να χρησιμοποιήσουμε ξεχωριστό έλεγχο, στατικούς αναλυτές, dependency scanners και κατάλληλες δοκιμές. Ο έλεγχος πρέπει να βασίζεται σε ευρήματα, όχι σε διαβεβαιώσεις».</a:t>
            </a:r>
            <a:endParaRPr/>
          </a:p>
          <a:p>
            <a:pPr indent="0" lvl="0" marL="0" rtl="0" algn="l">
              <a:spcBef>
                <a:spcPts val="0"/>
              </a:spcBef>
              <a:spcAft>
                <a:spcPts val="0"/>
              </a:spcAft>
              <a:buNone/>
            </a:pPr>
            <a:r>
              <a:rPr lang="el"/>
              <a:t>Σύνδεση με το open source: Η δημοσίευση του κώδικα επιτρέπει την επιθεώρηση και τη συνεργασία, αλλά δεν εγγυάται από μόνη της την ασφάλεια.</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6ecbb5c705033a59_0_1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h6ecbb5c705033a59_0_1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Ίσως έχετε ζήσει το εξής: η AI διορθώνει ένα bug, εμφανίζεται άλλο, ζητάμε νέα διόρθωση και στο τέλος δεν γνωρίζουμε ποια αλλαγή προκάλεσε ποιο πρόβλημα.</a:t>
            </a:r>
            <a:endParaRPr/>
          </a:p>
          <a:p>
            <a:pPr indent="0" lvl="0" marL="0" rtl="0" algn="l">
              <a:spcBef>
                <a:spcPts val="0"/>
              </a:spcBef>
              <a:spcAft>
                <a:spcPts val="0"/>
              </a:spcAft>
              <a:buNone/>
            </a:pPr>
            <a:r>
              <a:rPr lang="el"/>
              <a:t>Στο άρθρο μου περιγράφω αυτό το μοτίβο ως “Vibe Coding Doom Loop”. Για να το διακόψουμε, πρέπει να διαχωρίσουμε τη διάγνωση από τη διόρθωση.</a:t>
            </a:r>
            <a:endParaRPr/>
          </a:p>
          <a:p>
            <a:pPr indent="0" lvl="0" marL="0" rtl="0" algn="l">
              <a:spcBef>
                <a:spcPts val="0"/>
              </a:spcBef>
              <a:spcAft>
                <a:spcPts val="0"/>
              </a:spcAft>
              <a:buNone/>
            </a:pPr>
            <a:r>
              <a:rPr lang="el"/>
              <a:t>Πρώτα ζητάμε να αναλυθούν τα logs, να εντοπιστεί η πιθανή αιτία και να εξηγηθούν τα στοιχεία που τη στηρίζουν — χωρίς να αλλάξει ακόμη ο κώδικας. Μετά αξιολογούμε τη διάγνωση, εφαρμόζουμε μία ελεγχόμενη διόρθωση και εκτελούμε τις δοκιμές.</a:t>
            </a:r>
            <a:endParaRPr/>
          </a:p>
          <a:p>
            <a:pPr indent="0" lvl="0" marL="0" rtl="0" algn="l">
              <a:spcBef>
                <a:spcPts val="0"/>
              </a:spcBef>
              <a:spcAft>
                <a:spcPts val="0"/>
              </a:spcAft>
              <a:buNone/>
            </a:pPr>
            <a:r>
              <a:rPr lang="el"/>
              <a:t>Αν το μοντέλο επαναλαμβάνει το ίδιο λάθος, δεν χρειάζεται να στείλουμε απλώς το ίδιο prompt πιο δυνατά. Χρειάζεται διαφορετική προσέγγιση, καθαρότερο context ή ανθρώπινη παρέμβαση</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h6ecbb5c705033a59_0_1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h6ecbb5c705033a59_0_1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Η επιμονή είναι χρήσιμη, αλλά η ατέρμονη επανάληψη δεν είναι στρατηγική.</a:t>
            </a:r>
            <a:endParaRPr/>
          </a:p>
          <a:p>
            <a:pPr indent="0" lvl="0" marL="0" rtl="0" algn="l">
              <a:spcBef>
                <a:spcPts val="0"/>
              </a:spcBef>
              <a:spcAft>
                <a:spcPts val="0"/>
              </a:spcAft>
              <a:buNone/>
            </a:pPr>
            <a:r>
              <a:rPr lang="el"/>
              <a:t>Αν η AI ξαναφέρνει το ίδιο bug, αν μια αλλαγή σπάει μια άλλη λειτουργία ή αν κάθε διόρθωση κάνει τον κώδικα πιο περίπλοκο, σταματάμε.</a:t>
            </a:r>
            <a:endParaRPr/>
          </a:p>
          <a:p>
            <a:pPr indent="0" lvl="0" marL="0" rtl="0" algn="l">
              <a:spcBef>
                <a:spcPts val="0"/>
              </a:spcBef>
              <a:spcAft>
                <a:spcPts val="0"/>
              </a:spcAft>
              <a:buNone/>
            </a:pPr>
            <a:r>
              <a:rPr lang="el"/>
              <a:t>Μπορούμε να ξεκινήσουμε νέα συνομιλία με μια καθαρή περιγραφή του προβλήματος, να συμβουλευτούμε την επίσημη τεκμηρίωση, να ζητήσουμε ανεξάρτητη αξιολόγηση ή να γράψουμε εμείς το κρίσιμο τμήμα.</a:t>
            </a:r>
            <a:endParaRPr/>
          </a:p>
          <a:p>
            <a:pPr indent="0" lvl="0" marL="0" rtl="0" algn="l">
              <a:spcBef>
                <a:spcPts val="0"/>
              </a:spcBef>
              <a:spcAft>
                <a:spcPts val="0"/>
              </a:spcAft>
              <a:buNone/>
            </a:pPr>
            <a:r>
              <a:rPr lang="el"/>
              <a:t>Το ζητούμενο δεν είναι να κερδίσουμε μια διαφωνία με το μοντέλο. Είναι να λύσουμε το πραγματικό πρόβλημα με τον λιγότερο κίνδυνο και τη μεγαλύτερη δυνατή σαφήνεια</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h6ecbb5c705033a59_0_20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h6ecbb5c705033a59_0_20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Αν κρατήσουμε μία μόνο πρακτική από αυτή την παρουσίαση, θα ήθελα να είναι αυτή: δουλεύουμε σε μικρά, ελεγχόμενα βήματα.</a:t>
            </a:r>
            <a:endParaRPr/>
          </a:p>
          <a:p>
            <a:pPr indent="0" lvl="0" marL="0" rtl="0" algn="l">
              <a:spcBef>
                <a:spcPts val="0"/>
              </a:spcBef>
              <a:spcAft>
                <a:spcPts val="0"/>
              </a:spcAft>
              <a:buNone/>
            </a:pPr>
            <a:r>
              <a:rPr lang="el"/>
              <a:t>Δεν χρειάζεται κάθε project να έχει περίπλοκη διαδικασία. Χρειάζεται όμως να ξέρουμε τι φτιάχνουμε, να ελέγχουμε τις αλλαγές και να αποδεικνύουμε ότι το αποτέλεσμα λειτουργεί.</a:t>
            </a:r>
            <a:endParaRPr/>
          </a:p>
          <a:p>
            <a:pPr indent="0" lvl="0" marL="0" rtl="0" algn="l">
              <a:spcBef>
                <a:spcPts val="0"/>
              </a:spcBef>
              <a:spcAft>
                <a:spcPts val="0"/>
              </a:spcAft>
              <a:buNone/>
            </a:pPr>
            <a:r>
              <a:rPr lang="el"/>
              <a:t>Η AI μπορεί να επιταχύνει κάθε βήμα. Δεν πρέπει όμως να εξαφανίζει τα σημεία ελέγχου που μας προστατεύουν από λάθη</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h6ecbb5c705033a59_0_2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h6ecbb5c705033a59_0_2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Να δημιουργούμε περισσότερο χρήσιμο λογισμικό, με καλύτερη ποιότητα και με ανθρώπους που μπορούν να συνεχίσουν να προσφέρουν».</a:t>
            </a:r>
            <a:endParaRPr/>
          </a:p>
          <a:p>
            <a:pPr indent="0" lvl="0" marL="0" rtl="0" algn="l">
              <a:spcBef>
                <a:spcPts val="0"/>
              </a:spcBef>
              <a:spcAft>
                <a:spcPts val="0"/>
              </a:spcAft>
              <a:buNone/>
            </a:pPr>
            <a:r>
              <a:rPr lang="el"/>
              <a:t>Τι λες:</a:t>
            </a:r>
            <a:endParaRPr/>
          </a:p>
          <a:p>
            <a:pPr indent="0" lvl="0" marL="0" rtl="0" algn="l">
              <a:spcBef>
                <a:spcPts val="0"/>
              </a:spcBef>
              <a:spcAft>
                <a:spcPts val="0"/>
              </a:spcAft>
              <a:buNone/>
            </a:pPr>
            <a:r>
              <a:rPr lang="el"/>
              <a:t>«Το ελεύθερο λογισμικό βασίστηκε και εξακολουθεί να βασίζεται σε ανθρώπους που μοιράζονται γνώση, χρόνο και δημιουργικότητα.</a:t>
            </a:r>
            <a:endParaRPr/>
          </a:p>
          <a:p>
            <a:pPr indent="0" lvl="0" marL="0" rtl="0" algn="l">
              <a:spcBef>
                <a:spcPts val="0"/>
              </a:spcBef>
              <a:spcAft>
                <a:spcPts val="0"/>
              </a:spcAft>
              <a:buNone/>
            </a:pPr>
            <a:r>
              <a:rPr lang="el"/>
              <a:t>Η τεχνητή νοημοσύνη μάς δίνει νέες δυνατότητες. Μπορεί να μειώσει την επαναλαμβανόμενη εργασία, να μας βοηθήσει να δοκιμάσουμε ιδέες και να κάνει τη δημιουργία λογισμικού πιο προσιτή.</a:t>
            </a:r>
            <a:endParaRPr/>
          </a:p>
          <a:p>
            <a:pPr indent="0" lvl="0" marL="0" rtl="0" algn="l">
              <a:spcBef>
                <a:spcPts val="0"/>
              </a:spcBef>
              <a:spcAft>
                <a:spcPts val="0"/>
              </a:spcAft>
              <a:buNone/>
            </a:pPr>
            <a:r>
              <a:rPr lang="el"/>
              <a:t>Αλλά η ταχύτητα δεν είναι ο μοναδικός στόχος. Χρειάζεται κρίση, ποιότητα, υπευθυνότητα και συνεργασία. Και χρειάζεται να θυμόμαστε ότι πίσω από κάθε έργο υπάρχει ένας άνθρωπος.</a:t>
            </a:r>
            <a:endParaRPr/>
          </a:p>
          <a:p>
            <a:pPr indent="0" lvl="0" marL="0" rtl="0" algn="l">
              <a:spcBef>
                <a:spcPts val="0"/>
              </a:spcBef>
              <a:spcAft>
                <a:spcPts val="0"/>
              </a:spcAft>
              <a:buNone/>
            </a:pPr>
            <a:r>
              <a:rPr lang="el"/>
              <a:t>Ας χρησιμοποιήσουμε, λοιπόν, την AI για να δημιουργούμε καλύτερα — όχι για να εξαντλούμαστε γρηγορότερα.</a:t>
            </a:r>
            <a:endParaRPr/>
          </a:p>
          <a:p>
            <a:pPr indent="0" lvl="0" marL="0" rtl="0" algn="l">
              <a:spcBef>
                <a:spcPts val="0"/>
              </a:spcBef>
              <a:spcAft>
                <a:spcPts val="0"/>
              </a:spcAft>
              <a:buNone/>
            </a:pPr>
            <a:r>
              <a:rPr lang="el"/>
              <a:t>Σας ευχαριστώ</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ecbb5c705033a59_14_0)">
  <p:cSld name="Generated (h6ecbb5c705033a59_14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3.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2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6.jpg"/><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Code, Community &amp; AI</a:t>
            </a:r>
            <a:endParaRPr/>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l"/>
              <a:t>Ποιος θα συντηρεί τον κώδικα όταν τελειώσει η μαγεία;</a:t>
            </a:r>
            <a:endParaRPr/>
          </a:p>
        </p:txBody>
      </p:sp>
      <p:pic>
        <p:nvPicPr>
          <p:cNvPr id="57" name="Google Shape;57;p14" title="GDG-Cloud-Thessaloniki-circle.png"/>
          <p:cNvPicPr preferRelativeResize="0"/>
          <p:nvPr/>
        </p:nvPicPr>
        <p:blipFill>
          <a:blip r:embed="rId3">
            <a:alphaModFix/>
          </a:blip>
          <a:stretch>
            <a:fillRect/>
          </a:stretch>
        </p:blipFill>
        <p:spPr>
          <a:xfrm>
            <a:off x="3094813" y="199523"/>
            <a:ext cx="2954373" cy="1576699"/>
          </a:xfrm>
          <a:prstGeom prst="rect">
            <a:avLst/>
          </a:prstGeom>
          <a:noFill/>
          <a:ln>
            <a:noFill/>
          </a:ln>
        </p:spPr>
      </p:pic>
      <p:pic>
        <p:nvPicPr>
          <p:cNvPr id="58" name="Google Shape;58;p14" title="Caricature_Animation_Ready.gif"/>
          <p:cNvPicPr preferRelativeResize="0"/>
          <p:nvPr/>
        </p:nvPicPr>
        <p:blipFill>
          <a:blip r:embed="rId4">
            <a:alphaModFix/>
          </a:blip>
          <a:stretch>
            <a:fillRect/>
          </a:stretch>
        </p:blipFill>
        <p:spPr>
          <a:xfrm>
            <a:off x="4146777" y="3541000"/>
            <a:ext cx="850449" cy="15167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62" name="Shape 62"/>
        <p:cNvGrpSpPr/>
        <p:nvPr/>
      </p:nvGrpSpPr>
      <p:grpSpPr>
        <a:xfrm>
          <a:off x="0" y="0"/>
          <a:ext cx="0" cy="0"/>
          <a:chOff x="0" y="0"/>
          <a:chExt cx="0" cy="0"/>
        </a:xfrm>
      </p:grpSpPr>
      <p:pic>
        <p:nvPicPr>
          <p:cNvPr id="63" name="Google Shape;63;p15" title="Στιγμιότυπο Οθόνης από 2026-10-18 15-59-12.png"/>
          <p:cNvPicPr preferRelativeResize="0"/>
          <p:nvPr/>
        </p:nvPicPr>
        <p:blipFill>
          <a:blip r:embed="rId3">
            <a:alphaModFix/>
          </a:blip>
          <a:stretch>
            <a:fillRect/>
          </a:stretch>
        </p:blipFill>
        <p:spPr>
          <a:xfrm>
            <a:off x="1028504" y="0"/>
            <a:ext cx="7086991" cy="5143500"/>
          </a:xfrm>
          <a:prstGeom prst="rect">
            <a:avLst/>
          </a:prstGeom>
          <a:noFill/>
          <a:ln>
            <a:noFill/>
          </a:ln>
        </p:spPr>
      </p:pic>
      <p:pic>
        <p:nvPicPr>
          <p:cNvPr id="64" name="Google Shape;64;p15" title="qr-code-gdg-cloud-thessaloniki.png"/>
          <p:cNvPicPr preferRelativeResize="0"/>
          <p:nvPr/>
        </p:nvPicPr>
        <p:blipFill>
          <a:blip r:embed="rId4">
            <a:alphaModFix/>
          </a:blip>
          <a:stretch>
            <a:fillRect/>
          </a:stretch>
        </p:blipFill>
        <p:spPr>
          <a:xfrm>
            <a:off x="7342200" y="119075"/>
            <a:ext cx="1436676" cy="1436676"/>
          </a:xfrm>
          <a:prstGeom prst="rect">
            <a:avLst/>
          </a:prstGeom>
          <a:noFill/>
          <a:ln>
            <a:noFill/>
          </a:ln>
        </p:spPr>
      </p:pic>
      <p:sp>
        <p:nvSpPr>
          <p:cNvPr id="65" name="Google Shape;65;p15"/>
          <p:cNvSpPr txBox="1"/>
          <p:nvPr/>
        </p:nvSpPr>
        <p:spPr>
          <a:xfrm>
            <a:off x="2246325" y="1881188"/>
            <a:ext cx="577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sz="1800">
                <a:solidFill>
                  <a:schemeClr val="dk1"/>
                </a:solidFill>
              </a:rPr>
              <a:t>https://gdg.community.dev/gdg-cloud-thessaloniki/</a:t>
            </a:r>
            <a:endParaRPr b="1"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69" name="Shape 69"/>
        <p:cNvGrpSpPr/>
        <p:nvPr/>
      </p:nvGrpSpPr>
      <p:grpSpPr>
        <a:xfrm>
          <a:off x="0" y="0"/>
          <a:ext cx="0" cy="0"/>
          <a:chOff x="0" y="0"/>
          <a:chExt cx="0" cy="0"/>
        </a:xfrm>
      </p:grpSpPr>
      <p:pic>
        <p:nvPicPr>
          <p:cNvPr id="70" name="Google Shape;70;p16" title="Στιγμιότυπο Οθόνης από 2026-10-18 16-12-25.png"/>
          <p:cNvPicPr preferRelativeResize="0"/>
          <p:nvPr/>
        </p:nvPicPr>
        <p:blipFill>
          <a:blip r:embed="rId3">
            <a:alphaModFix/>
          </a:blip>
          <a:stretch>
            <a:fillRect/>
          </a:stretch>
        </p:blipFill>
        <p:spPr>
          <a:xfrm>
            <a:off x="152400" y="152400"/>
            <a:ext cx="6667021" cy="4838700"/>
          </a:xfrm>
          <a:prstGeom prst="rect">
            <a:avLst/>
          </a:prstGeom>
          <a:noFill/>
          <a:ln>
            <a:noFill/>
          </a:ln>
        </p:spPr>
      </p:pic>
      <p:pic>
        <p:nvPicPr>
          <p:cNvPr id="71" name="Google Shape;71;p16" title="qr-code-devfest26.png"/>
          <p:cNvPicPr preferRelativeResize="0"/>
          <p:nvPr/>
        </p:nvPicPr>
        <p:blipFill>
          <a:blip r:embed="rId4">
            <a:alphaModFix/>
          </a:blip>
          <a:stretch>
            <a:fillRect/>
          </a:stretch>
        </p:blipFill>
        <p:spPr>
          <a:xfrm>
            <a:off x="6971821" y="152400"/>
            <a:ext cx="2019778" cy="2019778"/>
          </a:xfrm>
          <a:prstGeom prst="rect">
            <a:avLst/>
          </a:prstGeom>
          <a:noFill/>
          <a:ln>
            <a:noFill/>
          </a:ln>
        </p:spPr>
      </p:pic>
      <p:sp>
        <p:nvSpPr>
          <p:cNvPr id="72" name="Google Shape;72;p16"/>
          <p:cNvSpPr txBox="1"/>
          <p:nvPr/>
        </p:nvSpPr>
        <p:spPr>
          <a:xfrm>
            <a:off x="6953250" y="3008313"/>
            <a:ext cx="2038500" cy="9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2000">
                <a:solidFill>
                  <a:schemeClr val="dk1"/>
                </a:solidFill>
              </a:rPr>
              <a:t>DevFest 2026</a:t>
            </a:r>
            <a:endParaRPr b="1" sz="2000">
              <a:solidFill>
                <a:schemeClr val="dk1"/>
              </a:solidFill>
            </a:endParaRPr>
          </a:p>
          <a:p>
            <a:pPr indent="0" lvl="0" marL="0" rtl="0" algn="l">
              <a:spcBef>
                <a:spcPts val="0"/>
              </a:spcBef>
              <a:spcAft>
                <a:spcPts val="0"/>
              </a:spcAft>
              <a:buNone/>
            </a:pPr>
            <a:r>
              <a:rPr b="1" lang="el" sz="2000">
                <a:solidFill>
                  <a:schemeClr val="dk1"/>
                </a:solidFill>
              </a:rPr>
              <a:t>12 Δεκεμβρίου</a:t>
            </a:r>
            <a:endParaRPr b="1" sz="2000">
              <a:solidFill>
                <a:schemeClr val="dk1"/>
              </a:solidFill>
            </a:endParaRPr>
          </a:p>
          <a:p>
            <a:pPr indent="0" lvl="0" marL="0" rtl="0" algn="l">
              <a:spcBef>
                <a:spcPts val="0"/>
              </a:spcBef>
              <a:spcAft>
                <a:spcPts val="0"/>
              </a:spcAft>
              <a:buNone/>
            </a:pPr>
            <a:r>
              <a:rPr b="1" lang="el" sz="2000">
                <a:solidFill>
                  <a:schemeClr val="dk1"/>
                </a:solidFill>
              </a:rPr>
              <a:t>OK!Thess</a:t>
            </a:r>
            <a:endParaRPr b="1" sz="2000">
              <a:solidFill>
                <a:schemeClr val="dk1"/>
              </a:solidFill>
            </a:endParaRPr>
          </a:p>
        </p:txBody>
      </p:sp>
      <p:sp>
        <p:nvSpPr>
          <p:cNvPr id="73" name="Google Shape;73;p16"/>
          <p:cNvSpPr txBox="1"/>
          <p:nvPr/>
        </p:nvSpPr>
        <p:spPr>
          <a:xfrm>
            <a:off x="1805300" y="3057225"/>
            <a:ext cx="457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sz="1200">
                <a:solidFill>
                  <a:schemeClr val="dk1"/>
                </a:solidFill>
              </a:rPr>
              <a:t>https://gdg.community.dev/events/details/google-gdg-cloud-thessaloniki-presents-devfest-2026-thessaloniki-greece/</a:t>
            </a:r>
            <a:endParaRPr b="1"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l" sz="3120"/>
              <a:t>Το ελεύθερο λογισμικό δεν γράφεται μόνο του</a:t>
            </a:r>
            <a:endParaRPr sz="3120"/>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25450" lvl="0" marL="457200" rtl="0" algn="l">
              <a:spcBef>
                <a:spcPts val="0"/>
              </a:spcBef>
              <a:spcAft>
                <a:spcPts val="0"/>
              </a:spcAft>
              <a:buClr>
                <a:schemeClr val="dk1"/>
              </a:buClr>
              <a:buSzPts val="3100"/>
              <a:buChar char="●"/>
            </a:pPr>
            <a:r>
              <a:rPr lang="el" sz="3100">
                <a:solidFill>
                  <a:schemeClr val="dk1"/>
                </a:solidFill>
              </a:rPr>
              <a:t>Κώδικας</a:t>
            </a:r>
            <a:endParaRPr sz="3100">
              <a:solidFill>
                <a:schemeClr val="dk1"/>
              </a:solidFill>
            </a:endParaRPr>
          </a:p>
          <a:p>
            <a:pPr indent="-425450" lvl="0" marL="457200" rtl="0" algn="l">
              <a:spcBef>
                <a:spcPts val="0"/>
              </a:spcBef>
              <a:spcAft>
                <a:spcPts val="0"/>
              </a:spcAft>
              <a:buClr>
                <a:schemeClr val="dk1"/>
              </a:buClr>
              <a:buSzPts val="3100"/>
              <a:buChar char="●"/>
            </a:pPr>
            <a:r>
              <a:rPr lang="el" sz="3100">
                <a:solidFill>
                  <a:schemeClr val="dk1"/>
                </a:solidFill>
              </a:rPr>
              <a:t>Τεκμηρίωση</a:t>
            </a:r>
            <a:endParaRPr sz="3100">
              <a:solidFill>
                <a:schemeClr val="dk1"/>
              </a:solidFill>
            </a:endParaRPr>
          </a:p>
          <a:p>
            <a:pPr indent="-425450" lvl="0" marL="457200" rtl="0" algn="l">
              <a:spcBef>
                <a:spcPts val="0"/>
              </a:spcBef>
              <a:spcAft>
                <a:spcPts val="0"/>
              </a:spcAft>
              <a:buClr>
                <a:schemeClr val="dk1"/>
              </a:buClr>
              <a:buSzPts val="3100"/>
              <a:buChar char="●"/>
            </a:pPr>
            <a:r>
              <a:rPr lang="el" sz="3100">
                <a:solidFill>
                  <a:schemeClr val="dk1"/>
                </a:solidFill>
              </a:rPr>
              <a:t>Μετάφραση</a:t>
            </a:r>
            <a:endParaRPr sz="3100">
              <a:solidFill>
                <a:schemeClr val="dk1"/>
              </a:solidFill>
            </a:endParaRPr>
          </a:p>
          <a:p>
            <a:pPr indent="-425450" lvl="0" marL="457200" rtl="0" algn="l">
              <a:spcBef>
                <a:spcPts val="0"/>
              </a:spcBef>
              <a:spcAft>
                <a:spcPts val="0"/>
              </a:spcAft>
              <a:buClr>
                <a:schemeClr val="dk1"/>
              </a:buClr>
              <a:buSzPts val="3100"/>
              <a:buChar char="●"/>
            </a:pPr>
            <a:r>
              <a:rPr lang="el" sz="3100">
                <a:solidFill>
                  <a:schemeClr val="dk1"/>
                </a:solidFill>
              </a:rPr>
              <a:t>Κοινότητα (άνθρωποι)</a:t>
            </a:r>
            <a:endParaRPr sz="3100">
              <a:solidFill>
                <a:schemeClr val="dk1"/>
              </a:solidFill>
            </a:endParaRPr>
          </a:p>
        </p:txBody>
      </p:sp>
      <p:pic>
        <p:nvPicPr>
          <p:cNvPr id="80" name="Google Shape;80;p17" title="slide2.jpeg"/>
          <p:cNvPicPr preferRelativeResize="0"/>
          <p:nvPr/>
        </p:nvPicPr>
        <p:blipFill>
          <a:blip r:embed="rId3">
            <a:alphaModFix/>
          </a:blip>
          <a:stretch>
            <a:fillRect/>
          </a:stretch>
        </p:blipFill>
        <p:spPr>
          <a:xfrm>
            <a:off x="5533650" y="1411700"/>
            <a:ext cx="3298650" cy="3298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4" name="Shape 84"/>
        <p:cNvGrpSpPr/>
        <p:nvPr/>
      </p:nvGrpSpPr>
      <p:grpSpPr>
        <a:xfrm>
          <a:off x="0" y="0"/>
          <a:ext cx="0" cy="0"/>
          <a:chOff x="0" y="0"/>
          <a:chExt cx="0" cy="0"/>
        </a:xfrm>
      </p:grpSpPr>
      <p:sp>
        <p:nvSpPr>
          <p:cNvPr id="85" name="Google Shape;85;p18"/>
          <p:cNvSpPr txBox="1"/>
          <p:nvPr/>
        </p:nvSpPr>
        <p:spPr>
          <a:xfrm>
            <a:off x="381000" y="428625"/>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2600">
                <a:solidFill>
                  <a:srgbClr val="111827"/>
                </a:solidFill>
                <a:latin typeface="Arial"/>
                <a:ea typeface="Arial"/>
                <a:cs typeface="Arial"/>
                <a:sym typeface="Arial"/>
              </a:rPr>
              <a:t>Πίσω από κάθε project υπάρχει ένας άνθρωπος</a:t>
            </a:r>
            <a:endParaRPr b="1" sz="2600">
              <a:solidFill>
                <a:srgbClr val="111827"/>
              </a:solidFill>
              <a:latin typeface="Arial"/>
              <a:ea typeface="Arial"/>
              <a:cs typeface="Arial"/>
              <a:sym typeface="Arial"/>
            </a:endParaRPr>
          </a:p>
        </p:txBody>
      </p:sp>
      <p:grpSp>
        <p:nvGrpSpPr>
          <p:cNvPr id="86" name="Google Shape;86;p18"/>
          <p:cNvGrpSpPr/>
          <p:nvPr/>
        </p:nvGrpSpPr>
        <p:grpSpPr>
          <a:xfrm>
            <a:off x="328613" y="1614488"/>
            <a:ext cx="8239200" cy="1724100"/>
            <a:chOff x="-4762" y="-4762"/>
            <a:chExt cx="8239200" cy="1724100"/>
          </a:xfrm>
        </p:grpSpPr>
        <p:grpSp>
          <p:nvGrpSpPr>
            <p:cNvPr id="87" name="Google Shape;87;p18"/>
            <p:cNvGrpSpPr/>
            <p:nvPr/>
          </p:nvGrpSpPr>
          <p:grpSpPr>
            <a:xfrm>
              <a:off x="-4762" y="-4762"/>
              <a:ext cx="1381200" cy="1724100"/>
              <a:chOff x="-4762" y="-4762"/>
              <a:chExt cx="1381200" cy="1724100"/>
            </a:xfrm>
          </p:grpSpPr>
          <p:pic>
            <p:nvPicPr>
              <p:cNvPr id="88" name="Google Shape;88;p18"/>
              <p:cNvPicPr preferRelativeResize="0"/>
              <p:nvPr/>
            </p:nvPicPr>
            <p:blipFill rotWithShape="1">
              <a:blip r:embed="rId3">
                <a:alphaModFix/>
              </a:blip>
              <a:srcRect b="0" l="0" r="0" t="0"/>
              <a:stretch/>
            </p:blipFill>
            <p:spPr>
              <a:xfrm>
                <a:off x="-4762" y="-4762"/>
                <a:ext cx="1381200" cy="1724100"/>
              </a:xfrm>
              <a:prstGeom prst="rect">
                <a:avLst/>
              </a:prstGeom>
              <a:noFill/>
              <a:ln>
                <a:noFill/>
              </a:ln>
            </p:spPr>
          </p:pic>
          <p:sp>
            <p:nvSpPr>
              <p:cNvPr id="89" name="Google Shape;89;p18"/>
              <p:cNvSpPr/>
              <p:nvPr/>
            </p:nvSpPr>
            <p:spPr>
              <a:xfrm>
                <a:off x="476250" y="247650"/>
                <a:ext cx="419100" cy="4191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p18"/>
              <p:cNvSpPr/>
              <p:nvPr/>
            </p:nvSpPr>
            <p:spPr>
              <a:xfrm>
                <a:off x="609600" y="381000"/>
                <a:ext cx="152400" cy="76200"/>
              </a:xfrm>
              <a:custGeom>
                <a:rect b="b" l="l" r="r" t="t"/>
                <a:pathLst>
                  <a:path extrusionOk="0" h="120000" w="120000">
                    <a:moveTo>
                      <a:pt x="0" y="120000"/>
                    </a:moveTo>
                    <a:quadBezTo>
                      <a:pt x="60000" y="0"/>
                      <a:pt x="120000" y="120000"/>
                    </a:quadBezTo>
                    <a:moveTo>
                      <a:pt x="22500" y="60000"/>
                    </a:moveTo>
                    <a:cubicBezTo>
                      <a:pt x="22295" y="72273"/>
                      <a:pt x="17208" y="81952"/>
                      <a:pt x="11069" y="81747"/>
                    </a:cubicBezTo>
                    <a:cubicBezTo>
                      <a:pt x="4929" y="81542"/>
                      <a:pt x="6" y="71530"/>
                      <a:pt x="6" y="59250"/>
                    </a:cubicBezTo>
                    <a:cubicBezTo>
                      <a:pt x="6" y="46970"/>
                      <a:pt x="4929" y="36958"/>
                      <a:pt x="11069" y="36753"/>
                    </a:cubicBezTo>
                    <a:cubicBezTo>
                      <a:pt x="17208" y="36548"/>
                      <a:pt x="22295" y="46227"/>
                      <a:pt x="22500" y="58500"/>
                    </a:cubicBezTo>
                    <a:moveTo>
                      <a:pt x="97500" y="60000"/>
                    </a:moveTo>
                    <a:cubicBezTo>
                      <a:pt x="97295" y="72273"/>
                      <a:pt x="92208" y="81952"/>
                      <a:pt x="86069" y="81747"/>
                    </a:cubicBezTo>
                    <a:cubicBezTo>
                      <a:pt x="79929" y="81542"/>
                      <a:pt x="75006" y="71530"/>
                      <a:pt x="75006" y="59250"/>
                    </a:cubicBezTo>
                    <a:cubicBezTo>
                      <a:pt x="75006" y="46970"/>
                      <a:pt x="79929" y="36958"/>
                      <a:pt x="86069" y="36753"/>
                    </a:cubicBezTo>
                    <a:cubicBezTo>
                      <a:pt x="92208" y="36548"/>
                      <a:pt x="97295" y="46227"/>
                      <a:pt x="97500" y="58500"/>
                    </a:cubicBezTo>
                  </a:path>
                </a:pathLst>
              </a:custGeom>
              <a:solidFill>
                <a:srgbClr val="000000">
                  <a:alpha val="0"/>
                </a:srgbClr>
              </a:solidFill>
              <a:ln cap="rnd"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8"/>
              <p:cNvSpPr txBox="1"/>
              <p:nvPr/>
            </p:nvSpPr>
            <p:spPr>
              <a:xfrm>
                <a:off x="76200" y="809625"/>
                <a:ext cx="1219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1F2937"/>
                    </a:solidFill>
                    <a:latin typeface="Arial"/>
                    <a:ea typeface="Arial"/>
                    <a:cs typeface="Arial"/>
                    <a:sym typeface="Arial"/>
                  </a:rPr>
                  <a:t>Issues</a:t>
                </a:r>
                <a:endParaRPr b="1" sz="1300">
                  <a:solidFill>
                    <a:srgbClr val="1F2937"/>
                  </a:solidFill>
                  <a:latin typeface="Arial"/>
                  <a:ea typeface="Arial"/>
                  <a:cs typeface="Arial"/>
                  <a:sym typeface="Arial"/>
                </a:endParaRPr>
              </a:p>
              <a:p>
                <a:pPr indent="0" lvl="0" marL="0" rtl="0" algn="ctr">
                  <a:spcBef>
                    <a:spcPts val="300"/>
                  </a:spcBef>
                  <a:spcAft>
                    <a:spcPts val="0"/>
                  </a:spcAft>
                  <a:buNone/>
                </a:pPr>
                <a:r>
                  <a:rPr lang="el" sz="1000">
                    <a:solidFill>
                      <a:srgbClr val="6B7280"/>
                    </a:solidFill>
                    <a:latin typeface="Arial"/>
                    <a:ea typeface="Arial"/>
                    <a:cs typeface="Arial"/>
                    <a:sym typeface="Arial"/>
                  </a:rPr>
                  <a:t>Αναφορές &amp; Προτάσεις</a:t>
                </a:r>
                <a:endParaRPr sz="1000">
                  <a:solidFill>
                    <a:srgbClr val="6B7280"/>
                  </a:solidFill>
                  <a:latin typeface="Arial"/>
                  <a:ea typeface="Arial"/>
                  <a:cs typeface="Arial"/>
                  <a:sym typeface="Arial"/>
                </a:endParaRPr>
              </a:p>
            </p:txBody>
          </p:sp>
        </p:grpSp>
        <p:pic>
          <p:nvPicPr>
            <p:cNvPr id="92" name="Google Shape;92;p18"/>
            <p:cNvPicPr preferRelativeResize="0"/>
            <p:nvPr/>
          </p:nvPicPr>
          <p:blipFill rotWithShape="1">
            <a:blip r:embed="rId4">
              <a:alphaModFix/>
            </a:blip>
            <a:srcRect b="0" l="0" r="0" t="0"/>
            <a:stretch/>
          </p:blipFill>
          <p:spPr>
            <a:xfrm>
              <a:off x="1419225" y="809625"/>
              <a:ext cx="233400" cy="95400"/>
            </a:xfrm>
            <a:prstGeom prst="rect">
              <a:avLst/>
            </a:prstGeom>
            <a:noFill/>
            <a:ln>
              <a:noFill/>
            </a:ln>
          </p:spPr>
        </p:pic>
        <p:grpSp>
          <p:nvGrpSpPr>
            <p:cNvPr id="93" name="Google Shape;93;p18"/>
            <p:cNvGrpSpPr/>
            <p:nvPr/>
          </p:nvGrpSpPr>
          <p:grpSpPr>
            <a:xfrm>
              <a:off x="1709738" y="-4762"/>
              <a:ext cx="1381200" cy="1724100"/>
              <a:chOff x="-4762" y="-4762"/>
              <a:chExt cx="1381200" cy="1724100"/>
            </a:xfrm>
          </p:grpSpPr>
          <p:pic>
            <p:nvPicPr>
              <p:cNvPr id="94" name="Google Shape;94;p18"/>
              <p:cNvPicPr preferRelativeResize="0"/>
              <p:nvPr/>
            </p:nvPicPr>
            <p:blipFill rotWithShape="1">
              <a:blip r:embed="rId3">
                <a:alphaModFix/>
              </a:blip>
              <a:srcRect b="0" l="0" r="0" t="0"/>
              <a:stretch/>
            </p:blipFill>
            <p:spPr>
              <a:xfrm>
                <a:off x="-4762" y="-4762"/>
                <a:ext cx="1381200" cy="1724100"/>
              </a:xfrm>
              <a:prstGeom prst="rect">
                <a:avLst/>
              </a:prstGeom>
              <a:noFill/>
              <a:ln>
                <a:noFill/>
              </a:ln>
            </p:spPr>
          </p:pic>
          <p:sp>
            <p:nvSpPr>
              <p:cNvPr id="95" name="Google Shape;95;p18"/>
              <p:cNvSpPr/>
              <p:nvPr/>
            </p:nvSpPr>
            <p:spPr>
              <a:xfrm>
                <a:off x="476250" y="247650"/>
                <a:ext cx="419100" cy="419100"/>
              </a:xfrm>
              <a:prstGeom prst="ellipse">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8"/>
              <p:cNvSpPr/>
              <p:nvPr/>
            </p:nvSpPr>
            <p:spPr>
              <a:xfrm>
                <a:off x="590550" y="361950"/>
                <a:ext cx="190500" cy="152400"/>
              </a:xfrm>
              <a:custGeom>
                <a:rect b="b" l="l" r="r" t="t"/>
                <a:pathLst>
                  <a:path extrusionOk="0" h="120000" w="120000">
                    <a:moveTo>
                      <a:pt x="12000" y="30000"/>
                    </a:moveTo>
                    <a:lnTo>
                      <a:pt x="60000" y="90000"/>
                    </a:lnTo>
                    <a:lnTo>
                      <a:pt x="108000" y="30000"/>
                    </a:lnTo>
                    <a:moveTo>
                      <a:pt x="60000" y="90000"/>
                    </a:moveTo>
                    <a:lnTo>
                      <a:pt x="60000" y="0"/>
                    </a:lnTo>
                    <a:moveTo>
                      <a:pt x="0" y="120000"/>
                    </a:moveTo>
                    <a:lnTo>
                      <a:pt x="120000" y="120000"/>
                    </a:lnTo>
                  </a:path>
                </a:pathLst>
              </a:custGeom>
              <a:solidFill>
                <a:srgbClr val="000000">
                  <a:alpha val="0"/>
                </a:srgbClr>
              </a:solidFill>
              <a:ln cap="rnd" cmpd="sng" w="19050">
                <a:solidFill>
                  <a:srgbClr val="22C5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8"/>
              <p:cNvSpPr txBox="1"/>
              <p:nvPr/>
            </p:nvSpPr>
            <p:spPr>
              <a:xfrm>
                <a:off x="76200" y="809625"/>
                <a:ext cx="1219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1F2937"/>
                    </a:solidFill>
                    <a:latin typeface="Arial"/>
                    <a:ea typeface="Arial"/>
                    <a:cs typeface="Arial"/>
                    <a:sym typeface="Arial"/>
                  </a:rPr>
                  <a:t>Pull Requests</a:t>
                </a:r>
                <a:endParaRPr b="1" sz="1300">
                  <a:solidFill>
                    <a:srgbClr val="1F2937"/>
                  </a:solidFill>
                  <a:latin typeface="Arial"/>
                  <a:ea typeface="Arial"/>
                  <a:cs typeface="Arial"/>
                  <a:sym typeface="Arial"/>
                </a:endParaRPr>
              </a:p>
              <a:p>
                <a:pPr indent="0" lvl="0" marL="0" rtl="0" algn="ctr">
                  <a:spcBef>
                    <a:spcPts val="300"/>
                  </a:spcBef>
                  <a:spcAft>
                    <a:spcPts val="0"/>
                  </a:spcAft>
                  <a:buNone/>
                </a:pPr>
                <a:r>
                  <a:rPr lang="el" sz="1000">
                    <a:solidFill>
                      <a:srgbClr val="6B7280"/>
                    </a:solidFill>
                    <a:latin typeface="Arial"/>
                    <a:ea typeface="Arial"/>
                    <a:cs typeface="Arial"/>
                    <a:sym typeface="Arial"/>
                  </a:rPr>
                  <a:t>Συνεισφορά Κώδικα</a:t>
                </a:r>
                <a:endParaRPr sz="1000">
                  <a:solidFill>
                    <a:srgbClr val="6B7280"/>
                  </a:solidFill>
                  <a:latin typeface="Arial"/>
                  <a:ea typeface="Arial"/>
                  <a:cs typeface="Arial"/>
                  <a:sym typeface="Arial"/>
                </a:endParaRPr>
              </a:p>
            </p:txBody>
          </p:sp>
        </p:grpSp>
        <p:pic>
          <p:nvPicPr>
            <p:cNvPr id="98" name="Google Shape;98;p18"/>
            <p:cNvPicPr preferRelativeResize="0"/>
            <p:nvPr/>
          </p:nvPicPr>
          <p:blipFill rotWithShape="1">
            <a:blip r:embed="rId4">
              <a:alphaModFix/>
            </a:blip>
            <a:srcRect b="0" l="0" r="0" t="0"/>
            <a:stretch/>
          </p:blipFill>
          <p:spPr>
            <a:xfrm>
              <a:off x="3133725" y="809625"/>
              <a:ext cx="233400" cy="95400"/>
            </a:xfrm>
            <a:prstGeom prst="rect">
              <a:avLst/>
            </a:prstGeom>
            <a:noFill/>
            <a:ln>
              <a:noFill/>
            </a:ln>
          </p:spPr>
        </p:pic>
        <p:grpSp>
          <p:nvGrpSpPr>
            <p:cNvPr id="99" name="Google Shape;99;p18"/>
            <p:cNvGrpSpPr/>
            <p:nvPr/>
          </p:nvGrpSpPr>
          <p:grpSpPr>
            <a:xfrm>
              <a:off x="3424238" y="-4762"/>
              <a:ext cx="1381200" cy="1724100"/>
              <a:chOff x="-4762" y="-4762"/>
              <a:chExt cx="1381200" cy="1724100"/>
            </a:xfrm>
          </p:grpSpPr>
          <p:pic>
            <p:nvPicPr>
              <p:cNvPr id="100" name="Google Shape;100;p18"/>
              <p:cNvPicPr preferRelativeResize="0"/>
              <p:nvPr/>
            </p:nvPicPr>
            <p:blipFill rotWithShape="1">
              <a:blip r:embed="rId3">
                <a:alphaModFix/>
              </a:blip>
              <a:srcRect b="0" l="0" r="0" t="0"/>
              <a:stretch/>
            </p:blipFill>
            <p:spPr>
              <a:xfrm>
                <a:off x="-4762" y="-4762"/>
                <a:ext cx="1381200" cy="1724100"/>
              </a:xfrm>
              <a:prstGeom prst="rect">
                <a:avLst/>
              </a:prstGeom>
              <a:noFill/>
              <a:ln>
                <a:noFill/>
              </a:ln>
            </p:spPr>
          </p:pic>
          <p:sp>
            <p:nvSpPr>
              <p:cNvPr id="101" name="Google Shape;101;p18"/>
              <p:cNvSpPr/>
              <p:nvPr/>
            </p:nvSpPr>
            <p:spPr>
              <a:xfrm>
                <a:off x="476250" y="247650"/>
                <a:ext cx="419100" cy="419100"/>
              </a:xfrm>
              <a:prstGeom prst="ellipse">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8"/>
              <p:cNvSpPr/>
              <p:nvPr/>
            </p:nvSpPr>
            <p:spPr>
              <a:xfrm>
                <a:off x="590550" y="352425"/>
                <a:ext cx="200100" cy="200100"/>
              </a:xfrm>
              <a:custGeom>
                <a:rect b="b" l="l" r="r" t="t"/>
                <a:pathLst>
                  <a:path extrusionOk="0" h="120000" w="120000">
                    <a:moveTo>
                      <a:pt x="0" y="62857"/>
                    </a:moveTo>
                    <a:cubicBezTo>
                      <a:pt x="0" y="31298"/>
                      <a:pt x="25584" y="5714"/>
                      <a:pt x="57143" y="5714"/>
                    </a:cubicBezTo>
                    <a:cubicBezTo>
                      <a:pt x="88702" y="5714"/>
                      <a:pt x="114286" y="31298"/>
                      <a:pt x="114286" y="62857"/>
                    </a:cubicBezTo>
                    <a:cubicBezTo>
                      <a:pt x="114286" y="94416"/>
                      <a:pt x="88702" y="120000"/>
                      <a:pt x="57143" y="120000"/>
                    </a:cubicBezTo>
                    <a:cubicBezTo>
                      <a:pt x="25584" y="120000"/>
                      <a:pt x="0" y="94416"/>
                      <a:pt x="0" y="62857"/>
                    </a:cubicBezTo>
                    <a:moveTo>
                      <a:pt x="85714" y="34286"/>
                    </a:moveTo>
                    <a:lnTo>
                      <a:pt x="120000" y="0"/>
                    </a:lnTo>
                  </a:path>
                </a:pathLst>
              </a:custGeom>
              <a:solidFill>
                <a:srgbClr val="000000">
                  <a:alpha val="0"/>
                </a:srgbClr>
              </a:solidFill>
              <a:ln cap="rnd"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8"/>
              <p:cNvSpPr txBox="1"/>
              <p:nvPr/>
            </p:nvSpPr>
            <p:spPr>
              <a:xfrm>
                <a:off x="76200" y="809625"/>
                <a:ext cx="1219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1F2937"/>
                    </a:solidFill>
                    <a:latin typeface="Arial"/>
                    <a:ea typeface="Arial"/>
                    <a:cs typeface="Arial"/>
                    <a:sym typeface="Arial"/>
                  </a:rPr>
                  <a:t>Reviews</a:t>
                </a:r>
                <a:endParaRPr b="1" sz="1300">
                  <a:solidFill>
                    <a:srgbClr val="1F2937"/>
                  </a:solidFill>
                  <a:latin typeface="Arial"/>
                  <a:ea typeface="Arial"/>
                  <a:cs typeface="Arial"/>
                  <a:sym typeface="Arial"/>
                </a:endParaRPr>
              </a:p>
              <a:p>
                <a:pPr indent="0" lvl="0" marL="0" rtl="0" algn="ctr">
                  <a:spcBef>
                    <a:spcPts val="300"/>
                  </a:spcBef>
                  <a:spcAft>
                    <a:spcPts val="0"/>
                  </a:spcAft>
                  <a:buNone/>
                </a:pPr>
                <a:r>
                  <a:rPr lang="el" sz="1000">
                    <a:solidFill>
                      <a:srgbClr val="6B7280"/>
                    </a:solidFill>
                    <a:latin typeface="Arial"/>
                    <a:ea typeface="Arial"/>
                    <a:cs typeface="Arial"/>
                    <a:sym typeface="Arial"/>
                  </a:rPr>
                  <a:t>Έλεγχος &amp; Feedback</a:t>
                </a:r>
                <a:endParaRPr sz="1000">
                  <a:solidFill>
                    <a:srgbClr val="6B7280"/>
                  </a:solidFill>
                  <a:latin typeface="Arial"/>
                  <a:ea typeface="Arial"/>
                  <a:cs typeface="Arial"/>
                  <a:sym typeface="Arial"/>
                </a:endParaRPr>
              </a:p>
            </p:txBody>
          </p:sp>
        </p:grpSp>
        <p:pic>
          <p:nvPicPr>
            <p:cNvPr id="104" name="Google Shape;104;p18"/>
            <p:cNvPicPr preferRelativeResize="0"/>
            <p:nvPr/>
          </p:nvPicPr>
          <p:blipFill rotWithShape="1">
            <a:blip r:embed="rId4">
              <a:alphaModFix/>
            </a:blip>
            <a:srcRect b="0" l="0" r="0" t="0"/>
            <a:stretch/>
          </p:blipFill>
          <p:spPr>
            <a:xfrm>
              <a:off x="4848225" y="809625"/>
              <a:ext cx="233400" cy="95400"/>
            </a:xfrm>
            <a:prstGeom prst="rect">
              <a:avLst/>
            </a:prstGeom>
            <a:noFill/>
            <a:ln>
              <a:noFill/>
            </a:ln>
          </p:spPr>
        </p:pic>
        <p:grpSp>
          <p:nvGrpSpPr>
            <p:cNvPr id="105" name="Google Shape;105;p18"/>
            <p:cNvGrpSpPr/>
            <p:nvPr/>
          </p:nvGrpSpPr>
          <p:grpSpPr>
            <a:xfrm>
              <a:off x="5138738" y="-4762"/>
              <a:ext cx="1381200" cy="1724100"/>
              <a:chOff x="-4762" y="-4762"/>
              <a:chExt cx="1381200" cy="1724100"/>
            </a:xfrm>
          </p:grpSpPr>
          <p:pic>
            <p:nvPicPr>
              <p:cNvPr id="106" name="Google Shape;106;p18"/>
              <p:cNvPicPr preferRelativeResize="0"/>
              <p:nvPr/>
            </p:nvPicPr>
            <p:blipFill rotWithShape="1">
              <a:blip r:embed="rId3">
                <a:alphaModFix/>
              </a:blip>
              <a:srcRect b="0" l="0" r="0" t="0"/>
              <a:stretch/>
            </p:blipFill>
            <p:spPr>
              <a:xfrm>
                <a:off x="-4762" y="-4762"/>
                <a:ext cx="1381200" cy="1724100"/>
              </a:xfrm>
              <a:prstGeom prst="rect">
                <a:avLst/>
              </a:prstGeom>
              <a:noFill/>
              <a:ln>
                <a:noFill/>
              </a:ln>
            </p:spPr>
          </p:pic>
          <p:sp>
            <p:nvSpPr>
              <p:cNvPr id="107" name="Google Shape;107;p18"/>
              <p:cNvSpPr/>
              <p:nvPr/>
            </p:nvSpPr>
            <p:spPr>
              <a:xfrm>
                <a:off x="476250" y="247650"/>
                <a:ext cx="419100" cy="419100"/>
              </a:xfrm>
              <a:prstGeom prst="ellipse">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8"/>
              <p:cNvSpPr/>
              <p:nvPr/>
            </p:nvSpPr>
            <p:spPr>
              <a:xfrm>
                <a:off x="590550" y="361950"/>
                <a:ext cx="190500" cy="152400"/>
              </a:xfrm>
              <a:custGeom>
                <a:rect b="b" l="l" r="r" t="t"/>
                <a:pathLst>
                  <a:path extrusionOk="0" h="120000" w="120000">
                    <a:moveTo>
                      <a:pt x="0" y="120000"/>
                    </a:moveTo>
                    <a:lnTo>
                      <a:pt x="0" y="45000"/>
                    </a:lnTo>
                    <a:lnTo>
                      <a:pt x="60000" y="0"/>
                    </a:lnTo>
                    <a:lnTo>
                      <a:pt x="120000" y="45000"/>
                    </a:lnTo>
                    <a:lnTo>
                      <a:pt x="120000" y="120000"/>
                    </a:lnTo>
                    <a:close/>
                    <a:moveTo>
                      <a:pt x="0" y="45000"/>
                    </a:moveTo>
                    <a:lnTo>
                      <a:pt x="60000" y="90000"/>
                    </a:lnTo>
                    <a:lnTo>
                      <a:pt x="120000" y="45000"/>
                    </a:lnTo>
                  </a:path>
                </a:pathLst>
              </a:custGeom>
              <a:solidFill>
                <a:srgbClr val="000000">
                  <a:alpha val="0"/>
                </a:srgbClr>
              </a:solidFill>
              <a:ln cap="rnd" cmpd="sng" w="19050">
                <a:solidFill>
                  <a:srgbClr val="A855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8"/>
              <p:cNvSpPr txBox="1"/>
              <p:nvPr/>
            </p:nvSpPr>
            <p:spPr>
              <a:xfrm>
                <a:off x="76200" y="809625"/>
                <a:ext cx="1219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1F2937"/>
                    </a:solidFill>
                    <a:latin typeface="Arial"/>
                    <a:ea typeface="Arial"/>
                    <a:cs typeface="Arial"/>
                    <a:sym typeface="Arial"/>
                  </a:rPr>
                  <a:t>Releases</a:t>
                </a:r>
                <a:endParaRPr b="1" sz="1300">
                  <a:solidFill>
                    <a:srgbClr val="1F2937"/>
                  </a:solidFill>
                  <a:latin typeface="Arial"/>
                  <a:ea typeface="Arial"/>
                  <a:cs typeface="Arial"/>
                  <a:sym typeface="Arial"/>
                </a:endParaRPr>
              </a:p>
              <a:p>
                <a:pPr indent="0" lvl="0" marL="0" rtl="0" algn="ctr">
                  <a:spcBef>
                    <a:spcPts val="300"/>
                  </a:spcBef>
                  <a:spcAft>
                    <a:spcPts val="0"/>
                  </a:spcAft>
                  <a:buNone/>
                </a:pPr>
                <a:r>
                  <a:rPr lang="el" sz="1000">
                    <a:solidFill>
                      <a:srgbClr val="6B7280"/>
                    </a:solidFill>
                    <a:latin typeface="Arial"/>
                    <a:ea typeface="Arial"/>
                    <a:cs typeface="Arial"/>
                    <a:sym typeface="Arial"/>
                  </a:rPr>
                  <a:t>Έκδοση Νέων Features</a:t>
                </a:r>
                <a:endParaRPr sz="1000">
                  <a:solidFill>
                    <a:srgbClr val="6B7280"/>
                  </a:solidFill>
                  <a:latin typeface="Arial"/>
                  <a:ea typeface="Arial"/>
                  <a:cs typeface="Arial"/>
                  <a:sym typeface="Arial"/>
                </a:endParaRPr>
              </a:p>
            </p:txBody>
          </p:sp>
        </p:grpSp>
        <p:pic>
          <p:nvPicPr>
            <p:cNvPr id="110" name="Google Shape;110;p18"/>
            <p:cNvPicPr preferRelativeResize="0"/>
            <p:nvPr/>
          </p:nvPicPr>
          <p:blipFill rotWithShape="1">
            <a:blip r:embed="rId4">
              <a:alphaModFix/>
            </a:blip>
            <a:srcRect b="0" l="0" r="0" t="0"/>
            <a:stretch/>
          </p:blipFill>
          <p:spPr>
            <a:xfrm>
              <a:off x="6562725" y="809625"/>
              <a:ext cx="233400" cy="95400"/>
            </a:xfrm>
            <a:prstGeom prst="rect">
              <a:avLst/>
            </a:prstGeom>
            <a:noFill/>
            <a:ln>
              <a:noFill/>
            </a:ln>
          </p:spPr>
        </p:pic>
        <p:grpSp>
          <p:nvGrpSpPr>
            <p:cNvPr id="111" name="Google Shape;111;p18"/>
            <p:cNvGrpSpPr/>
            <p:nvPr/>
          </p:nvGrpSpPr>
          <p:grpSpPr>
            <a:xfrm>
              <a:off x="6853238" y="-4762"/>
              <a:ext cx="1381200" cy="1724100"/>
              <a:chOff x="-4762" y="-4762"/>
              <a:chExt cx="1381200" cy="1724100"/>
            </a:xfrm>
          </p:grpSpPr>
          <p:pic>
            <p:nvPicPr>
              <p:cNvPr id="112" name="Google Shape;112;p18"/>
              <p:cNvPicPr preferRelativeResize="0"/>
              <p:nvPr/>
            </p:nvPicPr>
            <p:blipFill rotWithShape="1">
              <a:blip r:embed="rId3">
                <a:alphaModFix/>
              </a:blip>
              <a:srcRect b="0" l="0" r="0" t="0"/>
              <a:stretch/>
            </p:blipFill>
            <p:spPr>
              <a:xfrm>
                <a:off x="-4762" y="-4762"/>
                <a:ext cx="1381200" cy="1724100"/>
              </a:xfrm>
              <a:prstGeom prst="rect">
                <a:avLst/>
              </a:prstGeom>
              <a:noFill/>
              <a:ln>
                <a:noFill/>
              </a:ln>
            </p:spPr>
          </p:pic>
          <p:sp>
            <p:nvSpPr>
              <p:cNvPr id="113" name="Google Shape;113;p18"/>
              <p:cNvSpPr/>
              <p:nvPr/>
            </p:nvSpPr>
            <p:spPr>
              <a:xfrm>
                <a:off x="476250" y="247650"/>
                <a:ext cx="419100" cy="419100"/>
              </a:xfrm>
              <a:prstGeom prst="ellipse">
                <a:avLst/>
              </a:prstGeom>
              <a:solidFill>
                <a:srgbClr val="ECFE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8"/>
              <p:cNvSpPr/>
              <p:nvPr/>
            </p:nvSpPr>
            <p:spPr>
              <a:xfrm>
                <a:off x="590550" y="361950"/>
                <a:ext cx="190500" cy="209700"/>
              </a:xfrm>
              <a:custGeom>
                <a:rect b="b" l="l" r="r" t="t"/>
                <a:pathLst>
                  <a:path extrusionOk="0" h="120000" w="120000">
                    <a:moveTo>
                      <a:pt x="0" y="54545"/>
                    </a:moveTo>
                    <a:cubicBezTo>
                      <a:pt x="0" y="24420"/>
                      <a:pt x="26863" y="0"/>
                      <a:pt x="60000" y="0"/>
                    </a:cubicBezTo>
                    <a:cubicBezTo>
                      <a:pt x="93137" y="0"/>
                      <a:pt x="120000" y="24421"/>
                      <a:pt x="120000" y="54545"/>
                    </a:cubicBezTo>
                    <a:cubicBezTo>
                      <a:pt x="120000" y="98182"/>
                      <a:pt x="60000" y="120000"/>
                      <a:pt x="60000" y="120000"/>
                    </a:cubicBezTo>
                    <a:cubicBezTo>
                      <a:pt x="60000" y="120000"/>
                      <a:pt x="0" y="98182"/>
                      <a:pt x="0" y="54545"/>
                    </a:cubicBezTo>
                    <a:close/>
                    <a:moveTo>
                      <a:pt x="60000" y="38182"/>
                    </a:moveTo>
                    <a:lnTo>
                      <a:pt x="60000" y="60000"/>
                    </a:lnTo>
                    <a:moveTo>
                      <a:pt x="60000" y="76364"/>
                    </a:moveTo>
                    <a:lnTo>
                      <a:pt x="60000" y="81818"/>
                    </a:lnTo>
                  </a:path>
                </a:pathLst>
              </a:custGeom>
              <a:solidFill>
                <a:srgbClr val="000000">
                  <a:alpha val="0"/>
                </a:srgbClr>
              </a:solidFill>
              <a:ln cap="rnd"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8"/>
              <p:cNvSpPr txBox="1"/>
              <p:nvPr/>
            </p:nvSpPr>
            <p:spPr>
              <a:xfrm>
                <a:off x="76200" y="809625"/>
                <a:ext cx="1219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1F2937"/>
                    </a:solidFill>
                    <a:latin typeface="Arial"/>
                    <a:ea typeface="Arial"/>
                    <a:cs typeface="Arial"/>
                    <a:sym typeface="Arial"/>
                  </a:rPr>
                  <a:t>Support</a:t>
                </a:r>
                <a:endParaRPr b="1" sz="1300">
                  <a:solidFill>
                    <a:srgbClr val="1F2937"/>
                  </a:solidFill>
                  <a:latin typeface="Arial"/>
                  <a:ea typeface="Arial"/>
                  <a:cs typeface="Arial"/>
                  <a:sym typeface="Arial"/>
                </a:endParaRPr>
              </a:p>
              <a:p>
                <a:pPr indent="0" lvl="0" marL="0" rtl="0" algn="ctr">
                  <a:spcBef>
                    <a:spcPts val="300"/>
                  </a:spcBef>
                  <a:spcAft>
                    <a:spcPts val="0"/>
                  </a:spcAft>
                  <a:buNone/>
                </a:pPr>
                <a:r>
                  <a:rPr lang="el" sz="1000">
                    <a:solidFill>
                      <a:srgbClr val="6B7280"/>
                    </a:solidFill>
                    <a:latin typeface="Arial"/>
                    <a:ea typeface="Arial"/>
                    <a:cs typeface="Arial"/>
                    <a:sym typeface="Arial"/>
                  </a:rPr>
                  <a:t>Υποστήριξη Κοινότητας</a:t>
                </a:r>
                <a:endParaRPr sz="1000">
                  <a:solidFill>
                    <a:srgbClr val="6B7280"/>
                  </a:solidFill>
                  <a:latin typeface="Arial"/>
                  <a:ea typeface="Arial"/>
                  <a:cs typeface="Arial"/>
                  <a:sym typeface="Arial"/>
                </a:endParaRPr>
              </a:p>
            </p:txBody>
          </p:sp>
        </p:grpSp>
      </p:grpSp>
      <p:sp>
        <p:nvSpPr>
          <p:cNvPr id="116" name="Google Shape;116;p18"/>
          <p:cNvSpPr txBox="1"/>
          <p:nvPr/>
        </p:nvSpPr>
        <p:spPr>
          <a:xfrm>
            <a:off x="1714500" y="3905250"/>
            <a:ext cx="5715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l" sz="1300">
                <a:solidFill>
                  <a:srgbClr val="4B5563"/>
                </a:solidFill>
                <a:latin typeface="Arial"/>
                <a:ea typeface="Arial"/>
                <a:cs typeface="Arial"/>
                <a:sym typeface="Arial"/>
              </a:rPr>
              <a:t>Κάθε στάδιο του κύκλου ανάπτυξης βασίζεται στην προσπάθεια και τη συνεργασία των ανθρώπων της κοινότητας.</a:t>
            </a:r>
            <a:endParaRPr sz="1300">
              <a:solidFill>
                <a:srgbClr val="4B556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19" title="slide4.jpe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22" name="Google Shape;122;p19"/>
          <p:cNvSpPr txBox="1"/>
          <p:nvPr>
            <p:ph type="title"/>
          </p:nvPr>
        </p:nvSpPr>
        <p:spPr>
          <a:xfrm>
            <a:off x="114200" y="202000"/>
            <a:ext cx="5171700" cy="55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l">
                <a:solidFill>
                  <a:schemeClr val="lt1"/>
                </a:solidFill>
              </a:rPr>
              <a:t>Το burnout δεν είναι παράσημο</a:t>
            </a:r>
            <a:endParaRPr b="1">
              <a:solidFill>
                <a:schemeClr val="lt1"/>
              </a:solidFill>
            </a:endParaRPr>
          </a:p>
        </p:txBody>
      </p:sp>
      <p:sp>
        <p:nvSpPr>
          <p:cNvPr id="123" name="Google Shape;123;p19"/>
          <p:cNvSpPr txBox="1"/>
          <p:nvPr>
            <p:ph idx="1" type="body"/>
          </p:nvPr>
        </p:nvSpPr>
        <p:spPr>
          <a:xfrm>
            <a:off x="5483350" y="2399925"/>
            <a:ext cx="3660600" cy="26100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l" sz="3200">
                <a:solidFill>
                  <a:schemeClr val="lt1"/>
                </a:solidFill>
              </a:rPr>
              <a:t>Το ότι μπορείς να προσφέρεις συνέχεια δεν σημαίνει ότι πρέπει</a:t>
            </a:r>
            <a:endParaRPr sz="32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l" sz="2720"/>
              <a:t>Κάνε διάλειμμα. Το project θα περιμένει.</a:t>
            </a:r>
            <a:endParaRPr b="1" sz="2720"/>
          </a:p>
        </p:txBody>
      </p:sp>
      <p:sp>
        <p:nvSpPr>
          <p:cNvPr id="129" name="Google Shape;129;p20"/>
          <p:cNvSpPr txBox="1"/>
          <p:nvPr>
            <p:ph idx="1" type="body"/>
          </p:nvPr>
        </p:nvSpPr>
        <p:spPr>
          <a:xfrm>
            <a:off x="4701300" y="1376488"/>
            <a:ext cx="4442700" cy="3358800"/>
          </a:xfrm>
          <a:prstGeom prst="rect">
            <a:avLst/>
          </a:prstGeom>
        </p:spPr>
        <p:txBody>
          <a:bodyPr anchorCtr="0" anchor="t" bIns="91425" lIns="91425" spcFirstLastPara="1" rIns="91425" wrap="square" tIns="91425">
            <a:normAutofit/>
          </a:bodyPr>
          <a:lstStyle/>
          <a:p>
            <a:pPr indent="-495300" lvl="0" marL="457200" rtl="0" algn="l">
              <a:spcBef>
                <a:spcPts val="0"/>
              </a:spcBef>
              <a:spcAft>
                <a:spcPts val="0"/>
              </a:spcAft>
              <a:buClr>
                <a:schemeClr val="dk1"/>
              </a:buClr>
              <a:buSzPts val="4200"/>
              <a:buChar char="●"/>
            </a:pPr>
            <a:r>
              <a:rPr lang="el" sz="4200">
                <a:solidFill>
                  <a:schemeClr val="dk1"/>
                </a:solidFill>
              </a:rPr>
              <a:t>Παύση</a:t>
            </a:r>
            <a:endParaRPr sz="4200">
              <a:solidFill>
                <a:schemeClr val="dk1"/>
              </a:solidFill>
            </a:endParaRPr>
          </a:p>
          <a:p>
            <a:pPr indent="-495300" lvl="0" marL="457200" rtl="0" algn="l">
              <a:spcBef>
                <a:spcPts val="0"/>
              </a:spcBef>
              <a:spcAft>
                <a:spcPts val="0"/>
              </a:spcAft>
              <a:buClr>
                <a:schemeClr val="dk1"/>
              </a:buClr>
              <a:buSzPts val="4200"/>
              <a:buChar char="●"/>
            </a:pPr>
            <a:r>
              <a:rPr lang="el" sz="4200">
                <a:solidFill>
                  <a:schemeClr val="dk1"/>
                </a:solidFill>
              </a:rPr>
              <a:t>Όρια</a:t>
            </a:r>
            <a:endParaRPr sz="4200">
              <a:solidFill>
                <a:schemeClr val="dk1"/>
              </a:solidFill>
            </a:endParaRPr>
          </a:p>
          <a:p>
            <a:pPr indent="-495300" lvl="0" marL="457200" rtl="0" algn="l">
              <a:spcBef>
                <a:spcPts val="0"/>
              </a:spcBef>
              <a:spcAft>
                <a:spcPts val="0"/>
              </a:spcAft>
              <a:buClr>
                <a:schemeClr val="dk1"/>
              </a:buClr>
              <a:buSzPts val="4200"/>
              <a:buChar char="●"/>
            </a:pPr>
            <a:r>
              <a:rPr lang="el" sz="4200">
                <a:solidFill>
                  <a:schemeClr val="dk1"/>
                </a:solidFill>
              </a:rPr>
              <a:t>Βιωσιμότητα</a:t>
            </a:r>
            <a:endParaRPr sz="4200">
              <a:solidFill>
                <a:schemeClr val="dk1"/>
              </a:solidFill>
            </a:endParaRPr>
          </a:p>
        </p:txBody>
      </p:sp>
      <p:pic>
        <p:nvPicPr>
          <p:cNvPr id="130" name="Google Shape;130;p20" title="slide5.jpeg"/>
          <p:cNvPicPr preferRelativeResize="0"/>
          <p:nvPr/>
        </p:nvPicPr>
        <p:blipFill>
          <a:blip r:embed="rId3">
            <a:alphaModFix/>
          </a:blip>
          <a:stretch>
            <a:fillRect/>
          </a:stretch>
        </p:blipFill>
        <p:spPr>
          <a:xfrm>
            <a:off x="461350" y="1243600"/>
            <a:ext cx="3624576" cy="3624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4" name="Shape 134"/>
        <p:cNvGrpSpPr/>
        <p:nvPr/>
      </p:nvGrpSpPr>
      <p:grpSpPr>
        <a:xfrm>
          <a:off x="0" y="0"/>
          <a:ext cx="0" cy="0"/>
          <a:chOff x="0" y="0"/>
          <a:chExt cx="0" cy="0"/>
        </a:xfrm>
      </p:grpSpPr>
      <p:sp>
        <p:nvSpPr>
          <p:cNvPr id="135" name="Google Shape;135;p21"/>
          <p:cNvSpPr txBox="1"/>
          <p:nvPr/>
        </p:nvSpPr>
        <p:spPr>
          <a:xfrm>
            <a:off x="381000" y="428625"/>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2600">
                <a:solidFill>
                  <a:srgbClr val="111827"/>
                </a:solidFill>
                <a:latin typeface="Arial"/>
                <a:ea typeface="Arial"/>
                <a:cs typeface="Arial"/>
                <a:sym typeface="Arial"/>
              </a:rPr>
              <a:t>Από την ιδέα στην εφαρμογή με φυσική γλώσσα</a:t>
            </a:r>
            <a:endParaRPr b="1" sz="2600">
              <a:solidFill>
                <a:srgbClr val="111827"/>
              </a:solidFill>
              <a:latin typeface="Arial"/>
              <a:ea typeface="Arial"/>
              <a:cs typeface="Arial"/>
              <a:sym typeface="Arial"/>
            </a:endParaRPr>
          </a:p>
        </p:txBody>
      </p:sp>
      <p:sp>
        <p:nvSpPr>
          <p:cNvPr id="136" name="Google Shape;136;p21"/>
          <p:cNvSpPr txBox="1"/>
          <p:nvPr/>
        </p:nvSpPr>
        <p:spPr>
          <a:xfrm>
            <a:off x="1349775" y="3952875"/>
            <a:ext cx="6349200" cy="113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l" sz="1300">
                <a:solidFill>
                  <a:srgbClr val="4B5563"/>
                </a:solidFill>
                <a:latin typeface="Arial"/>
                <a:ea typeface="Arial"/>
                <a:cs typeface="Arial"/>
                <a:sym typeface="Arial"/>
              </a:rPr>
              <a:t>Μετασχηματίζοντας τις σκέψεις σε λειτουργικό λογισμικό άμεσα και απλά.</a:t>
            </a:r>
            <a:endParaRPr b="0" sz="1300">
              <a:solidFill>
                <a:srgbClr val="4B5563"/>
              </a:solidFill>
              <a:latin typeface="Arial"/>
              <a:ea typeface="Arial"/>
              <a:cs typeface="Arial"/>
              <a:sym typeface="Arial"/>
            </a:endParaRPr>
          </a:p>
          <a:p>
            <a:pPr indent="0" lvl="0" marL="0" rtl="0" algn="ctr">
              <a:spcBef>
                <a:spcPts val="0"/>
              </a:spcBef>
              <a:spcAft>
                <a:spcPts val="0"/>
              </a:spcAft>
              <a:buNone/>
            </a:pPr>
            <a:r>
              <a:t/>
            </a:r>
            <a:endParaRPr sz="1300">
              <a:solidFill>
                <a:srgbClr val="4B5563"/>
              </a:solidFill>
            </a:endParaRPr>
          </a:p>
          <a:p>
            <a:pPr indent="0" lvl="0" marL="0" rtl="0" algn="ctr">
              <a:spcBef>
                <a:spcPts val="0"/>
              </a:spcBef>
              <a:spcAft>
                <a:spcPts val="0"/>
              </a:spcAft>
              <a:buNone/>
            </a:pPr>
            <a:r>
              <a:rPr b="1" lang="el" sz="1300">
                <a:solidFill>
                  <a:srgbClr val="FF0000"/>
                </a:solidFill>
              </a:rPr>
              <a:t>ΠΑΓΙΔΑ: δεν σημαίνει ότι το </a:t>
            </a:r>
            <a:r>
              <a:rPr b="1" lang="el" sz="1300">
                <a:solidFill>
                  <a:srgbClr val="FF0000"/>
                </a:solidFill>
              </a:rPr>
              <a:t>λογισμικό</a:t>
            </a:r>
            <a:r>
              <a:rPr b="1" lang="el" sz="1300">
                <a:solidFill>
                  <a:srgbClr val="FF0000"/>
                </a:solidFill>
              </a:rPr>
              <a:t> είναι ασφαλές ή έτοιμο για παραγωγή</a:t>
            </a:r>
            <a:endParaRPr b="1" sz="1300">
              <a:solidFill>
                <a:srgbClr val="FF0000"/>
              </a:solidFill>
            </a:endParaRPr>
          </a:p>
        </p:txBody>
      </p:sp>
      <p:grpSp>
        <p:nvGrpSpPr>
          <p:cNvPr id="137" name="Google Shape;137;p21"/>
          <p:cNvGrpSpPr/>
          <p:nvPr/>
        </p:nvGrpSpPr>
        <p:grpSpPr>
          <a:xfrm>
            <a:off x="381000" y="1619250"/>
            <a:ext cx="8286750" cy="1714500"/>
            <a:chOff x="0" y="0"/>
            <a:chExt cx="8286750" cy="1714500"/>
          </a:xfrm>
        </p:grpSpPr>
        <p:grpSp>
          <p:nvGrpSpPr>
            <p:cNvPr id="138" name="Google Shape;138;p21"/>
            <p:cNvGrpSpPr/>
            <p:nvPr/>
          </p:nvGrpSpPr>
          <p:grpSpPr>
            <a:xfrm>
              <a:off x="0" y="0"/>
              <a:ext cx="1714500" cy="1714500"/>
              <a:chOff x="0" y="0"/>
              <a:chExt cx="1714500" cy="1714500"/>
            </a:xfrm>
          </p:grpSpPr>
          <p:sp>
            <p:nvSpPr>
              <p:cNvPr id="139" name="Google Shape;139;p21"/>
              <p:cNvSpPr/>
              <p:nvPr/>
            </p:nvSpPr>
            <p:spPr>
              <a:xfrm>
                <a:off x="0" y="0"/>
                <a:ext cx="1714500" cy="1714500"/>
              </a:xfrm>
              <a:prstGeom prst="roundRect">
                <a:avLst>
                  <a:gd fmla="val 888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21"/>
              <p:cNvSpPr/>
              <p:nvPr/>
            </p:nvSpPr>
            <p:spPr>
              <a:xfrm>
                <a:off x="628650" y="247650"/>
                <a:ext cx="457200" cy="457200"/>
              </a:xfrm>
              <a:prstGeom prst="ellipse">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21"/>
              <p:cNvSpPr/>
              <p:nvPr/>
            </p:nvSpPr>
            <p:spPr>
              <a:xfrm>
                <a:off x="742950" y="361950"/>
                <a:ext cx="228600" cy="247800"/>
              </a:xfrm>
              <a:custGeom>
                <a:rect b="b" l="l" r="r" t="t"/>
                <a:pathLst>
                  <a:path extrusionOk="0" h="120000" w="120000">
                    <a:moveTo>
                      <a:pt x="60000" y="0"/>
                    </a:moveTo>
                    <a:cubicBezTo>
                      <a:pt x="27000" y="0"/>
                      <a:pt x="0" y="24923"/>
                      <a:pt x="0" y="55385"/>
                    </a:cubicBezTo>
                    <a:cubicBezTo>
                      <a:pt x="0" y="74308"/>
                      <a:pt x="10500" y="90923"/>
                      <a:pt x="26000" y="100615"/>
                    </a:cubicBezTo>
                    <a:cubicBezTo>
                      <a:pt x="32000" y="104308"/>
                      <a:pt x="35000" y="110769"/>
                      <a:pt x="35000" y="117692"/>
                    </a:cubicBezTo>
                    <a:lnTo>
                      <a:pt x="35000" y="120000"/>
                    </a:lnTo>
                    <a:lnTo>
                      <a:pt x="85000" y="120000"/>
                    </a:lnTo>
                    <a:lnTo>
                      <a:pt x="85000" y="117692"/>
                    </a:lnTo>
                    <a:cubicBezTo>
                      <a:pt x="85000" y="110769"/>
                      <a:pt x="88000" y="104308"/>
                      <a:pt x="94000" y="100615"/>
                    </a:cubicBezTo>
                    <a:cubicBezTo>
                      <a:pt x="109500" y="90923"/>
                      <a:pt x="120000" y="74308"/>
                      <a:pt x="120000" y="55385"/>
                    </a:cubicBezTo>
                    <a:cubicBezTo>
                      <a:pt x="120000" y="24923"/>
                      <a:pt x="93000" y="0"/>
                      <a:pt x="60000" y="0"/>
                    </a:cubicBezTo>
                    <a:close/>
                  </a:path>
                </a:pathLst>
              </a:custGeom>
              <a:solidFill>
                <a:srgbClr val="000000">
                  <a:alpha val="0"/>
                </a:srgbClr>
              </a:solidFill>
              <a:ln cap="rnd"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21"/>
              <p:cNvSpPr/>
              <p:nvPr/>
            </p:nvSpPr>
            <p:spPr>
              <a:xfrm>
                <a:off x="819150" y="647700"/>
                <a:ext cx="76200" cy="0"/>
              </a:xfrm>
              <a:custGeom>
                <a:rect b="b" l="l" r="r" t="t"/>
                <a:pathLst>
                  <a:path extrusionOk="0" fill="none" h="120000" w="120000">
                    <a:moveTo>
                      <a:pt x="0" y="0"/>
                    </a:moveTo>
                    <a:lnTo>
                      <a:pt x="120000" y="0"/>
                    </a:lnTo>
                  </a:path>
                </a:pathLst>
              </a:custGeom>
              <a:solidFill>
                <a:srgbClr val="FFFFFF"/>
              </a:solidFill>
              <a:ln cap="rnd"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21"/>
              <p:cNvSpPr txBox="1"/>
              <p:nvPr/>
            </p:nvSpPr>
            <p:spPr>
              <a:xfrm>
                <a:off x="95250" y="904875"/>
                <a:ext cx="15240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1F2937"/>
                    </a:solidFill>
                    <a:latin typeface="Arial"/>
                    <a:ea typeface="Arial"/>
                    <a:cs typeface="Arial"/>
                    <a:sym typeface="Arial"/>
                  </a:rPr>
                  <a:t>Ιδέα</a:t>
                </a:r>
                <a:endParaRPr b="1" sz="1300">
                  <a:solidFill>
                    <a:srgbClr val="1F2937"/>
                  </a:solidFill>
                  <a:latin typeface="Arial"/>
                  <a:ea typeface="Arial"/>
                  <a:cs typeface="Arial"/>
                  <a:sym typeface="Arial"/>
                </a:endParaRPr>
              </a:p>
              <a:p>
                <a:pPr indent="0" lvl="0" marL="0" rtl="0" algn="ctr">
                  <a:spcBef>
                    <a:spcPts val="400"/>
                  </a:spcBef>
                  <a:spcAft>
                    <a:spcPts val="0"/>
                  </a:spcAft>
                  <a:buNone/>
                </a:pPr>
                <a:r>
                  <a:rPr b="0" lang="el" sz="1000">
                    <a:solidFill>
                      <a:srgbClr val="6B7280"/>
                    </a:solidFill>
                    <a:latin typeface="Arial"/>
                    <a:ea typeface="Arial"/>
                    <a:cs typeface="Arial"/>
                    <a:sym typeface="Arial"/>
                  </a:rPr>
                  <a:t>Σύλληψη &amp; Όραμα</a:t>
                </a:r>
                <a:endParaRPr b="0" sz="1000">
                  <a:solidFill>
                    <a:srgbClr val="6B7280"/>
                  </a:solidFill>
                  <a:latin typeface="Arial"/>
                  <a:ea typeface="Arial"/>
                  <a:cs typeface="Arial"/>
                  <a:sym typeface="Arial"/>
                </a:endParaRPr>
              </a:p>
            </p:txBody>
          </p:sp>
        </p:grpSp>
        <p:sp>
          <p:nvSpPr>
            <p:cNvPr id="144" name="Google Shape;144;p21"/>
            <p:cNvSpPr/>
            <p:nvPr/>
          </p:nvSpPr>
          <p:spPr>
            <a:xfrm>
              <a:off x="1828800" y="857250"/>
              <a:ext cx="152400" cy="0"/>
            </a:xfrm>
            <a:custGeom>
              <a:rect b="b" l="l" r="r" t="t"/>
              <a:pathLst>
                <a:path extrusionOk="0" fill="none" h="120000" w="120000">
                  <a:moveTo>
                    <a:pt x="0" y="0"/>
                  </a:moveTo>
                  <a:lnTo>
                    <a:pt x="120000" y="0"/>
                  </a:lnTo>
                </a:path>
              </a:pathLst>
            </a:custGeom>
            <a:solidFill>
              <a:srgbClr val="FFFFFF"/>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21"/>
            <p:cNvSpPr/>
            <p:nvPr/>
          </p:nvSpPr>
          <p:spPr>
            <a:xfrm>
              <a:off x="1943100" y="809625"/>
              <a:ext cx="47700" cy="95400"/>
            </a:xfrm>
            <a:custGeom>
              <a:rect b="b" l="l" r="r" t="t"/>
              <a:pathLst>
                <a:path extrusionOk="0" h="120000" w="120000">
                  <a:moveTo>
                    <a:pt x="0" y="0"/>
                  </a:moveTo>
                  <a:lnTo>
                    <a:pt x="120000" y="60000"/>
                  </a:lnTo>
                  <a:lnTo>
                    <a:pt x="0" y="120000"/>
                  </a:lnTo>
                </a:path>
              </a:pathLst>
            </a:custGeom>
            <a:solidFill>
              <a:srgbClr val="000000"/>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6" name="Google Shape;146;p21"/>
            <p:cNvGrpSpPr/>
            <p:nvPr/>
          </p:nvGrpSpPr>
          <p:grpSpPr>
            <a:xfrm>
              <a:off x="2190750" y="0"/>
              <a:ext cx="1714500" cy="1714500"/>
              <a:chOff x="0" y="0"/>
              <a:chExt cx="1714500" cy="1714500"/>
            </a:xfrm>
          </p:grpSpPr>
          <p:sp>
            <p:nvSpPr>
              <p:cNvPr id="147" name="Google Shape;147;p21"/>
              <p:cNvSpPr/>
              <p:nvPr/>
            </p:nvSpPr>
            <p:spPr>
              <a:xfrm>
                <a:off x="0" y="0"/>
                <a:ext cx="1714500" cy="1714500"/>
              </a:xfrm>
              <a:prstGeom prst="roundRect">
                <a:avLst>
                  <a:gd fmla="val 888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21"/>
              <p:cNvSpPr/>
              <p:nvPr/>
            </p:nvSpPr>
            <p:spPr>
              <a:xfrm>
                <a:off x="628650" y="247650"/>
                <a:ext cx="457200" cy="4572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21"/>
              <p:cNvSpPr/>
              <p:nvPr/>
            </p:nvSpPr>
            <p:spPr>
              <a:xfrm>
                <a:off x="742950" y="419100"/>
                <a:ext cx="228600" cy="114300"/>
              </a:xfrm>
              <a:custGeom>
                <a:rect b="b" l="l" r="r" t="t"/>
                <a:pathLst>
                  <a:path extrusionOk="0" h="120000" w="120000">
                    <a:moveTo>
                      <a:pt x="0" y="0"/>
                    </a:moveTo>
                    <a:lnTo>
                      <a:pt x="120000" y="0"/>
                    </a:lnTo>
                    <a:moveTo>
                      <a:pt x="0" y="60000"/>
                    </a:moveTo>
                    <a:lnTo>
                      <a:pt x="90000" y="60000"/>
                    </a:lnTo>
                    <a:moveTo>
                      <a:pt x="0" y="120000"/>
                    </a:moveTo>
                    <a:lnTo>
                      <a:pt x="60000" y="120000"/>
                    </a:lnTo>
                  </a:path>
                </a:pathLst>
              </a:custGeom>
              <a:solidFill>
                <a:srgbClr val="000000">
                  <a:alpha val="0"/>
                </a:srgbClr>
              </a:solidFill>
              <a:ln cap="rnd"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21"/>
              <p:cNvSpPr txBox="1"/>
              <p:nvPr/>
            </p:nvSpPr>
            <p:spPr>
              <a:xfrm>
                <a:off x="95250" y="904875"/>
                <a:ext cx="15240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1F2937"/>
                    </a:solidFill>
                    <a:latin typeface="Arial"/>
                    <a:ea typeface="Arial"/>
                    <a:cs typeface="Arial"/>
                    <a:sym typeface="Arial"/>
                  </a:rPr>
                  <a:t>Prompt</a:t>
                </a:r>
                <a:endParaRPr b="1" sz="1300">
                  <a:solidFill>
                    <a:srgbClr val="1F2937"/>
                  </a:solidFill>
                  <a:latin typeface="Arial"/>
                  <a:ea typeface="Arial"/>
                  <a:cs typeface="Arial"/>
                  <a:sym typeface="Arial"/>
                </a:endParaRPr>
              </a:p>
              <a:p>
                <a:pPr indent="0" lvl="0" marL="0" rtl="0" algn="ctr">
                  <a:spcBef>
                    <a:spcPts val="400"/>
                  </a:spcBef>
                  <a:spcAft>
                    <a:spcPts val="0"/>
                  </a:spcAft>
                  <a:buNone/>
                </a:pPr>
                <a:r>
                  <a:rPr b="0" lang="el" sz="1000">
                    <a:solidFill>
                      <a:srgbClr val="6B7280"/>
                    </a:solidFill>
                    <a:latin typeface="Arial"/>
                    <a:ea typeface="Arial"/>
                    <a:cs typeface="Arial"/>
                    <a:sym typeface="Arial"/>
                  </a:rPr>
                  <a:t>Φυσική Γλώσσα</a:t>
                </a:r>
                <a:endParaRPr b="0" sz="1000">
                  <a:solidFill>
                    <a:srgbClr val="6B7280"/>
                  </a:solidFill>
                  <a:latin typeface="Arial"/>
                  <a:ea typeface="Arial"/>
                  <a:cs typeface="Arial"/>
                  <a:sym typeface="Arial"/>
                </a:endParaRPr>
              </a:p>
            </p:txBody>
          </p:sp>
        </p:grpSp>
        <p:sp>
          <p:nvSpPr>
            <p:cNvPr id="151" name="Google Shape;151;p21"/>
            <p:cNvSpPr/>
            <p:nvPr/>
          </p:nvSpPr>
          <p:spPr>
            <a:xfrm>
              <a:off x="4019550" y="857250"/>
              <a:ext cx="152400" cy="0"/>
            </a:xfrm>
            <a:custGeom>
              <a:rect b="b" l="l" r="r" t="t"/>
              <a:pathLst>
                <a:path extrusionOk="0" fill="none" h="120000" w="120000">
                  <a:moveTo>
                    <a:pt x="0" y="0"/>
                  </a:moveTo>
                  <a:lnTo>
                    <a:pt x="120000" y="0"/>
                  </a:lnTo>
                </a:path>
              </a:pathLst>
            </a:custGeom>
            <a:solidFill>
              <a:srgbClr val="FFFFFF"/>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21"/>
            <p:cNvSpPr/>
            <p:nvPr/>
          </p:nvSpPr>
          <p:spPr>
            <a:xfrm>
              <a:off x="4133850" y="809625"/>
              <a:ext cx="47700" cy="95400"/>
            </a:xfrm>
            <a:custGeom>
              <a:rect b="b" l="l" r="r" t="t"/>
              <a:pathLst>
                <a:path extrusionOk="0" h="120000" w="120000">
                  <a:moveTo>
                    <a:pt x="0" y="0"/>
                  </a:moveTo>
                  <a:lnTo>
                    <a:pt x="120000" y="60000"/>
                  </a:lnTo>
                  <a:lnTo>
                    <a:pt x="0" y="120000"/>
                  </a:lnTo>
                </a:path>
              </a:pathLst>
            </a:custGeom>
            <a:solidFill>
              <a:srgbClr val="000000"/>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3" name="Google Shape;153;p21"/>
            <p:cNvGrpSpPr/>
            <p:nvPr/>
          </p:nvGrpSpPr>
          <p:grpSpPr>
            <a:xfrm>
              <a:off x="4381500" y="0"/>
              <a:ext cx="1714500" cy="1714500"/>
              <a:chOff x="0" y="0"/>
              <a:chExt cx="1714500" cy="1714500"/>
            </a:xfrm>
          </p:grpSpPr>
          <p:sp>
            <p:nvSpPr>
              <p:cNvPr id="154" name="Google Shape;154;p21"/>
              <p:cNvSpPr/>
              <p:nvPr/>
            </p:nvSpPr>
            <p:spPr>
              <a:xfrm>
                <a:off x="0" y="0"/>
                <a:ext cx="1714500" cy="1714500"/>
              </a:xfrm>
              <a:prstGeom prst="roundRect">
                <a:avLst>
                  <a:gd fmla="val 888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21"/>
              <p:cNvSpPr/>
              <p:nvPr/>
            </p:nvSpPr>
            <p:spPr>
              <a:xfrm>
                <a:off x="628650" y="247650"/>
                <a:ext cx="457200" cy="457200"/>
              </a:xfrm>
              <a:prstGeom prst="ellipse">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21"/>
              <p:cNvSpPr/>
              <p:nvPr/>
            </p:nvSpPr>
            <p:spPr>
              <a:xfrm>
                <a:off x="733425" y="400050"/>
                <a:ext cx="247800" cy="152400"/>
              </a:xfrm>
              <a:custGeom>
                <a:rect b="b" l="l" r="r" t="t"/>
                <a:pathLst>
                  <a:path extrusionOk="0" h="120000" w="120000">
                    <a:moveTo>
                      <a:pt x="23077" y="15000"/>
                    </a:moveTo>
                    <a:lnTo>
                      <a:pt x="0" y="60000"/>
                    </a:lnTo>
                    <a:lnTo>
                      <a:pt x="23077" y="105000"/>
                    </a:lnTo>
                    <a:moveTo>
                      <a:pt x="96923" y="15000"/>
                    </a:moveTo>
                    <a:lnTo>
                      <a:pt x="120000" y="60000"/>
                    </a:lnTo>
                    <a:lnTo>
                      <a:pt x="96923" y="105000"/>
                    </a:lnTo>
                    <a:moveTo>
                      <a:pt x="69231" y="0"/>
                    </a:moveTo>
                    <a:lnTo>
                      <a:pt x="50769" y="120000"/>
                    </a:lnTo>
                  </a:path>
                </a:pathLst>
              </a:custGeom>
              <a:solidFill>
                <a:srgbClr val="000000">
                  <a:alpha val="0"/>
                </a:srgbClr>
              </a:solidFill>
              <a:ln cap="rnd" cmpd="sng" w="19050">
                <a:solidFill>
                  <a:srgbClr val="22C5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21"/>
              <p:cNvSpPr txBox="1"/>
              <p:nvPr/>
            </p:nvSpPr>
            <p:spPr>
              <a:xfrm>
                <a:off x="95250" y="904875"/>
                <a:ext cx="15240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1F2937"/>
                    </a:solidFill>
                    <a:latin typeface="Arial"/>
                    <a:ea typeface="Arial"/>
                    <a:cs typeface="Arial"/>
                    <a:sym typeface="Arial"/>
                  </a:rPr>
                  <a:t>Κώδικας</a:t>
                </a:r>
                <a:endParaRPr b="1" sz="1300">
                  <a:solidFill>
                    <a:srgbClr val="1F2937"/>
                  </a:solidFill>
                  <a:latin typeface="Arial"/>
                  <a:ea typeface="Arial"/>
                  <a:cs typeface="Arial"/>
                  <a:sym typeface="Arial"/>
                </a:endParaRPr>
              </a:p>
              <a:p>
                <a:pPr indent="0" lvl="0" marL="0" rtl="0" algn="ctr">
                  <a:spcBef>
                    <a:spcPts val="400"/>
                  </a:spcBef>
                  <a:spcAft>
                    <a:spcPts val="0"/>
                  </a:spcAft>
                  <a:buNone/>
                </a:pPr>
                <a:r>
                  <a:rPr b="0" lang="el" sz="1000">
                    <a:solidFill>
                      <a:srgbClr val="6B7280"/>
                    </a:solidFill>
                    <a:latin typeface="Arial"/>
                    <a:ea typeface="Arial"/>
                    <a:cs typeface="Arial"/>
                    <a:sym typeface="Arial"/>
                  </a:rPr>
                  <a:t>Αυτόματη Παραγωγή</a:t>
                </a:r>
                <a:endParaRPr b="0" sz="1000">
                  <a:solidFill>
                    <a:srgbClr val="6B7280"/>
                  </a:solidFill>
                  <a:latin typeface="Arial"/>
                  <a:ea typeface="Arial"/>
                  <a:cs typeface="Arial"/>
                  <a:sym typeface="Arial"/>
                </a:endParaRPr>
              </a:p>
            </p:txBody>
          </p:sp>
        </p:grpSp>
        <p:sp>
          <p:nvSpPr>
            <p:cNvPr id="158" name="Google Shape;158;p21"/>
            <p:cNvSpPr/>
            <p:nvPr/>
          </p:nvSpPr>
          <p:spPr>
            <a:xfrm>
              <a:off x="6210300" y="857250"/>
              <a:ext cx="152400" cy="0"/>
            </a:xfrm>
            <a:custGeom>
              <a:rect b="b" l="l" r="r" t="t"/>
              <a:pathLst>
                <a:path extrusionOk="0" fill="none" h="120000" w="120000">
                  <a:moveTo>
                    <a:pt x="0" y="0"/>
                  </a:moveTo>
                  <a:lnTo>
                    <a:pt x="120000" y="0"/>
                  </a:lnTo>
                </a:path>
              </a:pathLst>
            </a:custGeom>
            <a:solidFill>
              <a:srgbClr val="FFFFFF"/>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21"/>
            <p:cNvSpPr/>
            <p:nvPr/>
          </p:nvSpPr>
          <p:spPr>
            <a:xfrm>
              <a:off x="6324600" y="809625"/>
              <a:ext cx="47700" cy="95400"/>
            </a:xfrm>
            <a:custGeom>
              <a:rect b="b" l="l" r="r" t="t"/>
              <a:pathLst>
                <a:path extrusionOk="0" h="120000" w="120000">
                  <a:moveTo>
                    <a:pt x="0" y="0"/>
                  </a:moveTo>
                  <a:lnTo>
                    <a:pt x="120000" y="60000"/>
                  </a:lnTo>
                  <a:lnTo>
                    <a:pt x="0" y="120000"/>
                  </a:lnTo>
                </a:path>
              </a:pathLst>
            </a:custGeom>
            <a:solidFill>
              <a:srgbClr val="000000"/>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0" name="Google Shape;160;p21"/>
            <p:cNvGrpSpPr/>
            <p:nvPr/>
          </p:nvGrpSpPr>
          <p:grpSpPr>
            <a:xfrm>
              <a:off x="6572250" y="0"/>
              <a:ext cx="1714500" cy="1714500"/>
              <a:chOff x="0" y="0"/>
              <a:chExt cx="1714500" cy="1714500"/>
            </a:xfrm>
          </p:grpSpPr>
          <p:sp>
            <p:nvSpPr>
              <p:cNvPr id="161" name="Google Shape;161;p21"/>
              <p:cNvSpPr/>
              <p:nvPr/>
            </p:nvSpPr>
            <p:spPr>
              <a:xfrm>
                <a:off x="0" y="0"/>
                <a:ext cx="1714500" cy="1714500"/>
              </a:xfrm>
              <a:prstGeom prst="roundRect">
                <a:avLst>
                  <a:gd fmla="val 888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21"/>
              <p:cNvSpPr/>
              <p:nvPr/>
            </p:nvSpPr>
            <p:spPr>
              <a:xfrm>
                <a:off x="628650" y="247650"/>
                <a:ext cx="457200" cy="457200"/>
              </a:xfrm>
              <a:prstGeom prst="ellipse">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21"/>
              <p:cNvSpPr/>
              <p:nvPr/>
            </p:nvSpPr>
            <p:spPr>
              <a:xfrm>
                <a:off x="762000" y="381000"/>
                <a:ext cx="190500" cy="190500"/>
              </a:xfrm>
              <a:custGeom>
                <a:rect b="b" l="l" r="r" t="t"/>
                <a:pathLst>
                  <a:path extrusionOk="0" h="120000" w="120000">
                    <a:moveTo>
                      <a:pt x="0" y="0"/>
                    </a:moveTo>
                    <a:lnTo>
                      <a:pt x="120000" y="0"/>
                    </a:lnTo>
                    <a:lnTo>
                      <a:pt x="120000" y="120000"/>
                    </a:lnTo>
                    <a:lnTo>
                      <a:pt x="0" y="120000"/>
                    </a:lnTo>
                    <a:close/>
                  </a:path>
                </a:pathLst>
              </a:custGeom>
              <a:solidFill>
                <a:srgbClr val="000000">
                  <a:alpha val="0"/>
                </a:srgbClr>
              </a:solidFill>
              <a:ln cap="rnd" cmpd="sng" w="19050">
                <a:solidFill>
                  <a:srgbClr val="A855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21"/>
              <p:cNvSpPr/>
              <p:nvPr/>
            </p:nvSpPr>
            <p:spPr>
              <a:xfrm>
                <a:off x="819150" y="438150"/>
                <a:ext cx="76200" cy="38100"/>
              </a:xfrm>
              <a:custGeom>
                <a:rect b="b" l="l" r="r" t="t"/>
                <a:pathLst>
                  <a:path extrusionOk="0" h="120000" w="120000">
                    <a:moveTo>
                      <a:pt x="0" y="0"/>
                    </a:moveTo>
                    <a:lnTo>
                      <a:pt x="120000" y="0"/>
                    </a:lnTo>
                    <a:moveTo>
                      <a:pt x="0" y="120000"/>
                    </a:moveTo>
                    <a:lnTo>
                      <a:pt x="75000" y="120000"/>
                    </a:lnTo>
                  </a:path>
                </a:pathLst>
              </a:custGeom>
              <a:solidFill>
                <a:srgbClr val="000000">
                  <a:alpha val="0"/>
                </a:srgbClr>
              </a:solidFill>
              <a:ln cap="rnd" cmpd="sng" w="19050">
                <a:solidFill>
                  <a:srgbClr val="A855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21"/>
              <p:cNvSpPr txBox="1"/>
              <p:nvPr/>
            </p:nvSpPr>
            <p:spPr>
              <a:xfrm>
                <a:off x="95250" y="904875"/>
                <a:ext cx="15240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1F2937"/>
                    </a:solidFill>
                    <a:latin typeface="Arial"/>
                    <a:ea typeface="Arial"/>
                    <a:cs typeface="Arial"/>
                    <a:sym typeface="Arial"/>
                  </a:rPr>
                  <a:t>Εφαρμογή</a:t>
                </a:r>
                <a:endParaRPr b="1" sz="1300">
                  <a:solidFill>
                    <a:srgbClr val="1F2937"/>
                  </a:solidFill>
                  <a:latin typeface="Arial"/>
                  <a:ea typeface="Arial"/>
                  <a:cs typeface="Arial"/>
                  <a:sym typeface="Arial"/>
                </a:endParaRPr>
              </a:p>
              <a:p>
                <a:pPr indent="0" lvl="0" marL="0" rtl="0" algn="ctr">
                  <a:spcBef>
                    <a:spcPts val="400"/>
                  </a:spcBef>
                  <a:spcAft>
                    <a:spcPts val="0"/>
                  </a:spcAft>
                  <a:buNone/>
                </a:pPr>
                <a:r>
                  <a:rPr b="0" lang="el" sz="1000">
                    <a:solidFill>
                      <a:srgbClr val="6B7280"/>
                    </a:solidFill>
                    <a:latin typeface="Arial"/>
                    <a:ea typeface="Arial"/>
                    <a:cs typeface="Arial"/>
                    <a:sym typeface="Arial"/>
                  </a:rPr>
                  <a:t>Έτοιμο Προϊόν</a:t>
                </a:r>
                <a:endParaRPr b="0" sz="1000">
                  <a:solidFill>
                    <a:srgbClr val="6B7280"/>
                  </a:solidFill>
                  <a:latin typeface="Arial"/>
                  <a:ea typeface="Arial"/>
                  <a:cs typeface="Arial"/>
                  <a:sym typeface="Arial"/>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69" name="Shape 169"/>
        <p:cNvGrpSpPr/>
        <p:nvPr/>
      </p:nvGrpSpPr>
      <p:grpSpPr>
        <a:xfrm>
          <a:off x="0" y="0"/>
          <a:ext cx="0" cy="0"/>
          <a:chOff x="0" y="0"/>
          <a:chExt cx="0" cy="0"/>
        </a:xfrm>
      </p:grpSpPr>
      <p:sp>
        <p:nvSpPr>
          <p:cNvPr id="170" name="Google Shape;170;p22"/>
          <p:cNvSpPr txBox="1"/>
          <p:nvPr/>
        </p:nvSpPr>
        <p:spPr>
          <a:xfrm>
            <a:off x="381000" y="428625"/>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2400">
                <a:solidFill>
                  <a:srgbClr val="111827"/>
                </a:solidFill>
                <a:latin typeface="Arial"/>
                <a:ea typeface="Arial"/>
                <a:cs typeface="Arial"/>
                <a:sym typeface="Arial"/>
              </a:rPr>
              <a:t>Το demo λειτουργεί. Μήπως και η εφαρμογή;</a:t>
            </a:r>
            <a:endParaRPr b="1" sz="2400">
              <a:solidFill>
                <a:srgbClr val="111827"/>
              </a:solidFill>
              <a:latin typeface="Arial"/>
              <a:ea typeface="Arial"/>
              <a:cs typeface="Arial"/>
              <a:sym typeface="Arial"/>
            </a:endParaRPr>
          </a:p>
        </p:txBody>
      </p:sp>
      <p:grpSp>
        <p:nvGrpSpPr>
          <p:cNvPr id="171" name="Google Shape;171;p22"/>
          <p:cNvGrpSpPr/>
          <p:nvPr/>
        </p:nvGrpSpPr>
        <p:grpSpPr>
          <a:xfrm>
            <a:off x="571500" y="1333500"/>
            <a:ext cx="3810000" cy="3238500"/>
            <a:chOff x="0" y="0"/>
            <a:chExt cx="3810000" cy="3238500"/>
          </a:xfrm>
        </p:grpSpPr>
        <p:sp>
          <p:nvSpPr>
            <p:cNvPr id="172" name="Google Shape;172;p22"/>
            <p:cNvSpPr/>
            <p:nvPr/>
          </p:nvSpPr>
          <p:spPr>
            <a:xfrm>
              <a:off x="0" y="0"/>
              <a:ext cx="3810000" cy="3238500"/>
            </a:xfrm>
            <a:prstGeom prst="roundRect">
              <a:avLst>
                <a:gd fmla="val 47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superficial glossy software demonstration on a laptop screen with flashy graphics and green checkmarks, low detail code in background, shallow impression of functionality" id="173" name="Google Shape;173;p22"/>
            <p:cNvPicPr preferRelativeResize="0"/>
            <p:nvPr/>
          </p:nvPicPr>
          <p:blipFill rotWithShape="1">
            <a:blip r:embed="rId3">
              <a:alphaModFix/>
            </a:blip>
            <a:srcRect b="3219" l="0" r="0" t="3219"/>
            <a:stretch/>
          </p:blipFill>
          <p:spPr>
            <a:xfrm>
              <a:off x="95250" y="95250"/>
              <a:ext cx="3619500" cy="1905000"/>
            </a:xfrm>
            <a:prstGeom prst="roundRect">
              <a:avLst>
                <a:gd fmla="val 6000" name="adj"/>
              </a:avLst>
            </a:prstGeom>
            <a:noFill/>
            <a:ln>
              <a:noFill/>
            </a:ln>
          </p:spPr>
        </p:pic>
        <p:sp>
          <p:nvSpPr>
            <p:cNvPr id="174" name="Google Shape;174;p22"/>
            <p:cNvSpPr/>
            <p:nvPr/>
          </p:nvSpPr>
          <p:spPr>
            <a:xfrm>
              <a:off x="0" y="0"/>
              <a:ext cx="3810000" cy="3238500"/>
            </a:xfrm>
            <a:prstGeom prst="roundRect">
              <a:avLst>
                <a:gd fmla="val 4705" name="adj"/>
              </a:avLst>
            </a:prstGeom>
            <a:solidFill>
              <a:srgbClr val="000000">
                <a:alpha val="0"/>
              </a:srgbClr>
            </a:solidFill>
            <a:ln cap="flat" cmpd="sng" w="19050">
              <a:solidFill>
                <a:srgbClr val="F3F4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2"/>
            <p:cNvSpPr txBox="1"/>
            <p:nvPr/>
          </p:nvSpPr>
          <p:spPr>
            <a:xfrm>
              <a:off x="190500" y="2143125"/>
              <a:ext cx="3429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600">
                  <a:solidFill>
                    <a:srgbClr val="D97706"/>
                  </a:solidFill>
                  <a:latin typeface="Arial"/>
                  <a:ea typeface="Arial"/>
                  <a:cs typeface="Arial"/>
                  <a:sym typeface="Arial"/>
                </a:rPr>
                <a:t>Φαίνεται ότι λειτουργεί</a:t>
              </a:r>
              <a:endParaRPr b="1" sz="1600">
                <a:solidFill>
                  <a:srgbClr val="D97706"/>
                </a:solidFill>
                <a:latin typeface="Arial"/>
                <a:ea typeface="Arial"/>
                <a:cs typeface="Arial"/>
                <a:sym typeface="Arial"/>
              </a:endParaRPr>
            </a:p>
            <a:p>
              <a:pPr indent="0" lvl="0" marL="0" rtl="0" algn="l">
                <a:spcBef>
                  <a:spcPts val="600"/>
                </a:spcBef>
                <a:spcAft>
                  <a:spcPts val="0"/>
                </a:spcAft>
                <a:buNone/>
              </a:pPr>
              <a:r>
                <a:rPr b="0" lang="el" sz="1100">
                  <a:solidFill>
                    <a:srgbClr val="6B7280"/>
                  </a:solidFill>
                  <a:latin typeface="Arial"/>
                  <a:ea typeface="Arial"/>
                  <a:cs typeface="Arial"/>
                  <a:sym typeface="Arial"/>
                </a:rPr>
                <a:t>Επιφανειακή επίδειξη (Demo) χωρίς εξαντλητικούς ελέγχους, δοκιμασμένη μόνο σε ιδανικές συνθήκες (happy path).</a:t>
              </a:r>
              <a:endParaRPr b="0" sz="1100">
                <a:solidFill>
                  <a:srgbClr val="6B7280"/>
                </a:solidFill>
                <a:latin typeface="Arial"/>
                <a:ea typeface="Arial"/>
                <a:cs typeface="Arial"/>
                <a:sym typeface="Arial"/>
              </a:endParaRPr>
            </a:p>
          </p:txBody>
        </p:sp>
      </p:grpSp>
      <p:grpSp>
        <p:nvGrpSpPr>
          <p:cNvPr id="176" name="Google Shape;176;p22"/>
          <p:cNvGrpSpPr/>
          <p:nvPr/>
        </p:nvGrpSpPr>
        <p:grpSpPr>
          <a:xfrm>
            <a:off x="4762500" y="1333500"/>
            <a:ext cx="3810000" cy="3238500"/>
            <a:chOff x="0" y="0"/>
            <a:chExt cx="3810000" cy="3238500"/>
          </a:xfrm>
        </p:grpSpPr>
        <p:sp>
          <p:nvSpPr>
            <p:cNvPr id="177" name="Google Shape;177;p22"/>
            <p:cNvSpPr/>
            <p:nvPr/>
          </p:nvSpPr>
          <p:spPr>
            <a:xfrm>
              <a:off x="0" y="0"/>
              <a:ext cx="3810000" cy="3238500"/>
            </a:xfrm>
            <a:prstGeom prst="roundRect">
              <a:avLst>
                <a:gd fmla="val 47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mprehensive automated software testing suite interface with unit test results, code coverage metrics, edge case validations, secure production-ready backend systems" id="178" name="Google Shape;178;p22"/>
            <p:cNvPicPr preferRelativeResize="0"/>
            <p:nvPr/>
          </p:nvPicPr>
          <p:blipFill rotWithShape="1">
            <a:blip r:embed="rId4">
              <a:alphaModFix/>
            </a:blip>
            <a:srcRect b="3219" l="0" r="0" t="3219"/>
            <a:stretch/>
          </p:blipFill>
          <p:spPr>
            <a:xfrm>
              <a:off x="95250" y="95250"/>
              <a:ext cx="3619500" cy="1905000"/>
            </a:xfrm>
            <a:prstGeom prst="roundRect">
              <a:avLst>
                <a:gd fmla="val 6000" name="adj"/>
              </a:avLst>
            </a:prstGeom>
            <a:noFill/>
            <a:ln>
              <a:noFill/>
            </a:ln>
          </p:spPr>
        </p:pic>
        <p:sp>
          <p:nvSpPr>
            <p:cNvPr id="179" name="Google Shape;179;p22"/>
            <p:cNvSpPr/>
            <p:nvPr/>
          </p:nvSpPr>
          <p:spPr>
            <a:xfrm>
              <a:off x="0" y="0"/>
              <a:ext cx="3810000" cy="3238500"/>
            </a:xfrm>
            <a:prstGeom prst="roundRect">
              <a:avLst>
                <a:gd fmla="val 4705" name="adj"/>
              </a:avLst>
            </a:prstGeom>
            <a:solidFill>
              <a:srgbClr val="000000">
                <a:alpha val="0"/>
              </a:srgbClr>
            </a:solidFill>
            <a:ln cap="flat" cmpd="sng" w="19050">
              <a:solidFill>
                <a:srgbClr val="F3F4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22"/>
            <p:cNvSpPr txBox="1"/>
            <p:nvPr/>
          </p:nvSpPr>
          <p:spPr>
            <a:xfrm>
              <a:off x="190500" y="2143125"/>
              <a:ext cx="3429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600">
                  <a:solidFill>
                    <a:srgbClr val="059669"/>
                  </a:solidFill>
                  <a:latin typeface="Arial"/>
                  <a:ea typeface="Arial"/>
                  <a:cs typeface="Arial"/>
                  <a:sym typeface="Arial"/>
                </a:rPr>
                <a:t>Έχει επαληθευτεί ότι λειτουργεί</a:t>
              </a:r>
              <a:endParaRPr b="1" sz="1600">
                <a:solidFill>
                  <a:srgbClr val="059669"/>
                </a:solidFill>
                <a:latin typeface="Arial"/>
                <a:ea typeface="Arial"/>
                <a:cs typeface="Arial"/>
                <a:sym typeface="Arial"/>
              </a:endParaRPr>
            </a:p>
            <a:p>
              <a:pPr indent="0" lvl="0" marL="0" rtl="0" algn="l">
                <a:spcBef>
                  <a:spcPts val="600"/>
                </a:spcBef>
                <a:spcAft>
                  <a:spcPts val="0"/>
                </a:spcAft>
                <a:buNone/>
              </a:pPr>
              <a:r>
                <a:rPr b="0" lang="el" sz="1100">
                  <a:solidFill>
                    <a:srgbClr val="6B7280"/>
                  </a:solidFill>
                  <a:latin typeface="Arial"/>
                  <a:ea typeface="Arial"/>
                  <a:cs typeface="Arial"/>
                  <a:sym typeface="Arial"/>
                </a:rPr>
                <a:t>Πλήρως ελεγμένο λογισμικό με αυτοματοποιημένα tests, ασφάλεια, αντοχή σε σφάλματα και έτοιμο για παραγωγή.</a:t>
              </a:r>
              <a:endParaRPr b="0" sz="1100">
                <a:solidFill>
                  <a:srgbClr val="6B728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84" name="Shape 184"/>
        <p:cNvGrpSpPr/>
        <p:nvPr/>
      </p:nvGrpSpPr>
      <p:grpSpPr>
        <a:xfrm>
          <a:off x="0" y="0"/>
          <a:ext cx="0" cy="0"/>
          <a:chOff x="0" y="0"/>
          <a:chExt cx="0" cy="0"/>
        </a:xfrm>
      </p:grpSpPr>
      <p:sp>
        <p:nvSpPr>
          <p:cNvPr id="185" name="Google Shape;185;p23"/>
          <p:cNvSpPr txBox="1"/>
          <p:nvPr/>
        </p:nvSpPr>
        <p:spPr>
          <a:xfrm>
            <a:off x="381000" y="428625"/>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2600">
                <a:solidFill>
                  <a:srgbClr val="111827"/>
                </a:solidFill>
                <a:latin typeface="Arial"/>
                <a:ea typeface="Arial"/>
                <a:cs typeface="Arial"/>
                <a:sym typeface="Arial"/>
              </a:rPr>
              <a:t>Η ΤΝ γράφει. Εσύ παραμένεις υπεύθυνος</a:t>
            </a:r>
            <a:endParaRPr b="1" sz="2600">
              <a:solidFill>
                <a:srgbClr val="111827"/>
              </a:solidFill>
              <a:latin typeface="Arial"/>
              <a:ea typeface="Arial"/>
              <a:cs typeface="Arial"/>
              <a:sym typeface="Arial"/>
            </a:endParaRPr>
          </a:p>
        </p:txBody>
      </p:sp>
      <p:grpSp>
        <p:nvGrpSpPr>
          <p:cNvPr id="186" name="Google Shape;186;p23"/>
          <p:cNvGrpSpPr/>
          <p:nvPr/>
        </p:nvGrpSpPr>
        <p:grpSpPr>
          <a:xfrm>
            <a:off x="571500" y="1333500"/>
            <a:ext cx="4000500" cy="3048000"/>
            <a:chOff x="0" y="0"/>
            <a:chExt cx="4000500" cy="3048000"/>
          </a:xfrm>
        </p:grpSpPr>
        <p:sp>
          <p:nvSpPr>
            <p:cNvPr id="187" name="Google Shape;187;p23"/>
            <p:cNvSpPr/>
            <p:nvPr/>
          </p:nvSpPr>
          <p:spPr>
            <a:xfrm>
              <a:off x="0" y="0"/>
              <a:ext cx="4000500" cy="3048000"/>
            </a:xfrm>
            <a:prstGeom prst="roundRect">
              <a:avLst>
                <a:gd fmla="val 5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23"/>
            <p:cNvSpPr txBox="1"/>
            <p:nvPr/>
          </p:nvSpPr>
          <p:spPr>
            <a:xfrm>
              <a:off x="285750" y="476250"/>
              <a:ext cx="3429000" cy="2095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1800">
                  <a:solidFill>
                    <a:srgbClr val="1F2937"/>
                  </a:solidFill>
                  <a:latin typeface="Arial"/>
                  <a:ea typeface="Arial"/>
                  <a:cs typeface="Arial"/>
                  <a:sym typeface="Arial"/>
                </a:rPr>
                <a:t>ΤΝ</a:t>
              </a:r>
              <a:r>
                <a:rPr b="1" lang="el" sz="1800">
                  <a:solidFill>
                    <a:srgbClr val="1F2937"/>
                  </a:solidFill>
                  <a:latin typeface="Arial"/>
                  <a:ea typeface="Arial"/>
                  <a:cs typeface="Arial"/>
                  <a:sym typeface="Arial"/>
                </a:rPr>
                <a:t> = επιταχυντής</a:t>
              </a:r>
              <a:endParaRPr b="1" sz="1800">
                <a:solidFill>
                  <a:srgbClr val="1F2937"/>
                </a:solidFill>
                <a:latin typeface="Arial"/>
                <a:ea typeface="Arial"/>
                <a:cs typeface="Arial"/>
                <a:sym typeface="Arial"/>
              </a:endParaRPr>
            </a:p>
            <a:p>
              <a:pPr indent="0" lvl="0" marL="0" rtl="0" algn="l">
                <a:spcBef>
                  <a:spcPts val="600"/>
                </a:spcBef>
                <a:spcAft>
                  <a:spcPts val="0"/>
                </a:spcAft>
                <a:buNone/>
              </a:pPr>
              <a:r>
                <a:rPr b="1" lang="el" sz="1800">
                  <a:solidFill>
                    <a:srgbClr val="D97706"/>
                  </a:solidFill>
                  <a:latin typeface="Arial"/>
                  <a:ea typeface="Arial"/>
                  <a:cs typeface="Arial"/>
                  <a:sym typeface="Arial"/>
                </a:rPr>
                <a:t>όχι υποκατάστατο κρίσης</a:t>
              </a:r>
              <a:endParaRPr b="1" sz="1800">
                <a:solidFill>
                  <a:srgbClr val="D97706"/>
                </a:solidFill>
                <a:latin typeface="Arial"/>
                <a:ea typeface="Arial"/>
                <a:cs typeface="Arial"/>
                <a:sym typeface="Arial"/>
              </a:endParaRPr>
            </a:p>
            <a:p>
              <a:pPr indent="0" lvl="0" marL="0" rtl="0" algn="l">
                <a:spcBef>
                  <a:spcPts val="1800"/>
                </a:spcBef>
                <a:spcAft>
                  <a:spcPts val="0"/>
                </a:spcAft>
                <a:buNone/>
              </a:pPr>
              <a:r>
                <a:rPr b="0" lang="el" sz="1300">
                  <a:solidFill>
                    <a:srgbClr val="4B5563"/>
                  </a:solidFill>
                  <a:latin typeface="Arial"/>
                  <a:ea typeface="Arial"/>
                  <a:cs typeface="Arial"/>
                  <a:sym typeface="Arial"/>
                </a:rPr>
                <a:t>Η τεχνητή νοημοσύνη προσφέρει ταχύτητα και παραγωγικότητα, αλλά η τελική ευθύνη, η επαλήθευση και η λήψη αποφάσεων ανήκουν αποκλειστικά στον άνθρωπο.</a:t>
              </a:r>
              <a:endParaRPr b="0" sz="1300">
                <a:solidFill>
                  <a:srgbClr val="4B5563"/>
                </a:solidFill>
                <a:latin typeface="Arial"/>
                <a:ea typeface="Arial"/>
                <a:cs typeface="Arial"/>
                <a:sym typeface="Arial"/>
              </a:endParaRPr>
            </a:p>
          </p:txBody>
        </p:sp>
      </p:grpSp>
      <p:grpSp>
        <p:nvGrpSpPr>
          <p:cNvPr id="189" name="Google Shape;189;p23"/>
          <p:cNvGrpSpPr/>
          <p:nvPr/>
        </p:nvGrpSpPr>
        <p:grpSpPr>
          <a:xfrm>
            <a:off x="4953000" y="1333500"/>
            <a:ext cx="3619500" cy="2667000"/>
            <a:chOff x="0" y="0"/>
            <a:chExt cx="3619500" cy="2667000"/>
          </a:xfrm>
        </p:grpSpPr>
        <p:sp>
          <p:nvSpPr>
            <p:cNvPr id="190" name="Google Shape;190;p23"/>
            <p:cNvSpPr/>
            <p:nvPr/>
          </p:nvSpPr>
          <p:spPr>
            <a:xfrm>
              <a:off x="0" y="0"/>
              <a:ext cx="3619500" cy="2667000"/>
            </a:xfrm>
            <a:prstGeom prst="roundRect">
              <a:avLst>
                <a:gd fmla="val 571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developer collaborating with AI tools on a computer screen, high-tech modern aesthetic, soft office lighting, emphasis on human oversight and decision making" id="191" name="Google Shape;191;p23"/>
            <p:cNvPicPr preferRelativeResize="0"/>
            <p:nvPr/>
          </p:nvPicPr>
          <p:blipFill rotWithShape="1">
            <a:blip r:embed="rId3">
              <a:alphaModFix/>
            </a:blip>
            <a:srcRect b="884" l="0" r="0" t="874"/>
            <a:stretch/>
          </p:blipFill>
          <p:spPr>
            <a:xfrm>
              <a:off x="0" y="0"/>
              <a:ext cx="3619500" cy="2667000"/>
            </a:xfrm>
            <a:prstGeom prst="roundRect">
              <a:avLst>
                <a:gd fmla="val 5714" name="adj"/>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5" name="Shape 195"/>
        <p:cNvGrpSpPr/>
        <p:nvPr/>
      </p:nvGrpSpPr>
      <p:grpSpPr>
        <a:xfrm>
          <a:off x="0" y="0"/>
          <a:ext cx="0" cy="0"/>
          <a:chOff x="0" y="0"/>
          <a:chExt cx="0" cy="0"/>
        </a:xfrm>
      </p:grpSpPr>
      <p:sp>
        <p:nvSpPr>
          <p:cNvPr id="196" name="Google Shape;196;p24"/>
          <p:cNvSpPr txBox="1"/>
          <p:nvPr/>
        </p:nvSpPr>
        <p:spPr>
          <a:xfrm>
            <a:off x="381000" y="381000"/>
            <a:ext cx="8382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2400">
                <a:solidFill>
                  <a:srgbClr val="111827"/>
                </a:solidFill>
                <a:latin typeface="Arial"/>
                <a:ea typeface="Arial"/>
                <a:cs typeface="Arial"/>
                <a:sym typeface="Arial"/>
              </a:rPr>
              <a:t>Μην ξεκινάς με κώδικα. Ξεκίνα με σχέδιο.</a:t>
            </a:r>
            <a:endParaRPr b="1" sz="2400">
              <a:solidFill>
                <a:srgbClr val="111827"/>
              </a:solidFill>
              <a:latin typeface="Arial"/>
              <a:ea typeface="Arial"/>
              <a:cs typeface="Arial"/>
              <a:sym typeface="Arial"/>
            </a:endParaRPr>
          </a:p>
        </p:txBody>
      </p:sp>
      <p:grpSp>
        <p:nvGrpSpPr>
          <p:cNvPr id="197" name="Google Shape;197;p24"/>
          <p:cNvGrpSpPr/>
          <p:nvPr/>
        </p:nvGrpSpPr>
        <p:grpSpPr>
          <a:xfrm>
            <a:off x="381000" y="1047750"/>
            <a:ext cx="8334375" cy="476400"/>
            <a:chOff x="0" y="0"/>
            <a:chExt cx="8334375" cy="476400"/>
          </a:xfrm>
        </p:grpSpPr>
        <p:grpSp>
          <p:nvGrpSpPr>
            <p:cNvPr id="198" name="Google Shape;198;p24"/>
            <p:cNvGrpSpPr/>
            <p:nvPr/>
          </p:nvGrpSpPr>
          <p:grpSpPr>
            <a:xfrm>
              <a:off x="0" y="0"/>
              <a:ext cx="1905000" cy="476400"/>
              <a:chOff x="0" y="0"/>
              <a:chExt cx="1905000" cy="476400"/>
            </a:xfrm>
          </p:grpSpPr>
          <p:sp>
            <p:nvSpPr>
              <p:cNvPr id="199" name="Google Shape;199;p24"/>
              <p:cNvSpPr/>
              <p:nvPr/>
            </p:nvSpPr>
            <p:spPr>
              <a:xfrm>
                <a:off x="0" y="0"/>
                <a:ext cx="1905000" cy="476400"/>
              </a:xfrm>
              <a:prstGeom prst="roundRect">
                <a:avLst>
                  <a:gd fmla="val 24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24"/>
              <p:cNvSpPr txBox="1"/>
              <p:nvPr/>
            </p:nvSpPr>
            <p:spPr>
              <a:xfrm>
                <a:off x="0" y="0"/>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200">
                    <a:solidFill>
                      <a:srgbClr val="1F2937"/>
                    </a:solidFill>
                    <a:latin typeface="Arial"/>
                    <a:ea typeface="Arial"/>
                    <a:cs typeface="Arial"/>
                    <a:sym typeface="Arial"/>
                  </a:rPr>
                  <a:t>1. Requirements</a:t>
                </a:r>
                <a:endParaRPr b="1" sz="1200">
                  <a:solidFill>
                    <a:srgbClr val="1F2937"/>
                  </a:solidFill>
                  <a:latin typeface="Arial"/>
                  <a:ea typeface="Arial"/>
                  <a:cs typeface="Arial"/>
                  <a:sym typeface="Arial"/>
                </a:endParaRPr>
              </a:p>
            </p:txBody>
          </p:sp>
        </p:grpSp>
        <p:sp>
          <p:nvSpPr>
            <p:cNvPr id="201" name="Google Shape;201;p24"/>
            <p:cNvSpPr/>
            <p:nvPr/>
          </p:nvSpPr>
          <p:spPr>
            <a:xfrm>
              <a:off x="1952625" y="190500"/>
              <a:ext cx="142800" cy="954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flat"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02" name="Google Shape;202;p24"/>
            <p:cNvGrpSpPr/>
            <p:nvPr/>
          </p:nvGrpSpPr>
          <p:grpSpPr>
            <a:xfrm>
              <a:off x="2143125" y="0"/>
              <a:ext cx="1905000" cy="476400"/>
              <a:chOff x="0" y="0"/>
              <a:chExt cx="1905000" cy="476400"/>
            </a:xfrm>
          </p:grpSpPr>
          <p:sp>
            <p:nvSpPr>
              <p:cNvPr id="203" name="Google Shape;203;p24"/>
              <p:cNvSpPr/>
              <p:nvPr/>
            </p:nvSpPr>
            <p:spPr>
              <a:xfrm>
                <a:off x="0" y="0"/>
                <a:ext cx="1905000" cy="476400"/>
              </a:xfrm>
              <a:prstGeom prst="roundRect">
                <a:avLst>
                  <a:gd fmla="val 24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4"/>
              <p:cNvSpPr txBox="1"/>
              <p:nvPr/>
            </p:nvSpPr>
            <p:spPr>
              <a:xfrm>
                <a:off x="0" y="0"/>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200">
                    <a:solidFill>
                      <a:srgbClr val="FFFFFF"/>
                    </a:solidFill>
                    <a:latin typeface="Arial"/>
                    <a:ea typeface="Arial"/>
                    <a:cs typeface="Arial"/>
                    <a:sym typeface="Arial"/>
                  </a:rPr>
                  <a:t>2. Plan (PRD)</a:t>
                </a:r>
                <a:endParaRPr b="1" sz="1200">
                  <a:solidFill>
                    <a:srgbClr val="FFFFFF"/>
                  </a:solidFill>
                  <a:latin typeface="Arial"/>
                  <a:ea typeface="Arial"/>
                  <a:cs typeface="Arial"/>
                  <a:sym typeface="Arial"/>
                </a:endParaRPr>
              </a:p>
            </p:txBody>
          </p:sp>
        </p:grpSp>
        <p:sp>
          <p:nvSpPr>
            <p:cNvPr id="205" name="Google Shape;205;p24"/>
            <p:cNvSpPr/>
            <p:nvPr/>
          </p:nvSpPr>
          <p:spPr>
            <a:xfrm>
              <a:off x="4095750" y="190500"/>
              <a:ext cx="142800" cy="954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flat"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06" name="Google Shape;206;p24"/>
            <p:cNvGrpSpPr/>
            <p:nvPr/>
          </p:nvGrpSpPr>
          <p:grpSpPr>
            <a:xfrm>
              <a:off x="4286250" y="0"/>
              <a:ext cx="1905000" cy="476400"/>
              <a:chOff x="0" y="0"/>
              <a:chExt cx="1905000" cy="476400"/>
            </a:xfrm>
          </p:grpSpPr>
          <p:sp>
            <p:nvSpPr>
              <p:cNvPr id="207" name="Google Shape;207;p24"/>
              <p:cNvSpPr/>
              <p:nvPr/>
            </p:nvSpPr>
            <p:spPr>
              <a:xfrm>
                <a:off x="0" y="0"/>
                <a:ext cx="1905000" cy="476400"/>
              </a:xfrm>
              <a:prstGeom prst="roundRect">
                <a:avLst>
                  <a:gd fmla="val 24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24"/>
              <p:cNvSpPr txBox="1"/>
              <p:nvPr/>
            </p:nvSpPr>
            <p:spPr>
              <a:xfrm>
                <a:off x="0" y="0"/>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200">
                    <a:solidFill>
                      <a:srgbClr val="1F2937"/>
                    </a:solidFill>
                    <a:latin typeface="Arial"/>
                    <a:ea typeface="Arial"/>
                    <a:cs typeface="Arial"/>
                    <a:sym typeface="Arial"/>
                  </a:rPr>
                  <a:t>3. Review</a:t>
                </a:r>
                <a:endParaRPr b="1" sz="1200">
                  <a:solidFill>
                    <a:srgbClr val="1F2937"/>
                  </a:solidFill>
                  <a:latin typeface="Arial"/>
                  <a:ea typeface="Arial"/>
                  <a:cs typeface="Arial"/>
                  <a:sym typeface="Arial"/>
                </a:endParaRPr>
              </a:p>
            </p:txBody>
          </p:sp>
        </p:grpSp>
        <p:sp>
          <p:nvSpPr>
            <p:cNvPr id="209" name="Google Shape;209;p24"/>
            <p:cNvSpPr/>
            <p:nvPr/>
          </p:nvSpPr>
          <p:spPr>
            <a:xfrm>
              <a:off x="6238875" y="190500"/>
              <a:ext cx="142800" cy="954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flat"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0" name="Google Shape;210;p24"/>
            <p:cNvGrpSpPr/>
            <p:nvPr/>
          </p:nvGrpSpPr>
          <p:grpSpPr>
            <a:xfrm>
              <a:off x="6429375" y="0"/>
              <a:ext cx="1905000" cy="476400"/>
              <a:chOff x="0" y="0"/>
              <a:chExt cx="1905000" cy="476400"/>
            </a:xfrm>
          </p:grpSpPr>
          <p:sp>
            <p:nvSpPr>
              <p:cNvPr id="211" name="Google Shape;211;p24"/>
              <p:cNvSpPr/>
              <p:nvPr/>
            </p:nvSpPr>
            <p:spPr>
              <a:xfrm>
                <a:off x="0" y="0"/>
                <a:ext cx="1905000" cy="476400"/>
              </a:xfrm>
              <a:prstGeom prst="roundRect">
                <a:avLst>
                  <a:gd fmla="val 24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24"/>
              <p:cNvSpPr txBox="1"/>
              <p:nvPr/>
            </p:nvSpPr>
            <p:spPr>
              <a:xfrm>
                <a:off x="0" y="0"/>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200">
                    <a:solidFill>
                      <a:srgbClr val="1F2937"/>
                    </a:solidFill>
                    <a:latin typeface="Arial"/>
                    <a:ea typeface="Arial"/>
                    <a:cs typeface="Arial"/>
                    <a:sym typeface="Arial"/>
                  </a:rPr>
                  <a:t>4. Implement</a:t>
                </a:r>
                <a:endParaRPr b="1" sz="1200">
                  <a:solidFill>
                    <a:srgbClr val="1F2937"/>
                  </a:solidFill>
                  <a:latin typeface="Arial"/>
                  <a:ea typeface="Arial"/>
                  <a:cs typeface="Arial"/>
                  <a:sym typeface="Arial"/>
                </a:endParaRPr>
              </a:p>
            </p:txBody>
          </p:sp>
        </p:grpSp>
      </p:grpSp>
      <p:grpSp>
        <p:nvGrpSpPr>
          <p:cNvPr id="213" name="Google Shape;213;p24"/>
          <p:cNvGrpSpPr/>
          <p:nvPr/>
        </p:nvGrpSpPr>
        <p:grpSpPr>
          <a:xfrm>
            <a:off x="381000" y="1762125"/>
            <a:ext cx="4048200" cy="3000300"/>
            <a:chOff x="0" y="0"/>
            <a:chExt cx="4048200" cy="3000300"/>
          </a:xfrm>
        </p:grpSpPr>
        <p:sp>
          <p:nvSpPr>
            <p:cNvPr id="214" name="Google Shape;214;p24"/>
            <p:cNvSpPr/>
            <p:nvPr/>
          </p:nvSpPr>
          <p:spPr>
            <a:xfrm>
              <a:off x="0" y="0"/>
              <a:ext cx="4048200" cy="3000300"/>
            </a:xfrm>
            <a:prstGeom prst="roundRect">
              <a:avLst>
                <a:gd fmla="val 507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4"/>
            <p:cNvSpPr txBox="1"/>
            <p:nvPr/>
          </p:nvSpPr>
          <p:spPr>
            <a:xfrm>
              <a:off x="228600" y="228600"/>
              <a:ext cx="3591000" cy="25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400">
                  <a:solidFill>
                    <a:srgbClr val="1F2937"/>
                  </a:solidFill>
                  <a:latin typeface="Arial"/>
                  <a:ea typeface="Arial"/>
                  <a:cs typeface="Arial"/>
                  <a:sym typeface="Arial"/>
                </a:rPr>
                <a:t>Η </a:t>
              </a:r>
              <a:r>
                <a:rPr b="1" lang="el">
                  <a:solidFill>
                    <a:srgbClr val="1F2937"/>
                  </a:solidFill>
                  <a:latin typeface="Arial"/>
                  <a:ea typeface="Arial"/>
                  <a:cs typeface="Arial"/>
                  <a:sym typeface="Arial"/>
                </a:rPr>
                <a:t>σ</a:t>
              </a:r>
              <a:r>
                <a:rPr b="1" lang="el" sz="1400">
                  <a:solidFill>
                    <a:srgbClr val="1F2937"/>
                  </a:solidFill>
                  <a:latin typeface="Arial"/>
                  <a:ea typeface="Arial"/>
                  <a:cs typeface="Arial"/>
                  <a:sym typeface="Arial"/>
                </a:rPr>
                <a:t>τρατηγική του Plan Mode</a:t>
              </a:r>
              <a:endParaRPr b="1" sz="1400">
                <a:solidFill>
                  <a:srgbClr val="1F2937"/>
                </a:solidFill>
                <a:latin typeface="Arial"/>
                <a:ea typeface="Arial"/>
                <a:cs typeface="Arial"/>
                <a:sym typeface="Arial"/>
              </a:endParaRPr>
            </a:p>
            <a:p>
              <a:pPr indent="0" lvl="0" marL="0" rtl="0" algn="l">
                <a:spcBef>
                  <a:spcPts val="900"/>
                </a:spcBef>
                <a:spcAft>
                  <a:spcPts val="0"/>
                </a:spcAft>
                <a:buNone/>
              </a:pPr>
              <a:r>
                <a:rPr b="0" lang="el" sz="1050">
                  <a:solidFill>
                    <a:srgbClr val="4B5563"/>
                  </a:solidFill>
                  <a:latin typeface="Arial"/>
                  <a:ea typeface="Arial"/>
                  <a:cs typeface="Arial"/>
                  <a:sym typeface="Arial"/>
                </a:rPr>
                <a:t>Η πρώτη παγίδα είναι να ζητήσουμε αμέσως "φτιάξε μου μια εφαρμογή". Πριν τον κώδικα, ορίζουμε τι θέλουμε, ποιος θα το χρησιμοποιεί &amp; τι συνιστά επιτυχία.</a:t>
              </a:r>
              <a:endParaRPr b="0" sz="1050">
                <a:solidFill>
                  <a:srgbClr val="4B5563"/>
                </a:solidFill>
                <a:latin typeface="Arial"/>
                <a:ea typeface="Arial"/>
                <a:cs typeface="Arial"/>
                <a:sym typeface="Arial"/>
              </a:endParaRPr>
            </a:p>
            <a:p>
              <a:pPr indent="0" lvl="0" marL="0" rtl="0" algn="l">
                <a:spcBef>
                  <a:spcPts val="750"/>
                </a:spcBef>
                <a:spcAft>
                  <a:spcPts val="0"/>
                </a:spcAft>
                <a:buNone/>
              </a:pPr>
              <a:r>
                <a:rPr b="0" lang="el" sz="1050">
                  <a:solidFill>
                    <a:srgbClr val="4B5563"/>
                  </a:solidFill>
                  <a:latin typeface="Arial"/>
                  <a:ea typeface="Arial"/>
                  <a:cs typeface="Arial"/>
                  <a:sym typeface="Arial"/>
                </a:rPr>
                <a:t>Προτείνεται ένα </a:t>
              </a:r>
              <a:r>
                <a:rPr b="1" lang="el" sz="1050">
                  <a:solidFill>
                    <a:srgbClr val="4B5563"/>
                  </a:solidFill>
                  <a:latin typeface="Arial"/>
                  <a:ea typeface="Arial"/>
                  <a:cs typeface="Arial"/>
                  <a:sym typeface="Arial"/>
                </a:rPr>
                <a:t>μικρό PRD σε Markdown</a:t>
              </a:r>
              <a:r>
                <a:rPr b="0" lang="el" sz="1050">
                  <a:solidFill>
                    <a:srgbClr val="4B5563"/>
                  </a:solidFill>
                  <a:latin typeface="Arial"/>
                  <a:ea typeface="Arial"/>
                  <a:cs typeface="Arial"/>
                  <a:sym typeface="Arial"/>
                </a:rPr>
                <a:t>. Ζητάμε από την AI να παρουσιάσει το σχέδιο, τα αρχεία που θα αλλάξει και τις υποθέσεις της για διόρθωση πριν την υλοποίηση.</a:t>
              </a:r>
              <a:endParaRPr b="0" sz="1050">
                <a:solidFill>
                  <a:srgbClr val="4B5563"/>
                </a:solidFill>
                <a:latin typeface="Arial"/>
                <a:ea typeface="Arial"/>
                <a:cs typeface="Arial"/>
                <a:sym typeface="Arial"/>
              </a:endParaRPr>
            </a:p>
            <a:p>
              <a:pPr indent="0" lvl="0" marL="0" rtl="0" algn="l">
                <a:spcBef>
                  <a:spcPts val="1050"/>
                </a:spcBef>
                <a:spcAft>
                  <a:spcPts val="0"/>
                </a:spcAft>
                <a:buNone/>
              </a:pPr>
              <a:r>
                <a:rPr b="1" lang="el" sz="1100">
                  <a:solidFill>
                    <a:srgbClr val="059669"/>
                  </a:solidFill>
                  <a:latin typeface="Arial"/>
                  <a:ea typeface="Arial"/>
                  <a:cs typeface="Arial"/>
                  <a:sym typeface="Arial"/>
                </a:rPr>
                <a:t>«Είναι πολύ φθηνότερο να διορθώσεις μια λάθος ιδέα σε ένα Markdown αρχείο παρά να ξηλώσεις μια εφαρμογή.»</a:t>
              </a:r>
              <a:endParaRPr b="1" sz="1100">
                <a:solidFill>
                  <a:srgbClr val="059669"/>
                </a:solidFill>
                <a:latin typeface="Arial"/>
                <a:ea typeface="Arial"/>
                <a:cs typeface="Arial"/>
                <a:sym typeface="Arial"/>
              </a:endParaRPr>
            </a:p>
          </p:txBody>
        </p:sp>
      </p:grpSp>
      <p:grpSp>
        <p:nvGrpSpPr>
          <p:cNvPr id="216" name="Google Shape;216;p24"/>
          <p:cNvGrpSpPr/>
          <p:nvPr/>
        </p:nvGrpSpPr>
        <p:grpSpPr>
          <a:xfrm>
            <a:off x="4714875" y="1762125"/>
            <a:ext cx="4048200" cy="3000300"/>
            <a:chOff x="0" y="0"/>
            <a:chExt cx="4048200" cy="3000300"/>
          </a:xfrm>
        </p:grpSpPr>
        <p:sp>
          <p:nvSpPr>
            <p:cNvPr id="217" name="Google Shape;217;p24"/>
            <p:cNvSpPr/>
            <p:nvPr/>
          </p:nvSpPr>
          <p:spPr>
            <a:xfrm>
              <a:off x="0" y="0"/>
              <a:ext cx="4048200" cy="3000300"/>
            </a:xfrm>
            <a:prstGeom prst="roundRect">
              <a:avLst>
                <a:gd fmla="val 507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4"/>
            <p:cNvSpPr txBox="1"/>
            <p:nvPr/>
          </p:nvSpPr>
          <p:spPr>
            <a:xfrm>
              <a:off x="228600" y="228600"/>
              <a:ext cx="3591000" cy="25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400">
                  <a:solidFill>
                    <a:srgbClr val="1F2937"/>
                  </a:solidFill>
                  <a:latin typeface="Arial"/>
                  <a:ea typeface="Arial"/>
                  <a:cs typeface="Arial"/>
                  <a:sym typeface="Arial"/>
                </a:rPr>
                <a:t>Πρακτικό </a:t>
              </a:r>
              <a:r>
                <a:rPr b="1" lang="el">
                  <a:solidFill>
                    <a:srgbClr val="1F2937"/>
                  </a:solidFill>
                  <a:latin typeface="Arial"/>
                  <a:ea typeface="Arial"/>
                  <a:cs typeface="Arial"/>
                  <a:sym typeface="Arial"/>
                </a:rPr>
                <a:t>π</a:t>
              </a:r>
              <a:r>
                <a:rPr b="1" lang="el" sz="1400">
                  <a:solidFill>
                    <a:srgbClr val="1F2937"/>
                  </a:solidFill>
                  <a:latin typeface="Arial"/>
                  <a:ea typeface="Arial"/>
                  <a:cs typeface="Arial"/>
                  <a:sym typeface="Arial"/>
                </a:rPr>
                <a:t>αράδειγμα</a:t>
              </a:r>
              <a:endParaRPr b="1" sz="1400">
                <a:solidFill>
                  <a:srgbClr val="1F2937"/>
                </a:solidFill>
                <a:latin typeface="Arial"/>
                <a:ea typeface="Arial"/>
                <a:cs typeface="Arial"/>
                <a:sym typeface="Arial"/>
              </a:endParaRPr>
            </a:p>
            <a:p>
              <a:pPr indent="0" lvl="0" marL="0" rtl="0" algn="l">
                <a:spcBef>
                  <a:spcPts val="0"/>
                </a:spcBef>
                <a:spcAft>
                  <a:spcPts val="0"/>
                </a:spcAft>
                <a:buNone/>
              </a:pPr>
              <a:r>
                <a:rPr b="1" lang="el" sz="1200">
                  <a:solidFill>
                    <a:srgbClr val="2563EB"/>
                  </a:solidFill>
                  <a:latin typeface="Arial"/>
                  <a:ea typeface="Arial"/>
                  <a:cs typeface="Arial"/>
                  <a:sym typeface="Arial"/>
                </a:rPr>
                <a:t>Εφαρμογή καταγραφής εργασιών (Task Tracker)</a:t>
              </a:r>
              <a:endParaRPr b="1" sz="1200">
                <a:solidFill>
                  <a:srgbClr val="2563EB"/>
                </a:solidFill>
                <a:latin typeface="Arial"/>
                <a:ea typeface="Arial"/>
                <a:cs typeface="Arial"/>
                <a:sym typeface="Arial"/>
              </a:endParaRPr>
            </a:p>
            <a:p>
              <a:pPr indent="0" lvl="0" marL="0" rtl="0" algn="l">
                <a:spcBef>
                  <a:spcPts val="1050"/>
                </a:spcBef>
                <a:spcAft>
                  <a:spcPts val="0"/>
                </a:spcAft>
                <a:buNone/>
              </a:pPr>
              <a:r>
                <a:rPr b="0" lang="el" sz="1050">
                  <a:solidFill>
                    <a:srgbClr val="4B5563"/>
                  </a:solidFill>
                  <a:latin typeface="Arial"/>
                  <a:ea typeface="Arial"/>
                  <a:cs typeface="Arial"/>
                  <a:sym typeface="Arial"/>
                </a:rPr>
                <a:t>Πριν γραφτεί οτιδήποτε, ορίζουμε στο PRD:</a:t>
              </a:r>
              <a:endParaRPr b="0" sz="1050">
                <a:solidFill>
                  <a:srgbClr val="4B5563"/>
                </a:solidFill>
                <a:latin typeface="Arial"/>
                <a:ea typeface="Arial"/>
                <a:cs typeface="Arial"/>
                <a:sym typeface="Arial"/>
              </a:endParaRPr>
            </a:p>
            <a:p>
              <a:pPr indent="-295275" lvl="0" marL="457200" rtl="0" algn="l">
                <a:spcBef>
                  <a:spcPts val="600"/>
                </a:spcBef>
                <a:spcAft>
                  <a:spcPts val="0"/>
                </a:spcAft>
                <a:buClr>
                  <a:srgbClr val="4B5563"/>
                </a:buClr>
                <a:buSzPts val="1050"/>
                <a:buFont typeface="Arial"/>
                <a:buChar char="●"/>
              </a:pPr>
              <a:r>
                <a:rPr b="1" lang="el" sz="1050">
                  <a:solidFill>
                    <a:srgbClr val="4B5563"/>
                  </a:solidFill>
                  <a:latin typeface="Arial"/>
                  <a:ea typeface="Arial"/>
                  <a:cs typeface="Arial"/>
                  <a:sym typeface="Arial"/>
                </a:rPr>
                <a:t>Ρόλοι Χρηστών:</a:t>
              </a:r>
              <a:r>
                <a:rPr b="0" lang="el" sz="1050">
                  <a:solidFill>
                    <a:srgbClr val="4B5563"/>
                  </a:solidFill>
                  <a:latin typeface="Arial"/>
                  <a:ea typeface="Arial"/>
                  <a:cs typeface="Arial"/>
                  <a:sym typeface="Arial"/>
                </a:rPr>
                <a:t> Διαχειριστές, Μέλη ομάδας, Επισκέπτες</a:t>
              </a:r>
              <a:endParaRPr b="0" sz="1050">
                <a:solidFill>
                  <a:srgbClr val="4B5563"/>
                </a:solidFill>
                <a:latin typeface="Arial"/>
                <a:ea typeface="Arial"/>
                <a:cs typeface="Arial"/>
                <a:sym typeface="Arial"/>
              </a:endParaRPr>
            </a:p>
            <a:p>
              <a:pPr indent="-295275" lvl="0" marL="457200" rtl="0" algn="l">
                <a:spcBef>
                  <a:spcPts val="450"/>
                </a:spcBef>
                <a:spcAft>
                  <a:spcPts val="0"/>
                </a:spcAft>
                <a:buClr>
                  <a:srgbClr val="4B5563"/>
                </a:buClr>
                <a:buSzPts val="1050"/>
                <a:buFont typeface="Arial"/>
                <a:buChar char="●"/>
              </a:pPr>
              <a:r>
                <a:rPr b="1" lang="el" sz="1050">
                  <a:solidFill>
                    <a:srgbClr val="4B5563"/>
                  </a:solidFill>
                  <a:latin typeface="Arial"/>
                  <a:ea typeface="Arial"/>
                  <a:cs typeface="Arial"/>
                  <a:sym typeface="Arial"/>
                </a:rPr>
                <a:t>Βασικές Λειτουργίες:</a:t>
              </a:r>
              <a:r>
                <a:rPr b="0" lang="el" sz="1050">
                  <a:solidFill>
                    <a:srgbClr val="4B5563"/>
                  </a:solidFill>
                  <a:latin typeface="Arial"/>
                  <a:ea typeface="Arial"/>
                  <a:cs typeface="Arial"/>
                  <a:sym typeface="Arial"/>
                </a:rPr>
                <a:t> Δημιουργία, ανάθεση &amp; φιλτράρισμα tasks</a:t>
              </a:r>
              <a:endParaRPr b="0" sz="1050">
                <a:solidFill>
                  <a:srgbClr val="4B5563"/>
                </a:solidFill>
                <a:latin typeface="Arial"/>
                <a:ea typeface="Arial"/>
                <a:cs typeface="Arial"/>
                <a:sym typeface="Arial"/>
              </a:endParaRPr>
            </a:p>
            <a:p>
              <a:pPr indent="-295275" lvl="0" marL="457200" rtl="0" algn="l">
                <a:spcBef>
                  <a:spcPts val="450"/>
                </a:spcBef>
                <a:spcAft>
                  <a:spcPts val="0"/>
                </a:spcAft>
                <a:buClr>
                  <a:srgbClr val="4B5563"/>
                </a:buClr>
                <a:buSzPts val="1050"/>
                <a:buFont typeface="Arial"/>
                <a:buChar char="●"/>
              </a:pPr>
              <a:r>
                <a:rPr b="1" lang="el" sz="1050">
                  <a:solidFill>
                    <a:srgbClr val="4B5563"/>
                  </a:solidFill>
                  <a:latin typeface="Arial"/>
                  <a:ea typeface="Arial"/>
                  <a:cs typeface="Arial"/>
                  <a:sym typeface="Arial"/>
                </a:rPr>
                <a:t>Αποθήκευση Δεδομένων:</a:t>
              </a:r>
              <a:r>
                <a:rPr b="0" lang="el" sz="1050">
                  <a:solidFill>
                    <a:srgbClr val="4B5563"/>
                  </a:solidFill>
                  <a:latin typeface="Arial"/>
                  <a:ea typeface="Arial"/>
                  <a:cs typeface="Arial"/>
                  <a:sym typeface="Arial"/>
                </a:rPr>
                <a:t> Δομή βάσης &amp; μοντέλα</a:t>
              </a:r>
              <a:endParaRPr b="0" sz="1050">
                <a:solidFill>
                  <a:srgbClr val="4B5563"/>
                </a:solidFill>
                <a:latin typeface="Arial"/>
                <a:ea typeface="Arial"/>
                <a:cs typeface="Arial"/>
                <a:sym typeface="Arial"/>
              </a:endParaRPr>
            </a:p>
            <a:p>
              <a:pPr indent="-295275" lvl="0" marL="457200" rtl="0" algn="l">
                <a:spcBef>
                  <a:spcPts val="450"/>
                </a:spcBef>
                <a:spcAft>
                  <a:spcPts val="450"/>
                </a:spcAft>
                <a:buClr>
                  <a:srgbClr val="4B5563"/>
                </a:buClr>
                <a:buSzPts val="1050"/>
                <a:buFont typeface="Arial"/>
                <a:buChar char="●"/>
              </a:pPr>
              <a:r>
                <a:rPr b="1" lang="el" sz="1050">
                  <a:solidFill>
                    <a:srgbClr val="4B5563"/>
                  </a:solidFill>
                  <a:latin typeface="Arial"/>
                  <a:ea typeface="Arial"/>
                  <a:cs typeface="Arial"/>
                  <a:sym typeface="Arial"/>
                </a:rPr>
                <a:t>Κριτήρια Αποδοχής:</a:t>
              </a:r>
              <a:r>
                <a:rPr b="0" lang="el" sz="1050">
                  <a:solidFill>
                    <a:srgbClr val="4B5563"/>
                  </a:solidFill>
                  <a:latin typeface="Arial"/>
                  <a:ea typeface="Arial"/>
                  <a:cs typeface="Arial"/>
                  <a:sym typeface="Arial"/>
                </a:rPr>
                <a:t> Ορισμός επιτυχίας &amp; edge cases</a:t>
              </a:r>
              <a:endParaRPr b="0" sz="1050">
                <a:solidFill>
                  <a:srgbClr val="4B5563"/>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22" name="Shape 222"/>
        <p:cNvGrpSpPr/>
        <p:nvPr/>
      </p:nvGrpSpPr>
      <p:grpSpPr>
        <a:xfrm>
          <a:off x="0" y="0"/>
          <a:ext cx="0" cy="0"/>
          <a:chOff x="0" y="0"/>
          <a:chExt cx="0" cy="0"/>
        </a:xfrm>
      </p:grpSpPr>
      <p:sp>
        <p:nvSpPr>
          <p:cNvPr id="223" name="Google Shape;223;p25"/>
          <p:cNvSpPr txBox="1"/>
          <p:nvPr/>
        </p:nvSpPr>
        <p:spPr>
          <a:xfrm>
            <a:off x="381000" y="285750"/>
            <a:ext cx="838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2200">
                <a:solidFill>
                  <a:srgbClr val="111827"/>
                </a:solidFill>
                <a:latin typeface="Arial"/>
                <a:ea typeface="Arial"/>
                <a:cs typeface="Arial"/>
                <a:sym typeface="Arial"/>
              </a:rPr>
              <a:t>Το καλό prompt μοιάζει με καλό τεχνικό ticket</a:t>
            </a:r>
            <a:endParaRPr b="1" sz="2200">
              <a:solidFill>
                <a:srgbClr val="111827"/>
              </a:solidFill>
              <a:latin typeface="Arial"/>
              <a:ea typeface="Arial"/>
              <a:cs typeface="Arial"/>
              <a:sym typeface="Arial"/>
            </a:endParaRPr>
          </a:p>
        </p:txBody>
      </p:sp>
      <p:sp>
        <p:nvSpPr>
          <p:cNvPr id="224" name="Google Shape;224;p25"/>
          <p:cNvSpPr txBox="1"/>
          <p:nvPr/>
        </p:nvSpPr>
        <p:spPr>
          <a:xfrm>
            <a:off x="381000" y="714375"/>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l" sz="1050">
                <a:solidFill>
                  <a:srgbClr val="4B5563"/>
                </a:solidFill>
              </a:rPr>
              <a:t>ΠΡΕΠΕΙ</a:t>
            </a:r>
            <a:r>
              <a:rPr b="0" lang="el" sz="1050">
                <a:solidFill>
                  <a:srgbClr val="4B5563"/>
                </a:solidFill>
                <a:latin typeface="Arial"/>
                <a:ea typeface="Arial"/>
                <a:cs typeface="Arial"/>
                <a:sym typeface="Arial"/>
              </a:rPr>
              <a:t> να αντιμετωπίζουμε τα prompts όπως τα τεχνικά tickets μιας ομάδας ανάπτυξης. Όσο πιο ξεκάθαρος είναι ο ορισμός του προβλήματος, τόσο λιγότερο αφήνουμε το μοντέλο να μαντεύει.</a:t>
            </a:r>
            <a:endParaRPr b="0" sz="1050">
              <a:solidFill>
                <a:srgbClr val="4B5563"/>
              </a:solidFill>
              <a:latin typeface="Arial"/>
              <a:ea typeface="Arial"/>
              <a:cs typeface="Arial"/>
              <a:sym typeface="Arial"/>
            </a:endParaRPr>
          </a:p>
        </p:txBody>
      </p:sp>
      <p:grpSp>
        <p:nvGrpSpPr>
          <p:cNvPr id="225" name="Google Shape;225;p25"/>
          <p:cNvGrpSpPr/>
          <p:nvPr/>
        </p:nvGrpSpPr>
        <p:grpSpPr>
          <a:xfrm>
            <a:off x="381000" y="1190625"/>
            <a:ext cx="1952700" cy="1047900"/>
            <a:chOff x="0" y="0"/>
            <a:chExt cx="1952700" cy="1047900"/>
          </a:xfrm>
        </p:grpSpPr>
        <p:sp>
          <p:nvSpPr>
            <p:cNvPr id="226" name="Google Shape;226;p25"/>
            <p:cNvSpPr/>
            <p:nvPr/>
          </p:nvSpPr>
          <p:spPr>
            <a:xfrm>
              <a:off x="0" y="0"/>
              <a:ext cx="1952700" cy="1047900"/>
            </a:xfrm>
            <a:prstGeom prst="roundRect">
              <a:avLst>
                <a:gd fmla="val 1090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5"/>
            <p:cNvSpPr txBox="1"/>
            <p:nvPr/>
          </p:nvSpPr>
          <p:spPr>
            <a:xfrm>
              <a:off x="142875" y="142875"/>
              <a:ext cx="16668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200">
                  <a:solidFill>
                    <a:srgbClr val="2563EB"/>
                  </a:solidFill>
                  <a:latin typeface="Arial"/>
                  <a:ea typeface="Arial"/>
                  <a:cs typeface="Arial"/>
                  <a:sym typeface="Arial"/>
                </a:rPr>
                <a:t>1. Context</a:t>
              </a:r>
              <a:endParaRPr b="1" sz="1200">
                <a:solidFill>
                  <a:srgbClr val="2563EB"/>
                </a:solidFill>
                <a:latin typeface="Arial"/>
                <a:ea typeface="Arial"/>
                <a:cs typeface="Arial"/>
                <a:sym typeface="Arial"/>
              </a:endParaRPr>
            </a:p>
            <a:p>
              <a:pPr indent="0" lvl="0" marL="0" rtl="0" algn="l">
                <a:spcBef>
                  <a:spcPts val="450"/>
                </a:spcBef>
                <a:spcAft>
                  <a:spcPts val="0"/>
                </a:spcAft>
                <a:buNone/>
              </a:pPr>
              <a:r>
                <a:rPr b="0" lang="el" sz="950">
                  <a:solidFill>
                    <a:srgbClr val="4B5563"/>
                  </a:solidFill>
                  <a:latin typeface="Arial"/>
                  <a:ea typeface="Arial"/>
                  <a:cs typeface="Arial"/>
                  <a:sym typeface="Arial"/>
                </a:rPr>
                <a:t>Πρώτα εξηγούμε το πλαίσιο της εφαρμογής και τον στόχο.</a:t>
              </a:r>
              <a:endParaRPr b="0" sz="950">
                <a:solidFill>
                  <a:srgbClr val="4B5563"/>
                </a:solidFill>
                <a:latin typeface="Arial"/>
                <a:ea typeface="Arial"/>
                <a:cs typeface="Arial"/>
                <a:sym typeface="Arial"/>
              </a:endParaRPr>
            </a:p>
          </p:txBody>
        </p:sp>
      </p:grpSp>
      <p:grpSp>
        <p:nvGrpSpPr>
          <p:cNvPr id="228" name="Google Shape;228;p25"/>
          <p:cNvGrpSpPr/>
          <p:nvPr/>
        </p:nvGrpSpPr>
        <p:grpSpPr>
          <a:xfrm>
            <a:off x="2524125" y="1190625"/>
            <a:ext cx="1952700" cy="1047900"/>
            <a:chOff x="0" y="0"/>
            <a:chExt cx="1952700" cy="1047900"/>
          </a:xfrm>
        </p:grpSpPr>
        <p:sp>
          <p:nvSpPr>
            <p:cNvPr id="229" name="Google Shape;229;p25"/>
            <p:cNvSpPr/>
            <p:nvPr/>
          </p:nvSpPr>
          <p:spPr>
            <a:xfrm>
              <a:off x="0" y="0"/>
              <a:ext cx="1952700" cy="1047900"/>
            </a:xfrm>
            <a:prstGeom prst="roundRect">
              <a:avLst>
                <a:gd fmla="val 1090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25"/>
            <p:cNvSpPr txBox="1"/>
            <p:nvPr/>
          </p:nvSpPr>
          <p:spPr>
            <a:xfrm>
              <a:off x="142875" y="142875"/>
              <a:ext cx="16668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200">
                  <a:solidFill>
                    <a:srgbClr val="2563EB"/>
                  </a:solidFill>
                  <a:latin typeface="Arial"/>
                  <a:ea typeface="Arial"/>
                  <a:cs typeface="Arial"/>
                  <a:sym typeface="Arial"/>
                </a:rPr>
                <a:t>2. To-do</a:t>
              </a:r>
              <a:endParaRPr b="1" sz="1200">
                <a:solidFill>
                  <a:srgbClr val="2563EB"/>
                </a:solidFill>
                <a:latin typeface="Arial"/>
                <a:ea typeface="Arial"/>
                <a:cs typeface="Arial"/>
                <a:sym typeface="Arial"/>
              </a:endParaRPr>
            </a:p>
            <a:p>
              <a:pPr indent="0" lvl="0" marL="0" rtl="0" algn="l">
                <a:spcBef>
                  <a:spcPts val="450"/>
                </a:spcBef>
                <a:spcAft>
                  <a:spcPts val="0"/>
                </a:spcAft>
                <a:buNone/>
              </a:pPr>
              <a:r>
                <a:rPr b="0" lang="el" sz="950">
                  <a:solidFill>
                    <a:srgbClr val="4B5563"/>
                  </a:solidFill>
                  <a:latin typeface="Arial"/>
                  <a:ea typeface="Arial"/>
                  <a:cs typeface="Arial"/>
                  <a:sym typeface="Arial"/>
                </a:rPr>
                <a:t>Περιγράφουμε αναλυτικά τι ακριβώς πρέπει να γίνει.</a:t>
              </a:r>
              <a:endParaRPr b="0" sz="950">
                <a:solidFill>
                  <a:srgbClr val="4B5563"/>
                </a:solidFill>
                <a:latin typeface="Arial"/>
                <a:ea typeface="Arial"/>
                <a:cs typeface="Arial"/>
                <a:sym typeface="Arial"/>
              </a:endParaRPr>
            </a:p>
          </p:txBody>
        </p:sp>
      </p:grpSp>
      <p:grpSp>
        <p:nvGrpSpPr>
          <p:cNvPr id="231" name="Google Shape;231;p25"/>
          <p:cNvGrpSpPr/>
          <p:nvPr/>
        </p:nvGrpSpPr>
        <p:grpSpPr>
          <a:xfrm>
            <a:off x="4667250" y="1190625"/>
            <a:ext cx="1952700" cy="1047900"/>
            <a:chOff x="0" y="0"/>
            <a:chExt cx="1952700" cy="1047900"/>
          </a:xfrm>
        </p:grpSpPr>
        <p:sp>
          <p:nvSpPr>
            <p:cNvPr id="232" name="Google Shape;232;p25"/>
            <p:cNvSpPr/>
            <p:nvPr/>
          </p:nvSpPr>
          <p:spPr>
            <a:xfrm>
              <a:off x="0" y="0"/>
              <a:ext cx="1952700" cy="1047900"/>
            </a:xfrm>
            <a:prstGeom prst="roundRect">
              <a:avLst>
                <a:gd fmla="val 1090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25"/>
            <p:cNvSpPr txBox="1"/>
            <p:nvPr/>
          </p:nvSpPr>
          <p:spPr>
            <a:xfrm>
              <a:off x="142875" y="142875"/>
              <a:ext cx="16668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200">
                  <a:solidFill>
                    <a:srgbClr val="2563EB"/>
                  </a:solidFill>
                  <a:latin typeface="Arial"/>
                  <a:ea typeface="Arial"/>
                  <a:cs typeface="Arial"/>
                  <a:sym typeface="Arial"/>
                </a:rPr>
                <a:t>3. Not-to-do</a:t>
              </a:r>
              <a:endParaRPr b="1" sz="1200">
                <a:solidFill>
                  <a:srgbClr val="2563EB"/>
                </a:solidFill>
                <a:latin typeface="Arial"/>
                <a:ea typeface="Arial"/>
                <a:cs typeface="Arial"/>
                <a:sym typeface="Arial"/>
              </a:endParaRPr>
            </a:p>
            <a:p>
              <a:pPr indent="0" lvl="0" marL="0" rtl="0" algn="l">
                <a:spcBef>
                  <a:spcPts val="450"/>
                </a:spcBef>
                <a:spcAft>
                  <a:spcPts val="0"/>
                </a:spcAft>
                <a:buNone/>
              </a:pPr>
              <a:r>
                <a:rPr b="0" lang="el" sz="950">
                  <a:solidFill>
                    <a:srgbClr val="4B5563"/>
                  </a:solidFill>
                  <a:latin typeface="Arial"/>
                  <a:ea typeface="Arial"/>
                  <a:cs typeface="Arial"/>
                  <a:sym typeface="Arial"/>
                </a:rPr>
                <a:t>Διευκρινίζουμε τι να αποφευχθεί ή περιορισμούς.</a:t>
              </a:r>
              <a:endParaRPr b="0" sz="950">
                <a:solidFill>
                  <a:srgbClr val="4B5563"/>
                </a:solidFill>
                <a:latin typeface="Arial"/>
                <a:ea typeface="Arial"/>
                <a:cs typeface="Arial"/>
                <a:sym typeface="Arial"/>
              </a:endParaRPr>
            </a:p>
          </p:txBody>
        </p:sp>
      </p:grpSp>
      <p:grpSp>
        <p:nvGrpSpPr>
          <p:cNvPr id="234" name="Google Shape;234;p25"/>
          <p:cNvGrpSpPr/>
          <p:nvPr/>
        </p:nvGrpSpPr>
        <p:grpSpPr>
          <a:xfrm>
            <a:off x="6810375" y="1190625"/>
            <a:ext cx="1952700" cy="1047900"/>
            <a:chOff x="0" y="0"/>
            <a:chExt cx="1952700" cy="1047900"/>
          </a:xfrm>
        </p:grpSpPr>
        <p:sp>
          <p:nvSpPr>
            <p:cNvPr id="235" name="Google Shape;235;p25"/>
            <p:cNvSpPr/>
            <p:nvPr/>
          </p:nvSpPr>
          <p:spPr>
            <a:xfrm>
              <a:off x="0" y="0"/>
              <a:ext cx="1952700" cy="1047900"/>
            </a:xfrm>
            <a:prstGeom prst="roundRect">
              <a:avLst>
                <a:gd fmla="val 1090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5"/>
            <p:cNvSpPr txBox="1"/>
            <p:nvPr/>
          </p:nvSpPr>
          <p:spPr>
            <a:xfrm>
              <a:off x="142875" y="142875"/>
              <a:ext cx="16668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200">
                  <a:solidFill>
                    <a:srgbClr val="2563EB"/>
                  </a:solidFill>
                  <a:latin typeface="Arial"/>
                  <a:ea typeface="Arial"/>
                  <a:cs typeface="Arial"/>
                  <a:sym typeface="Arial"/>
                </a:rPr>
                <a:t>4. Acceptance Criteria</a:t>
              </a:r>
              <a:endParaRPr b="1" sz="1200">
                <a:solidFill>
                  <a:srgbClr val="2563EB"/>
                </a:solidFill>
                <a:latin typeface="Arial"/>
                <a:ea typeface="Arial"/>
                <a:cs typeface="Arial"/>
                <a:sym typeface="Arial"/>
              </a:endParaRPr>
            </a:p>
            <a:p>
              <a:pPr indent="0" lvl="0" marL="0" rtl="0" algn="l">
                <a:spcBef>
                  <a:spcPts val="450"/>
                </a:spcBef>
                <a:spcAft>
                  <a:spcPts val="0"/>
                </a:spcAft>
                <a:buNone/>
              </a:pPr>
              <a:r>
                <a:rPr b="0" lang="el" sz="950">
                  <a:solidFill>
                    <a:srgbClr val="4B5563"/>
                  </a:solidFill>
                  <a:latin typeface="Arial"/>
                  <a:ea typeface="Arial"/>
                  <a:cs typeface="Arial"/>
                  <a:sym typeface="Arial"/>
                </a:rPr>
                <a:t>Ορίζουμε τα κριτήρια επιτυχίας &amp; tests.</a:t>
              </a:r>
              <a:endParaRPr b="0" sz="950">
                <a:solidFill>
                  <a:srgbClr val="4B5563"/>
                </a:solidFill>
                <a:latin typeface="Arial"/>
                <a:ea typeface="Arial"/>
                <a:cs typeface="Arial"/>
                <a:sym typeface="Arial"/>
              </a:endParaRPr>
            </a:p>
          </p:txBody>
        </p:sp>
      </p:grpSp>
      <p:grpSp>
        <p:nvGrpSpPr>
          <p:cNvPr id="237" name="Google Shape;237;p25"/>
          <p:cNvGrpSpPr/>
          <p:nvPr/>
        </p:nvGrpSpPr>
        <p:grpSpPr>
          <a:xfrm>
            <a:off x="381000" y="2381250"/>
            <a:ext cx="4048200" cy="2428800"/>
            <a:chOff x="0" y="0"/>
            <a:chExt cx="4048200" cy="2428800"/>
          </a:xfrm>
        </p:grpSpPr>
        <p:sp>
          <p:nvSpPr>
            <p:cNvPr id="238" name="Google Shape;238;p25"/>
            <p:cNvSpPr/>
            <p:nvPr/>
          </p:nvSpPr>
          <p:spPr>
            <a:xfrm>
              <a:off x="0" y="0"/>
              <a:ext cx="4048200" cy="2428800"/>
            </a:xfrm>
            <a:prstGeom prst="roundRect">
              <a:avLst>
                <a:gd fmla="val 4705" name="adj"/>
              </a:avLst>
            </a:prstGeom>
            <a:solidFill>
              <a:srgbClr val="FFFFFF"/>
            </a:solidFill>
            <a:ln cap="flat" cmpd="sng" w="1430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5"/>
            <p:cNvSpPr/>
            <p:nvPr/>
          </p:nvSpPr>
          <p:spPr>
            <a:xfrm>
              <a:off x="0" y="0"/>
              <a:ext cx="4048200" cy="333300"/>
            </a:xfrm>
            <a:prstGeom prst="roundRect">
              <a:avLst>
                <a:gd fmla="val 34285"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25"/>
            <p:cNvSpPr txBox="1"/>
            <p:nvPr/>
          </p:nvSpPr>
          <p:spPr>
            <a:xfrm>
              <a:off x="190500" y="76200"/>
              <a:ext cx="3667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1200">
                  <a:solidFill>
                    <a:srgbClr val="991B1B"/>
                  </a:solidFill>
                  <a:latin typeface="Arial"/>
                  <a:ea typeface="Arial"/>
                  <a:cs typeface="Arial"/>
                  <a:sym typeface="Arial"/>
                </a:rPr>
                <a:t>✕ Ασαφές Prompt (Bad Practice)</a:t>
              </a:r>
              <a:endParaRPr b="1" sz="1200">
                <a:solidFill>
                  <a:srgbClr val="991B1B"/>
                </a:solidFill>
                <a:latin typeface="Arial"/>
                <a:ea typeface="Arial"/>
                <a:cs typeface="Arial"/>
                <a:sym typeface="Arial"/>
              </a:endParaRPr>
            </a:p>
          </p:txBody>
        </p:sp>
        <p:sp>
          <p:nvSpPr>
            <p:cNvPr id="241" name="Google Shape;241;p25"/>
            <p:cNvSpPr txBox="1"/>
            <p:nvPr/>
          </p:nvSpPr>
          <p:spPr>
            <a:xfrm>
              <a:off x="190500" y="476250"/>
              <a:ext cx="3667200" cy="176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l" sz="950">
                  <a:solidFill>
                    <a:srgbClr val="7F1D1D"/>
                  </a:solidFill>
                  <a:latin typeface="Arial"/>
                  <a:ea typeface="Arial"/>
                  <a:cs typeface="Arial"/>
                  <a:sym typeface="Arial"/>
                </a:rPr>
                <a:t>«Φτιάξε μου ένα login.»</a:t>
              </a:r>
              <a:endParaRPr b="0" sz="950">
                <a:solidFill>
                  <a:srgbClr val="7F1D1D"/>
                </a:solidFill>
                <a:latin typeface="Arial"/>
                <a:ea typeface="Arial"/>
                <a:cs typeface="Arial"/>
                <a:sym typeface="Arial"/>
              </a:endParaRPr>
            </a:p>
            <a:p>
              <a:pPr indent="0" lvl="0" marL="0" rtl="0" algn="l">
                <a:spcBef>
                  <a:spcPts val="600"/>
                </a:spcBef>
                <a:spcAft>
                  <a:spcPts val="0"/>
                </a:spcAft>
                <a:buNone/>
              </a:pPr>
              <a:r>
                <a:rPr b="1" lang="el" sz="900">
                  <a:solidFill>
                    <a:srgbClr val="4B5563"/>
                  </a:solidFill>
                  <a:latin typeface="Arial"/>
                  <a:ea typeface="Arial"/>
                  <a:cs typeface="Arial"/>
                  <a:sym typeface="Arial"/>
                </a:rPr>
                <a:t>Προβλήματα:</a:t>
              </a:r>
              <a:endParaRPr b="0" sz="900">
                <a:solidFill>
                  <a:srgbClr val="4B5563"/>
                </a:solidFill>
                <a:latin typeface="Arial"/>
                <a:ea typeface="Arial"/>
                <a:cs typeface="Arial"/>
                <a:sym typeface="Arial"/>
              </a:endParaRPr>
            </a:p>
            <a:p>
              <a:pPr indent="0" lvl="0" marL="0" rtl="0" algn="l">
                <a:spcBef>
                  <a:spcPts val="450"/>
                </a:spcBef>
                <a:spcAft>
                  <a:spcPts val="0"/>
                </a:spcAft>
                <a:buNone/>
              </a:pPr>
              <a:r>
                <a:rPr b="0" lang="el" sz="900">
                  <a:solidFill>
                    <a:srgbClr val="4B5563"/>
                  </a:solidFill>
                  <a:latin typeface="Arial"/>
                  <a:ea typeface="Arial"/>
                  <a:cs typeface="Arial"/>
                  <a:sym typeface="Arial"/>
                </a:rPr>
                <a:t>• Δεν υπάρχει πλαίσιο τεχνολογιών.</a:t>
              </a:r>
              <a:br>
                <a:rPr b="0" lang="el" sz="900">
                  <a:solidFill>
                    <a:srgbClr val="4B5563"/>
                  </a:solidFill>
                  <a:latin typeface="Arial"/>
                  <a:ea typeface="Arial"/>
                  <a:cs typeface="Arial"/>
                  <a:sym typeface="Arial"/>
                </a:rPr>
              </a:br>
              <a:r>
                <a:rPr b="0" lang="el" sz="900">
                  <a:solidFill>
                    <a:srgbClr val="4B5563"/>
                  </a:solidFill>
                  <a:latin typeface="Arial"/>
                  <a:ea typeface="Arial"/>
                  <a:cs typeface="Arial"/>
                  <a:sym typeface="Arial"/>
                </a:rPr>
                <a:t>• Ασαφής χειρισμός σφαλμάτων.</a:t>
              </a:r>
              <a:br>
                <a:rPr b="0" lang="el" sz="900">
                  <a:solidFill>
                    <a:srgbClr val="4B5563"/>
                  </a:solidFill>
                  <a:latin typeface="Arial"/>
                  <a:ea typeface="Arial"/>
                  <a:cs typeface="Arial"/>
                  <a:sym typeface="Arial"/>
                </a:rPr>
              </a:br>
              <a:r>
                <a:rPr b="0" lang="el" sz="900">
                  <a:solidFill>
                    <a:srgbClr val="4B5563"/>
                  </a:solidFill>
                  <a:latin typeface="Arial"/>
                  <a:ea typeface="Arial"/>
                  <a:cs typeface="Arial"/>
                  <a:sym typeface="Arial"/>
                </a:rPr>
                <a:t>• Κανένας ορισμός ασφάλειας.</a:t>
              </a:r>
              <a:br>
                <a:rPr b="0" lang="el" sz="900">
                  <a:solidFill>
                    <a:srgbClr val="4B5563"/>
                  </a:solidFill>
                  <a:latin typeface="Arial"/>
                  <a:ea typeface="Arial"/>
                  <a:cs typeface="Arial"/>
                  <a:sym typeface="Arial"/>
                </a:rPr>
              </a:br>
              <a:r>
                <a:rPr b="0" lang="el" sz="900">
                  <a:solidFill>
                    <a:srgbClr val="4B5563"/>
                  </a:solidFill>
                  <a:latin typeface="Arial"/>
                  <a:ea typeface="Arial"/>
                  <a:cs typeface="Arial"/>
                  <a:sym typeface="Arial"/>
                </a:rPr>
                <a:t>• </a:t>
              </a:r>
              <a:r>
                <a:rPr lang="el" sz="900">
                  <a:solidFill>
                    <a:srgbClr val="4B5563"/>
                  </a:solidFill>
                </a:rPr>
                <a:t>Η</a:t>
              </a:r>
              <a:r>
                <a:rPr b="0" lang="el" sz="900">
                  <a:solidFill>
                    <a:srgbClr val="4B5563"/>
                  </a:solidFill>
                  <a:latin typeface="Arial"/>
                  <a:ea typeface="Arial"/>
                  <a:cs typeface="Arial"/>
                  <a:sym typeface="Arial"/>
                </a:rPr>
                <a:t> </a:t>
              </a:r>
              <a:r>
                <a:rPr lang="el" sz="900">
                  <a:solidFill>
                    <a:srgbClr val="4B5563"/>
                  </a:solidFill>
                </a:rPr>
                <a:t>ΤΝ</a:t>
              </a:r>
              <a:r>
                <a:rPr b="0" lang="el" sz="900">
                  <a:solidFill>
                    <a:srgbClr val="4B5563"/>
                  </a:solidFill>
                  <a:latin typeface="Arial"/>
                  <a:ea typeface="Arial"/>
                  <a:cs typeface="Arial"/>
                  <a:sym typeface="Arial"/>
                </a:rPr>
                <a:t> υποθέτει τα πάντα μόν</a:t>
              </a:r>
              <a:r>
                <a:rPr lang="el" sz="900">
                  <a:solidFill>
                    <a:srgbClr val="4B5563"/>
                  </a:solidFill>
                </a:rPr>
                <a:t>η</a:t>
              </a:r>
              <a:r>
                <a:rPr b="0" lang="el" sz="900">
                  <a:solidFill>
                    <a:srgbClr val="4B5563"/>
                  </a:solidFill>
                  <a:latin typeface="Arial"/>
                  <a:ea typeface="Arial"/>
                  <a:cs typeface="Arial"/>
                  <a:sym typeface="Arial"/>
                </a:rPr>
                <a:t> τ</a:t>
              </a:r>
              <a:r>
                <a:rPr lang="el" sz="900">
                  <a:solidFill>
                    <a:srgbClr val="4B5563"/>
                  </a:solidFill>
                </a:rPr>
                <a:t>ης</a:t>
              </a:r>
              <a:r>
                <a:rPr b="0" lang="el" sz="900">
                  <a:solidFill>
                    <a:srgbClr val="4B5563"/>
                  </a:solidFill>
                  <a:latin typeface="Arial"/>
                  <a:ea typeface="Arial"/>
                  <a:cs typeface="Arial"/>
                  <a:sym typeface="Arial"/>
                </a:rPr>
                <a:t>, οδηγώντας σε μη παραγωγικό κώδικα.</a:t>
              </a:r>
              <a:endParaRPr b="0" sz="900">
                <a:solidFill>
                  <a:srgbClr val="4B5563"/>
                </a:solidFill>
                <a:latin typeface="Arial"/>
                <a:ea typeface="Arial"/>
                <a:cs typeface="Arial"/>
                <a:sym typeface="Arial"/>
              </a:endParaRPr>
            </a:p>
          </p:txBody>
        </p:sp>
      </p:grpSp>
      <p:grpSp>
        <p:nvGrpSpPr>
          <p:cNvPr id="242" name="Google Shape;242;p25"/>
          <p:cNvGrpSpPr/>
          <p:nvPr/>
        </p:nvGrpSpPr>
        <p:grpSpPr>
          <a:xfrm>
            <a:off x="4714875" y="2381250"/>
            <a:ext cx="4048200" cy="2428800"/>
            <a:chOff x="0" y="0"/>
            <a:chExt cx="4048200" cy="2428800"/>
          </a:xfrm>
        </p:grpSpPr>
        <p:sp>
          <p:nvSpPr>
            <p:cNvPr id="243" name="Google Shape;243;p25"/>
            <p:cNvSpPr/>
            <p:nvPr/>
          </p:nvSpPr>
          <p:spPr>
            <a:xfrm>
              <a:off x="0" y="0"/>
              <a:ext cx="4048200" cy="2428800"/>
            </a:xfrm>
            <a:prstGeom prst="roundRect">
              <a:avLst>
                <a:gd fmla="val 4705" name="adj"/>
              </a:avLst>
            </a:prstGeom>
            <a:solidFill>
              <a:srgbClr val="FFFFFF"/>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p:nvPr/>
          </p:nvSpPr>
          <p:spPr>
            <a:xfrm>
              <a:off x="0" y="0"/>
              <a:ext cx="4048200" cy="333300"/>
            </a:xfrm>
            <a:prstGeom prst="roundRect">
              <a:avLst>
                <a:gd fmla="val 34285" name="adj"/>
              </a:avLst>
            </a:prstGeom>
            <a:solidFill>
              <a:srgbClr val="ECFD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5"/>
            <p:cNvSpPr txBox="1"/>
            <p:nvPr/>
          </p:nvSpPr>
          <p:spPr>
            <a:xfrm>
              <a:off x="190500" y="76200"/>
              <a:ext cx="3667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1200">
                  <a:solidFill>
                    <a:srgbClr val="065F46"/>
                  </a:solidFill>
                  <a:latin typeface="Arial"/>
                  <a:ea typeface="Arial"/>
                  <a:cs typeface="Arial"/>
                  <a:sym typeface="Arial"/>
                </a:rPr>
                <a:t>✓ Structured Prompt Ticket (Good Practice)</a:t>
              </a:r>
              <a:endParaRPr b="1" sz="1200">
                <a:solidFill>
                  <a:srgbClr val="065F46"/>
                </a:solidFill>
                <a:latin typeface="Arial"/>
                <a:ea typeface="Arial"/>
                <a:cs typeface="Arial"/>
                <a:sym typeface="Arial"/>
              </a:endParaRPr>
            </a:p>
          </p:txBody>
        </p:sp>
        <p:sp>
          <p:nvSpPr>
            <p:cNvPr id="246" name="Google Shape;246;p25"/>
            <p:cNvSpPr txBox="1"/>
            <p:nvPr/>
          </p:nvSpPr>
          <p:spPr>
            <a:xfrm>
              <a:off x="190500" y="428625"/>
              <a:ext cx="36672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950">
                  <a:solidFill>
                    <a:srgbClr val="2563EB"/>
                  </a:solidFill>
                  <a:latin typeface="Arial"/>
                  <a:ea typeface="Arial"/>
                  <a:cs typeface="Arial"/>
                  <a:sym typeface="Arial"/>
                </a:rPr>
                <a:t>## Context:</a:t>
              </a:r>
              <a:r>
                <a:rPr b="0" lang="el" sz="950">
                  <a:solidFill>
                    <a:srgbClr val="1E293B"/>
                  </a:solidFill>
                  <a:latin typeface="Arial"/>
                  <a:ea typeface="Arial"/>
                  <a:cs typeface="Arial"/>
                  <a:sym typeface="Arial"/>
                </a:rPr>
                <a:t> Node.js/Express API με PostgreSQL.</a:t>
              </a:r>
              <a:br>
                <a:rPr b="0" lang="el" sz="950">
                  <a:solidFill>
                    <a:srgbClr val="1E293B"/>
                  </a:solidFill>
                  <a:latin typeface="Arial"/>
                  <a:ea typeface="Arial"/>
                  <a:cs typeface="Arial"/>
                  <a:sym typeface="Arial"/>
                </a:rPr>
              </a:br>
              <a:r>
                <a:rPr b="1" lang="el" sz="950">
                  <a:solidFill>
                    <a:srgbClr val="2563EB"/>
                  </a:solidFill>
                  <a:latin typeface="Arial"/>
                  <a:ea typeface="Arial"/>
                  <a:cs typeface="Arial"/>
                  <a:sym typeface="Arial"/>
                </a:rPr>
                <a:t>## To-do:</a:t>
              </a:r>
              <a:r>
                <a:rPr b="0" lang="el" sz="950">
                  <a:solidFill>
                    <a:srgbClr val="1E293B"/>
                  </a:solidFill>
                  <a:latin typeface="Arial"/>
                  <a:ea typeface="Arial"/>
                  <a:cs typeface="Arial"/>
                  <a:sym typeface="Arial"/>
                </a:rPr>
                <a:t> Δημιούργησε endpoint `/login` με email &amp; password. Επίστρεψε JWT token σε επιτυχία.</a:t>
              </a:r>
              <a:br>
                <a:rPr b="0" lang="el" sz="950">
                  <a:solidFill>
                    <a:srgbClr val="1E293B"/>
                  </a:solidFill>
                  <a:latin typeface="Arial"/>
                  <a:ea typeface="Arial"/>
                  <a:cs typeface="Arial"/>
                  <a:sym typeface="Arial"/>
                </a:rPr>
              </a:br>
              <a:r>
                <a:rPr b="1" lang="el" sz="950">
                  <a:solidFill>
                    <a:srgbClr val="2563EB"/>
                  </a:solidFill>
                  <a:latin typeface="Arial"/>
                  <a:ea typeface="Arial"/>
                  <a:cs typeface="Arial"/>
                  <a:sym typeface="Arial"/>
                </a:rPr>
                <a:t>## Not-to-do:</a:t>
              </a:r>
              <a:r>
                <a:rPr b="0" lang="el" sz="950">
                  <a:solidFill>
                    <a:srgbClr val="1E293B"/>
                  </a:solidFill>
                  <a:latin typeface="Arial"/>
                  <a:ea typeface="Arial"/>
                  <a:cs typeface="Arial"/>
                  <a:sym typeface="Arial"/>
                </a:rPr>
                <a:t> Μην αποθηκεύσεις plaintext passwords, μην χρησιμοποιήσεις session cookies.</a:t>
              </a:r>
              <a:br>
                <a:rPr b="0" lang="el" sz="950">
                  <a:solidFill>
                    <a:srgbClr val="1E293B"/>
                  </a:solidFill>
                  <a:latin typeface="Arial"/>
                  <a:ea typeface="Arial"/>
                  <a:cs typeface="Arial"/>
                  <a:sym typeface="Arial"/>
                </a:rPr>
              </a:br>
              <a:r>
                <a:rPr b="1" lang="el" sz="950">
                  <a:solidFill>
                    <a:srgbClr val="2563EB"/>
                  </a:solidFill>
                  <a:latin typeface="Arial"/>
                  <a:ea typeface="Arial"/>
                  <a:cs typeface="Arial"/>
                  <a:sym typeface="Arial"/>
                </a:rPr>
                <a:t>## Acceptance Criteria:</a:t>
              </a:r>
              <a:br>
                <a:rPr b="0" lang="el" sz="950">
                  <a:solidFill>
                    <a:srgbClr val="1E293B"/>
                  </a:solidFill>
                  <a:latin typeface="Arial"/>
                  <a:ea typeface="Arial"/>
                  <a:cs typeface="Arial"/>
                  <a:sym typeface="Arial"/>
                </a:rPr>
              </a:br>
              <a:r>
                <a:rPr b="0" lang="el" sz="950">
                  <a:solidFill>
                    <a:srgbClr val="1E293B"/>
                  </a:solidFill>
                  <a:latin typeface="Arial"/>
                  <a:ea typeface="Arial"/>
                  <a:cs typeface="Arial"/>
                  <a:sym typeface="Arial"/>
                </a:rPr>
                <a:t>1. Σαφής χειρισμός αποτυχημένης σύνδεσης (401 Unauthorized).</a:t>
              </a:r>
              <a:br>
                <a:rPr b="0" lang="el" sz="950">
                  <a:solidFill>
                    <a:srgbClr val="1E293B"/>
                  </a:solidFill>
                  <a:latin typeface="Arial"/>
                  <a:ea typeface="Arial"/>
                  <a:cs typeface="Arial"/>
                  <a:sym typeface="Arial"/>
                </a:rPr>
              </a:br>
              <a:r>
                <a:rPr b="0" lang="el" sz="950">
                  <a:solidFill>
                    <a:srgbClr val="1E293B"/>
                  </a:solidFill>
                  <a:latin typeface="Arial"/>
                  <a:ea typeface="Arial"/>
                  <a:cs typeface="Arial"/>
                  <a:sym typeface="Arial"/>
                </a:rPr>
                <a:t>2. Γράψε unit tests για επιτυχημένα &amp; αποτυχημένα σενάρια.</a:t>
              </a:r>
              <a:endParaRPr b="0" sz="950">
                <a:solidFill>
                  <a:srgbClr val="1E293B"/>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0" name="Shape 250"/>
        <p:cNvGrpSpPr/>
        <p:nvPr/>
      </p:nvGrpSpPr>
      <p:grpSpPr>
        <a:xfrm>
          <a:off x="0" y="0"/>
          <a:ext cx="0" cy="0"/>
          <a:chOff x="0" y="0"/>
          <a:chExt cx="0" cy="0"/>
        </a:xfrm>
      </p:grpSpPr>
      <p:sp>
        <p:nvSpPr>
          <p:cNvPr id="251" name="Google Shape;251;p26"/>
          <p:cNvSpPr txBox="1"/>
          <p:nvPr/>
        </p:nvSpPr>
        <p:spPr>
          <a:xfrm>
            <a:off x="381000" y="333375"/>
            <a:ext cx="8382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2400">
                <a:solidFill>
                  <a:srgbClr val="111827"/>
                </a:solidFill>
                <a:latin typeface="Arial"/>
                <a:ea typeface="Arial"/>
                <a:cs typeface="Arial"/>
                <a:sym typeface="Arial"/>
              </a:rPr>
              <a:t>Δώσε στην AI το σωστό context</a:t>
            </a:r>
            <a:endParaRPr b="1" sz="2400">
              <a:solidFill>
                <a:srgbClr val="111827"/>
              </a:solidFill>
              <a:latin typeface="Arial"/>
              <a:ea typeface="Arial"/>
              <a:cs typeface="Arial"/>
              <a:sym typeface="Arial"/>
            </a:endParaRPr>
          </a:p>
        </p:txBody>
      </p:sp>
      <p:grpSp>
        <p:nvGrpSpPr>
          <p:cNvPr id="252" name="Google Shape;252;p26"/>
          <p:cNvGrpSpPr/>
          <p:nvPr/>
        </p:nvGrpSpPr>
        <p:grpSpPr>
          <a:xfrm>
            <a:off x="381000" y="857250"/>
            <a:ext cx="1952700" cy="904800"/>
            <a:chOff x="0" y="0"/>
            <a:chExt cx="1952700" cy="904800"/>
          </a:xfrm>
        </p:grpSpPr>
        <p:sp>
          <p:nvSpPr>
            <p:cNvPr id="253" name="Google Shape;253;p26"/>
            <p:cNvSpPr/>
            <p:nvPr/>
          </p:nvSpPr>
          <p:spPr>
            <a:xfrm>
              <a:off x="0" y="0"/>
              <a:ext cx="1952700" cy="904800"/>
            </a:xfrm>
            <a:prstGeom prst="roundRect">
              <a:avLst>
                <a:gd fmla="val 1263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6"/>
            <p:cNvSpPr/>
            <p:nvPr/>
          </p:nvSpPr>
          <p:spPr>
            <a:xfrm>
              <a:off x="133350" y="133350"/>
              <a:ext cx="266700" cy="2667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6"/>
            <p:cNvSpPr/>
            <p:nvPr/>
          </p:nvSpPr>
          <p:spPr>
            <a:xfrm>
              <a:off x="190500" y="200025"/>
              <a:ext cx="152400" cy="76200"/>
            </a:xfrm>
            <a:custGeom>
              <a:rect b="b" l="l" r="r" t="t"/>
              <a:pathLst>
                <a:path extrusionOk="0" h="120000" w="120000">
                  <a:moveTo>
                    <a:pt x="22500" y="105000"/>
                  </a:moveTo>
                  <a:lnTo>
                    <a:pt x="0" y="60000"/>
                  </a:lnTo>
                  <a:moveTo>
                    <a:pt x="0" y="60000"/>
                  </a:moveTo>
                  <a:lnTo>
                    <a:pt x="22500" y="15000"/>
                  </a:lnTo>
                  <a:moveTo>
                    <a:pt x="97500" y="105000"/>
                  </a:moveTo>
                  <a:lnTo>
                    <a:pt x="120000" y="60000"/>
                  </a:lnTo>
                  <a:moveTo>
                    <a:pt x="120000" y="60000"/>
                  </a:moveTo>
                  <a:lnTo>
                    <a:pt x="97500" y="15000"/>
                  </a:lnTo>
                  <a:moveTo>
                    <a:pt x="75000" y="0"/>
                  </a:moveTo>
                  <a:lnTo>
                    <a:pt x="45000" y="120000"/>
                  </a:lnTo>
                </a:path>
              </a:pathLst>
            </a:custGeom>
            <a:solidFill>
              <a:srgbClr val="000000">
                <a:alpha val="0"/>
              </a:srgbClr>
            </a:solidFill>
            <a:ln cap="rnd"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26"/>
            <p:cNvSpPr txBox="1"/>
            <p:nvPr/>
          </p:nvSpPr>
          <p:spPr>
            <a:xfrm>
              <a:off x="142875" y="457200"/>
              <a:ext cx="1666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853">
                  <a:solidFill>
                    <a:srgbClr val="1F2937"/>
                  </a:solidFill>
                  <a:latin typeface="Arial"/>
                  <a:ea typeface="Arial"/>
                  <a:cs typeface="Arial"/>
                  <a:sym typeface="Arial"/>
                </a:rPr>
                <a:t>1. Κώδικας</a:t>
              </a:r>
              <a:endParaRPr b="1" sz="853">
                <a:solidFill>
                  <a:srgbClr val="1F2937"/>
                </a:solidFill>
                <a:latin typeface="Arial"/>
                <a:ea typeface="Arial"/>
                <a:cs typeface="Arial"/>
                <a:sym typeface="Arial"/>
              </a:endParaRPr>
            </a:p>
            <a:p>
              <a:pPr indent="0" lvl="0" marL="0" rtl="0" algn="l">
                <a:spcBef>
                  <a:spcPts val="150"/>
                </a:spcBef>
                <a:spcAft>
                  <a:spcPts val="0"/>
                </a:spcAft>
                <a:buNone/>
              </a:pPr>
              <a:r>
                <a:rPr b="0" lang="el" sz="698">
                  <a:solidFill>
                    <a:srgbClr val="6B7280"/>
                  </a:solidFill>
                  <a:latin typeface="Arial"/>
                  <a:ea typeface="Arial"/>
                  <a:cs typeface="Arial"/>
                  <a:sym typeface="Arial"/>
                </a:rPr>
                <a:t>Δομή έργου &amp; υφιστάμενες υλοποιήσεις</a:t>
              </a:r>
              <a:endParaRPr b="0" sz="698">
                <a:solidFill>
                  <a:srgbClr val="6B7280"/>
                </a:solidFill>
                <a:latin typeface="Arial"/>
                <a:ea typeface="Arial"/>
                <a:cs typeface="Arial"/>
                <a:sym typeface="Arial"/>
              </a:endParaRPr>
            </a:p>
          </p:txBody>
        </p:sp>
      </p:grpSp>
      <p:grpSp>
        <p:nvGrpSpPr>
          <p:cNvPr id="257" name="Google Shape;257;p26"/>
          <p:cNvGrpSpPr/>
          <p:nvPr/>
        </p:nvGrpSpPr>
        <p:grpSpPr>
          <a:xfrm>
            <a:off x="2524125" y="857250"/>
            <a:ext cx="1952700" cy="904800"/>
            <a:chOff x="0" y="0"/>
            <a:chExt cx="1952700" cy="904800"/>
          </a:xfrm>
        </p:grpSpPr>
        <p:sp>
          <p:nvSpPr>
            <p:cNvPr id="258" name="Google Shape;258;p26"/>
            <p:cNvSpPr/>
            <p:nvPr/>
          </p:nvSpPr>
          <p:spPr>
            <a:xfrm>
              <a:off x="0" y="0"/>
              <a:ext cx="1952700" cy="904800"/>
            </a:xfrm>
            <a:prstGeom prst="roundRect">
              <a:avLst>
                <a:gd fmla="val 1263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26"/>
            <p:cNvSpPr/>
            <p:nvPr/>
          </p:nvSpPr>
          <p:spPr>
            <a:xfrm>
              <a:off x="133350" y="133350"/>
              <a:ext cx="266700" cy="266700"/>
            </a:xfrm>
            <a:prstGeom prst="ellipse">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p:nvPr/>
          </p:nvSpPr>
          <p:spPr>
            <a:xfrm>
              <a:off x="219075" y="200025"/>
              <a:ext cx="95400" cy="76200"/>
            </a:xfrm>
            <a:custGeom>
              <a:rect b="b" l="l" r="r" t="t"/>
              <a:pathLst>
                <a:path extrusionOk="0" h="120000" w="120000">
                  <a:moveTo>
                    <a:pt x="0" y="0"/>
                  </a:moveTo>
                  <a:lnTo>
                    <a:pt x="96000" y="0"/>
                  </a:lnTo>
                  <a:moveTo>
                    <a:pt x="0" y="60000"/>
                  </a:moveTo>
                  <a:lnTo>
                    <a:pt x="120000" y="60000"/>
                  </a:lnTo>
                  <a:moveTo>
                    <a:pt x="0" y="120000"/>
                  </a:moveTo>
                  <a:lnTo>
                    <a:pt x="72000" y="120000"/>
                  </a:lnTo>
                </a:path>
              </a:pathLst>
            </a:custGeom>
            <a:solidFill>
              <a:srgbClr val="000000">
                <a:alpha val="0"/>
              </a:srgbClr>
            </a:solidFill>
            <a:ln cap="rnd" cmpd="sng" w="19050">
              <a:solidFill>
                <a:srgbClr val="D9770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6"/>
            <p:cNvSpPr txBox="1"/>
            <p:nvPr/>
          </p:nvSpPr>
          <p:spPr>
            <a:xfrm>
              <a:off x="142875" y="457200"/>
              <a:ext cx="1666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853">
                  <a:solidFill>
                    <a:srgbClr val="1F2937"/>
                  </a:solidFill>
                  <a:latin typeface="Arial"/>
                  <a:ea typeface="Arial"/>
                  <a:cs typeface="Arial"/>
                  <a:sym typeface="Arial"/>
                </a:rPr>
                <a:t>2. Τεκμηρίωση</a:t>
              </a:r>
              <a:endParaRPr b="1" sz="853">
                <a:solidFill>
                  <a:srgbClr val="1F2937"/>
                </a:solidFill>
                <a:latin typeface="Arial"/>
                <a:ea typeface="Arial"/>
                <a:cs typeface="Arial"/>
                <a:sym typeface="Arial"/>
              </a:endParaRPr>
            </a:p>
            <a:p>
              <a:pPr indent="0" lvl="0" marL="0" rtl="0" algn="l">
                <a:spcBef>
                  <a:spcPts val="150"/>
                </a:spcBef>
                <a:spcAft>
                  <a:spcPts val="0"/>
                </a:spcAft>
                <a:buNone/>
              </a:pPr>
              <a:r>
                <a:rPr b="0" lang="el" sz="698">
                  <a:solidFill>
                    <a:srgbClr val="6B7280"/>
                  </a:solidFill>
                  <a:latin typeface="Arial"/>
                  <a:ea typeface="Arial"/>
                  <a:cs typeface="Arial"/>
                  <a:sym typeface="Arial"/>
                </a:rPr>
                <a:t>Docs βιβλιοθηκών &amp; APIs</a:t>
              </a:r>
              <a:endParaRPr b="0" sz="698">
                <a:solidFill>
                  <a:srgbClr val="6B7280"/>
                </a:solidFill>
                <a:latin typeface="Arial"/>
                <a:ea typeface="Arial"/>
                <a:cs typeface="Arial"/>
                <a:sym typeface="Arial"/>
              </a:endParaRPr>
            </a:p>
          </p:txBody>
        </p:sp>
      </p:grpSp>
      <p:grpSp>
        <p:nvGrpSpPr>
          <p:cNvPr id="262" name="Google Shape;262;p26"/>
          <p:cNvGrpSpPr/>
          <p:nvPr/>
        </p:nvGrpSpPr>
        <p:grpSpPr>
          <a:xfrm>
            <a:off x="4667250" y="857250"/>
            <a:ext cx="1952700" cy="904800"/>
            <a:chOff x="0" y="0"/>
            <a:chExt cx="1952700" cy="904800"/>
          </a:xfrm>
        </p:grpSpPr>
        <p:sp>
          <p:nvSpPr>
            <p:cNvPr id="263" name="Google Shape;263;p26"/>
            <p:cNvSpPr/>
            <p:nvPr/>
          </p:nvSpPr>
          <p:spPr>
            <a:xfrm>
              <a:off x="0" y="0"/>
              <a:ext cx="1952700" cy="904800"/>
            </a:xfrm>
            <a:prstGeom prst="roundRect">
              <a:avLst>
                <a:gd fmla="val 1263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26"/>
            <p:cNvSpPr/>
            <p:nvPr/>
          </p:nvSpPr>
          <p:spPr>
            <a:xfrm>
              <a:off x="133350" y="133350"/>
              <a:ext cx="266700" cy="266700"/>
            </a:xfrm>
            <a:prstGeom prst="ellipse">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6"/>
            <p:cNvSpPr/>
            <p:nvPr/>
          </p:nvSpPr>
          <p:spPr>
            <a:xfrm>
              <a:off x="200025" y="200025"/>
              <a:ext cx="133500" cy="133500"/>
            </a:xfrm>
            <a:prstGeom prst="roundRect">
              <a:avLst>
                <a:gd fmla="val 14285" name="adj"/>
              </a:avLst>
            </a:prstGeom>
            <a:solidFill>
              <a:srgbClr val="000000">
                <a:alpha val="0"/>
              </a:srgbClr>
            </a:solidFill>
            <a:ln cap="flat" cmpd="sng" w="19050">
              <a:solidFill>
                <a:srgbClr val="16A3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p:nvPr/>
          </p:nvSpPr>
          <p:spPr>
            <a:xfrm>
              <a:off x="223838" y="223838"/>
              <a:ext cx="28500" cy="28500"/>
            </a:xfrm>
            <a:prstGeom prst="ellipse">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6"/>
            <p:cNvSpPr/>
            <p:nvPr/>
          </p:nvSpPr>
          <p:spPr>
            <a:xfrm>
              <a:off x="209550" y="257175"/>
              <a:ext cx="114300" cy="47700"/>
            </a:xfrm>
            <a:custGeom>
              <a:rect b="b" l="l" r="r" t="t"/>
              <a:pathLst>
                <a:path extrusionOk="0" h="120000" w="120000">
                  <a:moveTo>
                    <a:pt x="0" y="120000"/>
                  </a:moveTo>
                  <a:lnTo>
                    <a:pt x="40000" y="24000"/>
                  </a:lnTo>
                  <a:lnTo>
                    <a:pt x="70000" y="96000"/>
                  </a:lnTo>
                  <a:lnTo>
                    <a:pt x="100000" y="0"/>
                  </a:lnTo>
                  <a:lnTo>
                    <a:pt x="120000" y="120000"/>
                  </a:lnTo>
                </a:path>
              </a:pathLst>
            </a:custGeom>
            <a:solidFill>
              <a:srgbClr val="000000">
                <a:alpha val="0"/>
              </a:srgbClr>
            </a:solidFill>
            <a:ln cap="rnd" cmpd="sng" w="14300">
              <a:solidFill>
                <a:srgbClr val="16A3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6"/>
            <p:cNvSpPr txBox="1"/>
            <p:nvPr/>
          </p:nvSpPr>
          <p:spPr>
            <a:xfrm>
              <a:off x="142875" y="457200"/>
              <a:ext cx="1666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853">
                  <a:solidFill>
                    <a:srgbClr val="1F2937"/>
                  </a:solidFill>
                  <a:latin typeface="Arial"/>
                  <a:ea typeface="Arial"/>
                  <a:cs typeface="Arial"/>
                  <a:sym typeface="Arial"/>
                </a:rPr>
                <a:t>3. Visual Context</a:t>
              </a:r>
              <a:endParaRPr b="1" sz="853">
                <a:solidFill>
                  <a:srgbClr val="1F2937"/>
                </a:solidFill>
                <a:latin typeface="Arial"/>
                <a:ea typeface="Arial"/>
                <a:cs typeface="Arial"/>
                <a:sym typeface="Arial"/>
              </a:endParaRPr>
            </a:p>
            <a:p>
              <a:pPr indent="0" lvl="0" marL="0" rtl="0" algn="l">
                <a:spcBef>
                  <a:spcPts val="150"/>
                </a:spcBef>
                <a:spcAft>
                  <a:spcPts val="0"/>
                </a:spcAft>
                <a:buNone/>
              </a:pPr>
              <a:r>
                <a:rPr b="0" lang="el" sz="698">
                  <a:solidFill>
                    <a:srgbClr val="6B7280"/>
                  </a:solidFill>
                  <a:latin typeface="Arial"/>
                  <a:ea typeface="Arial"/>
                  <a:cs typeface="Arial"/>
                  <a:sym typeface="Arial"/>
                </a:rPr>
                <a:t>Screenshots &amp; σχεδιαγράμματα UI</a:t>
              </a:r>
              <a:endParaRPr b="0" sz="698">
                <a:solidFill>
                  <a:srgbClr val="6B7280"/>
                </a:solidFill>
                <a:latin typeface="Arial"/>
                <a:ea typeface="Arial"/>
                <a:cs typeface="Arial"/>
                <a:sym typeface="Arial"/>
              </a:endParaRPr>
            </a:p>
          </p:txBody>
        </p:sp>
      </p:grpSp>
      <p:grpSp>
        <p:nvGrpSpPr>
          <p:cNvPr id="269" name="Google Shape;269;p26"/>
          <p:cNvGrpSpPr/>
          <p:nvPr/>
        </p:nvGrpSpPr>
        <p:grpSpPr>
          <a:xfrm>
            <a:off x="6810375" y="857250"/>
            <a:ext cx="1952700" cy="904800"/>
            <a:chOff x="0" y="0"/>
            <a:chExt cx="1952700" cy="904800"/>
          </a:xfrm>
        </p:grpSpPr>
        <p:sp>
          <p:nvSpPr>
            <p:cNvPr id="270" name="Google Shape;270;p26"/>
            <p:cNvSpPr/>
            <p:nvPr/>
          </p:nvSpPr>
          <p:spPr>
            <a:xfrm>
              <a:off x="0" y="0"/>
              <a:ext cx="1952700" cy="904800"/>
            </a:xfrm>
            <a:prstGeom prst="roundRect">
              <a:avLst>
                <a:gd fmla="val 1263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26"/>
            <p:cNvSpPr/>
            <p:nvPr/>
          </p:nvSpPr>
          <p:spPr>
            <a:xfrm>
              <a:off x="133350" y="133350"/>
              <a:ext cx="266700" cy="266700"/>
            </a:xfrm>
            <a:prstGeom prst="ellipse">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6"/>
            <p:cNvSpPr/>
            <p:nvPr/>
          </p:nvSpPr>
          <p:spPr>
            <a:xfrm>
              <a:off x="209550" y="209550"/>
              <a:ext cx="114300" cy="95400"/>
            </a:xfrm>
            <a:custGeom>
              <a:rect b="b" l="l" r="r" t="t"/>
              <a:pathLst>
                <a:path extrusionOk="0" h="120000" w="120000">
                  <a:moveTo>
                    <a:pt x="0" y="12000"/>
                  </a:moveTo>
                  <a:lnTo>
                    <a:pt x="40000" y="12000"/>
                  </a:lnTo>
                  <a:moveTo>
                    <a:pt x="0" y="72000"/>
                  </a:moveTo>
                  <a:lnTo>
                    <a:pt x="40000" y="72000"/>
                  </a:lnTo>
                  <a:moveTo>
                    <a:pt x="70000" y="0"/>
                  </a:moveTo>
                  <a:lnTo>
                    <a:pt x="120000" y="0"/>
                  </a:lnTo>
                  <a:lnTo>
                    <a:pt x="120000" y="120000"/>
                  </a:lnTo>
                  <a:lnTo>
                    <a:pt x="70000" y="120000"/>
                  </a:lnTo>
                  <a:close/>
                </a:path>
              </a:pathLst>
            </a:custGeom>
            <a:solidFill>
              <a:srgbClr val="000000">
                <a:alpha val="0"/>
              </a:srgbClr>
            </a:solidFill>
            <a:ln cap="rnd" cmpd="sng" w="14300">
              <a:solidFill>
                <a:srgbClr val="9333E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26"/>
            <p:cNvSpPr txBox="1"/>
            <p:nvPr/>
          </p:nvSpPr>
          <p:spPr>
            <a:xfrm>
              <a:off x="142875" y="457200"/>
              <a:ext cx="1666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853">
                  <a:solidFill>
                    <a:srgbClr val="1F2937"/>
                  </a:solidFill>
                  <a:latin typeface="Arial"/>
                  <a:ea typeface="Arial"/>
                  <a:cs typeface="Arial"/>
                  <a:sym typeface="Arial"/>
                </a:rPr>
                <a:t>4. Κανόνες Έργου</a:t>
              </a:r>
              <a:endParaRPr b="1" sz="853">
                <a:solidFill>
                  <a:srgbClr val="1F2937"/>
                </a:solidFill>
                <a:latin typeface="Arial"/>
                <a:ea typeface="Arial"/>
                <a:cs typeface="Arial"/>
                <a:sym typeface="Arial"/>
              </a:endParaRPr>
            </a:p>
            <a:p>
              <a:pPr indent="0" lvl="0" marL="0" rtl="0" algn="l">
                <a:spcBef>
                  <a:spcPts val="150"/>
                </a:spcBef>
                <a:spcAft>
                  <a:spcPts val="0"/>
                </a:spcAft>
                <a:buNone/>
              </a:pPr>
              <a:r>
                <a:rPr b="0" lang="el" sz="698">
                  <a:solidFill>
                    <a:srgbClr val="6B7280"/>
                  </a:solidFill>
                  <a:latin typeface="Arial"/>
                  <a:ea typeface="Arial"/>
                  <a:cs typeface="Arial"/>
                  <a:sym typeface="Arial"/>
                </a:rPr>
                <a:t>Συμβάσεις &amp; περιορισμοί (AGENTS.md)</a:t>
              </a:r>
              <a:endParaRPr b="0" sz="698">
                <a:solidFill>
                  <a:srgbClr val="6B7280"/>
                </a:solidFill>
                <a:latin typeface="Arial"/>
                <a:ea typeface="Arial"/>
                <a:cs typeface="Arial"/>
                <a:sym typeface="Arial"/>
              </a:endParaRPr>
            </a:p>
          </p:txBody>
        </p:sp>
      </p:grpSp>
      <p:grpSp>
        <p:nvGrpSpPr>
          <p:cNvPr id="274" name="Google Shape;274;p26"/>
          <p:cNvGrpSpPr/>
          <p:nvPr/>
        </p:nvGrpSpPr>
        <p:grpSpPr>
          <a:xfrm>
            <a:off x="5476875" y="1905000"/>
            <a:ext cx="3286200" cy="2952900"/>
            <a:chOff x="0" y="0"/>
            <a:chExt cx="3286200" cy="2952900"/>
          </a:xfrm>
        </p:grpSpPr>
        <p:sp>
          <p:nvSpPr>
            <p:cNvPr id="275" name="Google Shape;275;p26"/>
            <p:cNvSpPr/>
            <p:nvPr/>
          </p:nvSpPr>
          <p:spPr>
            <a:xfrm>
              <a:off x="0" y="0"/>
              <a:ext cx="3286200" cy="2952900"/>
            </a:xfrm>
            <a:prstGeom prst="roundRect">
              <a:avLst>
                <a:gd fmla="val 3870"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6"/>
            <p:cNvSpPr txBox="1"/>
            <p:nvPr/>
          </p:nvSpPr>
          <p:spPr>
            <a:xfrm>
              <a:off x="228600" y="285750"/>
              <a:ext cx="2829000" cy="238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l" sz="1300">
                  <a:solidFill>
                    <a:srgbClr val="2563EB"/>
                  </a:solidFill>
                  <a:latin typeface="Arial"/>
                  <a:ea typeface="Arial"/>
                  <a:cs typeface="Arial"/>
                  <a:sym typeface="Arial"/>
                </a:rPr>
                <a:t>«Το context είναι μέρος της μηχανικής, όχι απλώς μέρος του prompt.»</a:t>
              </a:r>
              <a:endParaRPr b="1" sz="1300">
                <a:solidFill>
                  <a:srgbClr val="2563EB"/>
                </a:solidFill>
                <a:latin typeface="Arial"/>
                <a:ea typeface="Arial"/>
                <a:cs typeface="Arial"/>
                <a:sym typeface="Arial"/>
              </a:endParaRPr>
            </a:p>
          </p:txBody>
        </p:sp>
      </p:grpSp>
      <p:pic>
        <p:nvPicPr>
          <p:cNvPr id="277" name="Google Shape;277;p26" title="slide11.jpeg"/>
          <p:cNvPicPr preferRelativeResize="0"/>
          <p:nvPr/>
        </p:nvPicPr>
        <p:blipFill>
          <a:blip r:embed="rId3">
            <a:alphaModFix/>
          </a:blip>
          <a:stretch>
            <a:fillRect/>
          </a:stretch>
        </p:blipFill>
        <p:spPr>
          <a:xfrm>
            <a:off x="380999" y="1978740"/>
            <a:ext cx="5018423" cy="280098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81" name="Shape 281"/>
        <p:cNvGrpSpPr/>
        <p:nvPr/>
      </p:nvGrpSpPr>
      <p:grpSpPr>
        <a:xfrm>
          <a:off x="0" y="0"/>
          <a:ext cx="0" cy="0"/>
          <a:chOff x="0" y="0"/>
          <a:chExt cx="0" cy="0"/>
        </a:xfrm>
      </p:grpSpPr>
      <p:sp>
        <p:nvSpPr>
          <p:cNvPr id="282" name="Google Shape;282;p27"/>
          <p:cNvSpPr txBox="1"/>
          <p:nvPr/>
        </p:nvSpPr>
        <p:spPr>
          <a:xfrm>
            <a:off x="381000" y="333375"/>
            <a:ext cx="8382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l" sz="2400">
                <a:solidFill>
                  <a:srgbClr val="111827"/>
                </a:solidFill>
                <a:latin typeface="Arial"/>
                <a:ea typeface="Arial"/>
                <a:cs typeface="Arial"/>
                <a:sym typeface="Arial"/>
              </a:rPr>
              <a:t>Το Git είναι το δίχτυ ασφαλείας σου</a:t>
            </a:r>
            <a:endParaRPr b="1" sz="2400">
              <a:solidFill>
                <a:srgbClr val="111827"/>
              </a:solidFill>
              <a:latin typeface="Arial"/>
              <a:ea typeface="Arial"/>
              <a:cs typeface="Arial"/>
              <a:sym typeface="Arial"/>
            </a:endParaRPr>
          </a:p>
        </p:txBody>
      </p:sp>
      <p:grpSp>
        <p:nvGrpSpPr>
          <p:cNvPr id="283" name="Google Shape;283;p27"/>
          <p:cNvGrpSpPr/>
          <p:nvPr/>
        </p:nvGrpSpPr>
        <p:grpSpPr>
          <a:xfrm>
            <a:off x="381000" y="857250"/>
            <a:ext cx="1952700" cy="809700"/>
            <a:chOff x="0" y="0"/>
            <a:chExt cx="1952700" cy="809700"/>
          </a:xfrm>
        </p:grpSpPr>
        <p:sp>
          <p:nvSpPr>
            <p:cNvPr id="284" name="Google Shape;284;p27"/>
            <p:cNvSpPr/>
            <p:nvPr/>
          </p:nvSpPr>
          <p:spPr>
            <a:xfrm>
              <a:off x="0" y="0"/>
              <a:ext cx="1952700" cy="809700"/>
            </a:xfrm>
            <a:prstGeom prst="roundRect">
              <a:avLst>
                <a:gd fmla="val 14117"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7"/>
            <p:cNvSpPr txBox="1"/>
            <p:nvPr/>
          </p:nvSpPr>
          <p:spPr>
            <a:xfrm>
              <a:off x="142875" y="142875"/>
              <a:ext cx="16668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200">
                  <a:solidFill>
                    <a:srgbClr val="2563EB"/>
                  </a:solidFill>
                  <a:latin typeface="Arial"/>
                  <a:ea typeface="Arial"/>
                  <a:cs typeface="Arial"/>
                  <a:sym typeface="Arial"/>
                </a:rPr>
                <a:t>1. </a:t>
              </a:r>
              <a:r>
                <a:rPr b="1" lang="el" sz="1100">
                  <a:solidFill>
                    <a:srgbClr val="1F2937"/>
                  </a:solidFill>
                  <a:latin typeface="Arial"/>
                  <a:ea typeface="Arial"/>
                  <a:cs typeface="Arial"/>
                  <a:sym typeface="Arial"/>
                </a:rPr>
                <a:t>Checkpoint</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6B7280"/>
                  </a:solidFill>
                  <a:latin typeface="Arial"/>
                  <a:ea typeface="Arial"/>
                  <a:cs typeface="Arial"/>
                  <a:sym typeface="Arial"/>
                </a:rPr>
                <a:t>Καθαρή αρχική κατάσταση</a:t>
              </a:r>
              <a:endParaRPr b="0" sz="850">
                <a:solidFill>
                  <a:srgbClr val="6B7280"/>
                </a:solidFill>
                <a:latin typeface="Arial"/>
                <a:ea typeface="Arial"/>
                <a:cs typeface="Arial"/>
                <a:sym typeface="Arial"/>
              </a:endParaRPr>
            </a:p>
          </p:txBody>
        </p:sp>
      </p:grpSp>
      <p:sp>
        <p:nvSpPr>
          <p:cNvPr id="286" name="Google Shape;286;p27"/>
          <p:cNvSpPr/>
          <p:nvPr/>
        </p:nvSpPr>
        <p:spPr>
          <a:xfrm>
            <a:off x="2381250" y="1223963"/>
            <a:ext cx="95400" cy="76200"/>
          </a:xfrm>
          <a:custGeom>
            <a:rect b="b" l="l" r="r" t="t"/>
            <a:pathLst>
              <a:path extrusionOk="0" h="120000" w="120000">
                <a:moveTo>
                  <a:pt x="0" y="60000"/>
                </a:moveTo>
                <a:lnTo>
                  <a:pt x="120000" y="60000"/>
                </a:lnTo>
                <a:moveTo>
                  <a:pt x="72000" y="0"/>
                </a:moveTo>
                <a:lnTo>
                  <a:pt x="120000" y="60000"/>
                </a:lnTo>
                <a:lnTo>
                  <a:pt x="72000" y="120000"/>
                </a:lnTo>
              </a:path>
            </a:pathLst>
          </a:custGeom>
          <a:solidFill>
            <a:srgbClr val="000000">
              <a:alpha val="0"/>
            </a:srgbClr>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87" name="Google Shape;287;p27"/>
          <p:cNvGrpSpPr/>
          <p:nvPr/>
        </p:nvGrpSpPr>
        <p:grpSpPr>
          <a:xfrm>
            <a:off x="2524125" y="857250"/>
            <a:ext cx="1952700" cy="809700"/>
            <a:chOff x="0" y="0"/>
            <a:chExt cx="1952700" cy="809700"/>
          </a:xfrm>
        </p:grpSpPr>
        <p:sp>
          <p:nvSpPr>
            <p:cNvPr id="288" name="Google Shape;288;p27"/>
            <p:cNvSpPr/>
            <p:nvPr/>
          </p:nvSpPr>
          <p:spPr>
            <a:xfrm>
              <a:off x="0" y="0"/>
              <a:ext cx="1952700" cy="809700"/>
            </a:xfrm>
            <a:prstGeom prst="roundRect">
              <a:avLst>
                <a:gd fmla="val 14117"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27"/>
            <p:cNvSpPr txBox="1"/>
            <p:nvPr/>
          </p:nvSpPr>
          <p:spPr>
            <a:xfrm>
              <a:off x="142875" y="142875"/>
              <a:ext cx="16668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200">
                  <a:solidFill>
                    <a:srgbClr val="2563EB"/>
                  </a:solidFill>
                  <a:latin typeface="Arial"/>
                  <a:ea typeface="Arial"/>
                  <a:cs typeface="Arial"/>
                  <a:sym typeface="Arial"/>
                </a:rPr>
                <a:t>2. </a:t>
              </a:r>
              <a:r>
                <a:rPr b="1" lang="el" sz="1100">
                  <a:solidFill>
                    <a:srgbClr val="1F2937"/>
                  </a:solidFill>
                  <a:latin typeface="Arial"/>
                  <a:ea typeface="Arial"/>
                  <a:cs typeface="Arial"/>
                  <a:sym typeface="Arial"/>
                </a:rPr>
                <a:t>Αλλαγή</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6B7280"/>
                  </a:solidFill>
                  <a:latin typeface="Arial"/>
                  <a:ea typeface="Arial"/>
                  <a:cs typeface="Arial"/>
                  <a:sym typeface="Arial"/>
                </a:rPr>
                <a:t>Μικρά, εστιασμένα edits</a:t>
              </a:r>
              <a:endParaRPr b="0" sz="850">
                <a:solidFill>
                  <a:srgbClr val="6B7280"/>
                </a:solidFill>
                <a:latin typeface="Arial"/>
                <a:ea typeface="Arial"/>
                <a:cs typeface="Arial"/>
                <a:sym typeface="Arial"/>
              </a:endParaRPr>
            </a:p>
          </p:txBody>
        </p:sp>
      </p:grpSp>
      <p:sp>
        <p:nvSpPr>
          <p:cNvPr id="290" name="Google Shape;290;p27"/>
          <p:cNvSpPr/>
          <p:nvPr/>
        </p:nvSpPr>
        <p:spPr>
          <a:xfrm>
            <a:off x="4524375" y="1223963"/>
            <a:ext cx="95400" cy="76200"/>
          </a:xfrm>
          <a:custGeom>
            <a:rect b="b" l="l" r="r" t="t"/>
            <a:pathLst>
              <a:path extrusionOk="0" h="120000" w="120000">
                <a:moveTo>
                  <a:pt x="0" y="60000"/>
                </a:moveTo>
                <a:lnTo>
                  <a:pt x="120000" y="60000"/>
                </a:lnTo>
                <a:moveTo>
                  <a:pt x="72000" y="0"/>
                </a:moveTo>
                <a:lnTo>
                  <a:pt x="120000" y="60000"/>
                </a:lnTo>
                <a:lnTo>
                  <a:pt x="72000" y="120000"/>
                </a:lnTo>
              </a:path>
            </a:pathLst>
          </a:custGeom>
          <a:solidFill>
            <a:srgbClr val="000000">
              <a:alpha val="0"/>
            </a:srgbClr>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1" name="Google Shape;291;p27"/>
          <p:cNvGrpSpPr/>
          <p:nvPr/>
        </p:nvGrpSpPr>
        <p:grpSpPr>
          <a:xfrm>
            <a:off x="4667250" y="857250"/>
            <a:ext cx="1952700" cy="809700"/>
            <a:chOff x="0" y="0"/>
            <a:chExt cx="1952700" cy="809700"/>
          </a:xfrm>
        </p:grpSpPr>
        <p:sp>
          <p:nvSpPr>
            <p:cNvPr id="292" name="Google Shape;292;p27"/>
            <p:cNvSpPr/>
            <p:nvPr/>
          </p:nvSpPr>
          <p:spPr>
            <a:xfrm>
              <a:off x="0" y="0"/>
              <a:ext cx="1952700" cy="809700"/>
            </a:xfrm>
            <a:prstGeom prst="roundRect">
              <a:avLst>
                <a:gd fmla="val 14117"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27"/>
            <p:cNvSpPr txBox="1"/>
            <p:nvPr/>
          </p:nvSpPr>
          <p:spPr>
            <a:xfrm>
              <a:off x="142875" y="142875"/>
              <a:ext cx="16668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200">
                  <a:solidFill>
                    <a:srgbClr val="2563EB"/>
                  </a:solidFill>
                  <a:latin typeface="Arial"/>
                  <a:ea typeface="Arial"/>
                  <a:cs typeface="Arial"/>
                  <a:sym typeface="Arial"/>
                </a:rPr>
                <a:t>3. </a:t>
              </a:r>
              <a:r>
                <a:rPr b="1" lang="el" sz="1100">
                  <a:solidFill>
                    <a:srgbClr val="1F2937"/>
                  </a:solidFill>
                  <a:latin typeface="Arial"/>
                  <a:ea typeface="Arial"/>
                  <a:cs typeface="Arial"/>
                  <a:sym typeface="Arial"/>
                </a:rPr>
                <a:t>Έλεγχος</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6B7280"/>
                  </a:solidFill>
                  <a:latin typeface="Arial"/>
                  <a:ea typeface="Arial"/>
                  <a:cs typeface="Arial"/>
                  <a:sym typeface="Arial"/>
                </a:rPr>
                <a:t>Επιθεώρηση diff &amp; tests</a:t>
              </a:r>
              <a:endParaRPr b="0" sz="850">
                <a:solidFill>
                  <a:srgbClr val="6B7280"/>
                </a:solidFill>
                <a:latin typeface="Arial"/>
                <a:ea typeface="Arial"/>
                <a:cs typeface="Arial"/>
                <a:sym typeface="Arial"/>
              </a:endParaRPr>
            </a:p>
          </p:txBody>
        </p:sp>
      </p:grpSp>
      <p:sp>
        <p:nvSpPr>
          <p:cNvPr id="294" name="Google Shape;294;p27"/>
          <p:cNvSpPr/>
          <p:nvPr/>
        </p:nvSpPr>
        <p:spPr>
          <a:xfrm>
            <a:off x="6667500" y="1223963"/>
            <a:ext cx="95400" cy="76200"/>
          </a:xfrm>
          <a:custGeom>
            <a:rect b="b" l="l" r="r" t="t"/>
            <a:pathLst>
              <a:path extrusionOk="0" h="120000" w="120000">
                <a:moveTo>
                  <a:pt x="0" y="60000"/>
                </a:moveTo>
                <a:lnTo>
                  <a:pt x="120000" y="60000"/>
                </a:lnTo>
                <a:moveTo>
                  <a:pt x="72000" y="0"/>
                </a:moveTo>
                <a:lnTo>
                  <a:pt x="120000" y="60000"/>
                </a:lnTo>
                <a:lnTo>
                  <a:pt x="72000" y="120000"/>
                </a:lnTo>
              </a:path>
            </a:pathLst>
          </a:custGeom>
          <a:solidFill>
            <a:srgbClr val="000000">
              <a:alpha val="0"/>
            </a:srgbClr>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5" name="Google Shape;295;p27"/>
          <p:cNvGrpSpPr/>
          <p:nvPr/>
        </p:nvGrpSpPr>
        <p:grpSpPr>
          <a:xfrm>
            <a:off x="6810375" y="857250"/>
            <a:ext cx="1952700" cy="809700"/>
            <a:chOff x="0" y="0"/>
            <a:chExt cx="1952700" cy="809700"/>
          </a:xfrm>
        </p:grpSpPr>
        <p:sp>
          <p:nvSpPr>
            <p:cNvPr id="296" name="Google Shape;296;p27"/>
            <p:cNvSpPr/>
            <p:nvPr/>
          </p:nvSpPr>
          <p:spPr>
            <a:xfrm>
              <a:off x="0" y="0"/>
              <a:ext cx="1952700" cy="809700"/>
            </a:xfrm>
            <a:prstGeom prst="roundRect">
              <a:avLst>
                <a:gd fmla="val 14117"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7"/>
            <p:cNvSpPr txBox="1"/>
            <p:nvPr/>
          </p:nvSpPr>
          <p:spPr>
            <a:xfrm>
              <a:off x="142875" y="142875"/>
              <a:ext cx="16668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200">
                  <a:solidFill>
                    <a:srgbClr val="2563EB"/>
                  </a:solidFill>
                  <a:latin typeface="Arial"/>
                  <a:ea typeface="Arial"/>
                  <a:cs typeface="Arial"/>
                  <a:sym typeface="Arial"/>
                </a:rPr>
                <a:t>4. </a:t>
              </a:r>
              <a:r>
                <a:rPr b="1" lang="el" sz="1100">
                  <a:solidFill>
                    <a:srgbClr val="1F2937"/>
                  </a:solidFill>
                  <a:latin typeface="Arial"/>
                  <a:ea typeface="Arial"/>
                  <a:cs typeface="Arial"/>
                  <a:sym typeface="Arial"/>
                </a:rPr>
                <a:t>Commit / Rollback</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6B7280"/>
                  </a:solidFill>
                  <a:latin typeface="Arial"/>
                  <a:ea typeface="Arial"/>
                  <a:cs typeface="Arial"/>
                  <a:sym typeface="Arial"/>
                </a:rPr>
                <a:t>Αποδοχή ή επαναφορά</a:t>
              </a:r>
              <a:endParaRPr b="0" sz="850">
                <a:solidFill>
                  <a:srgbClr val="6B7280"/>
                </a:solidFill>
                <a:latin typeface="Arial"/>
                <a:ea typeface="Arial"/>
                <a:cs typeface="Arial"/>
                <a:sym typeface="Arial"/>
              </a:endParaRPr>
            </a:p>
          </p:txBody>
        </p:sp>
      </p:grpSp>
      <p:grpSp>
        <p:nvGrpSpPr>
          <p:cNvPr id="298" name="Google Shape;298;p27"/>
          <p:cNvGrpSpPr/>
          <p:nvPr/>
        </p:nvGrpSpPr>
        <p:grpSpPr>
          <a:xfrm>
            <a:off x="381000" y="1857375"/>
            <a:ext cx="4048200" cy="2905200"/>
            <a:chOff x="0" y="0"/>
            <a:chExt cx="4048200" cy="2905200"/>
          </a:xfrm>
        </p:grpSpPr>
        <p:sp>
          <p:nvSpPr>
            <p:cNvPr id="299" name="Google Shape;299;p27"/>
            <p:cNvSpPr/>
            <p:nvPr/>
          </p:nvSpPr>
          <p:spPr>
            <a:xfrm>
              <a:off x="0" y="0"/>
              <a:ext cx="4048200" cy="2905200"/>
            </a:xfrm>
            <a:prstGeom prst="roundRect">
              <a:avLst>
                <a:gd fmla="val 524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7"/>
            <p:cNvSpPr txBox="1"/>
            <p:nvPr/>
          </p:nvSpPr>
          <p:spPr>
            <a:xfrm>
              <a:off x="228600" y="228600"/>
              <a:ext cx="3591000" cy="24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400">
                  <a:solidFill>
                    <a:srgbClr val="1F2937"/>
                  </a:solidFill>
                  <a:latin typeface="Arial"/>
                  <a:ea typeface="Arial"/>
                  <a:cs typeface="Arial"/>
                  <a:sym typeface="Arial"/>
                </a:rPr>
                <a:t>Έλεγχος </a:t>
              </a:r>
              <a:r>
                <a:rPr b="1" lang="el">
                  <a:solidFill>
                    <a:srgbClr val="1F2937"/>
                  </a:solidFill>
                  <a:latin typeface="Arial"/>
                  <a:ea typeface="Arial"/>
                  <a:cs typeface="Arial"/>
                  <a:sym typeface="Arial"/>
                </a:rPr>
                <a:t>α</a:t>
              </a:r>
              <a:r>
                <a:rPr b="1" lang="el" sz="1400">
                  <a:solidFill>
                    <a:srgbClr val="1F2937"/>
                  </a:solidFill>
                  <a:latin typeface="Arial"/>
                  <a:ea typeface="Arial"/>
                  <a:cs typeface="Arial"/>
                  <a:sym typeface="Arial"/>
                </a:rPr>
                <a:t>λλαγών με Git</a:t>
              </a:r>
              <a:endParaRPr b="1" sz="1400">
                <a:solidFill>
                  <a:srgbClr val="1F2937"/>
                </a:solidFill>
                <a:latin typeface="Arial"/>
                <a:ea typeface="Arial"/>
                <a:cs typeface="Arial"/>
                <a:sym typeface="Arial"/>
              </a:endParaRPr>
            </a:p>
            <a:p>
              <a:pPr indent="0" lvl="0" marL="0" rtl="0" algn="l">
                <a:spcBef>
                  <a:spcPts val="900"/>
                </a:spcBef>
                <a:spcAft>
                  <a:spcPts val="0"/>
                </a:spcAft>
                <a:buNone/>
              </a:pPr>
              <a:r>
                <a:rPr b="0" lang="el" sz="1000">
                  <a:solidFill>
                    <a:srgbClr val="4B5563"/>
                  </a:solidFill>
                  <a:latin typeface="Arial"/>
                  <a:ea typeface="Arial"/>
                  <a:cs typeface="Arial"/>
                  <a:sym typeface="Arial"/>
                </a:rPr>
                <a:t>Χωρίς checkpoints, μια μικρή αλλαγή από την AI μπορεί να καταστρέψει κάτι που λειτουργούσε.</a:t>
              </a:r>
              <a:endParaRPr b="0" sz="1000">
                <a:solidFill>
                  <a:srgbClr val="4B5563"/>
                </a:solidFill>
                <a:latin typeface="Arial"/>
                <a:ea typeface="Arial"/>
                <a:cs typeface="Arial"/>
                <a:sym typeface="Arial"/>
              </a:endParaRPr>
            </a:p>
            <a:p>
              <a:pPr indent="0" lvl="0" marL="0" rtl="0" algn="l">
                <a:spcBef>
                  <a:spcPts val="900"/>
                </a:spcBef>
                <a:spcAft>
                  <a:spcPts val="0"/>
                </a:spcAft>
                <a:buNone/>
              </a:pPr>
              <a:r>
                <a:rPr b="1" lang="el" sz="1000">
                  <a:solidFill>
                    <a:srgbClr val="1F2937"/>
                  </a:solidFill>
                  <a:latin typeface="Arial"/>
                  <a:ea typeface="Arial"/>
                  <a:cs typeface="Arial"/>
                  <a:sym typeface="Arial"/>
                </a:rPr>
                <a:t>Τι εξετάζουμε στο Diff:</a:t>
              </a:r>
              <a:endParaRPr b="1" sz="1000">
                <a:solidFill>
                  <a:srgbClr val="1F2937"/>
                </a:solidFill>
                <a:latin typeface="Arial"/>
                <a:ea typeface="Arial"/>
                <a:cs typeface="Arial"/>
                <a:sym typeface="Arial"/>
              </a:endParaRPr>
            </a:p>
            <a:p>
              <a:pPr indent="-292100" lvl="0" marL="457200" rtl="0" algn="l">
                <a:spcBef>
                  <a:spcPts val="450"/>
                </a:spcBef>
                <a:spcAft>
                  <a:spcPts val="0"/>
                </a:spcAft>
                <a:buClr>
                  <a:srgbClr val="4B5563"/>
                </a:buClr>
                <a:buSzPts val="1000"/>
                <a:buFont typeface="Arial"/>
                <a:buChar char="●"/>
              </a:pPr>
              <a:r>
                <a:rPr b="1" lang="el" sz="1000">
                  <a:solidFill>
                    <a:srgbClr val="1F2937"/>
                  </a:solidFill>
                  <a:latin typeface="Arial"/>
                  <a:ea typeface="Arial"/>
                  <a:cs typeface="Arial"/>
                  <a:sym typeface="Arial"/>
                </a:rPr>
                <a:t>Αλλαγές:</a:t>
              </a:r>
              <a:r>
                <a:rPr b="0" lang="el" sz="1000">
                  <a:solidFill>
                    <a:srgbClr val="4B5563"/>
                  </a:solidFill>
                  <a:latin typeface="Arial"/>
                  <a:ea typeface="Arial"/>
                  <a:cs typeface="Arial"/>
                  <a:sym typeface="Arial"/>
                </a:rPr>
                <a:t> Τι προστέθηκε &amp; τι διαγράφηκε</a:t>
              </a:r>
              <a:endParaRPr b="0" sz="1000">
                <a:solidFill>
                  <a:srgbClr val="4B5563"/>
                </a:solidFill>
                <a:latin typeface="Arial"/>
                <a:ea typeface="Arial"/>
                <a:cs typeface="Arial"/>
                <a:sym typeface="Arial"/>
              </a:endParaRPr>
            </a:p>
            <a:p>
              <a:pPr indent="-292100" lvl="0" marL="457200" rtl="0" algn="l">
                <a:spcBef>
                  <a:spcPts val="450"/>
                </a:spcBef>
                <a:spcAft>
                  <a:spcPts val="0"/>
                </a:spcAft>
                <a:buClr>
                  <a:srgbClr val="4B5563"/>
                </a:buClr>
                <a:buSzPts val="1000"/>
                <a:buFont typeface="Arial"/>
                <a:buChar char="●"/>
              </a:pPr>
              <a:r>
                <a:rPr b="1" lang="el" sz="1000">
                  <a:solidFill>
                    <a:srgbClr val="1F2937"/>
                  </a:solidFill>
                  <a:latin typeface="Arial"/>
                  <a:ea typeface="Arial"/>
                  <a:cs typeface="Arial"/>
                  <a:sym typeface="Arial"/>
                </a:rPr>
                <a:t>Εξαρτήσεις:</a:t>
              </a:r>
              <a:r>
                <a:rPr b="0" lang="el" sz="1000">
                  <a:solidFill>
                    <a:srgbClr val="4B5563"/>
                  </a:solidFill>
                  <a:latin typeface="Arial"/>
                  <a:ea typeface="Arial"/>
                  <a:cs typeface="Arial"/>
                  <a:sym typeface="Arial"/>
                </a:rPr>
                <a:t> Νέες ή τροποποιημένες βιβλιοθήκες</a:t>
              </a:r>
              <a:endParaRPr b="0" sz="1000">
                <a:solidFill>
                  <a:srgbClr val="4B5563"/>
                </a:solidFill>
                <a:latin typeface="Arial"/>
                <a:ea typeface="Arial"/>
                <a:cs typeface="Arial"/>
                <a:sym typeface="Arial"/>
              </a:endParaRPr>
            </a:p>
            <a:p>
              <a:pPr indent="-292100" lvl="0" marL="457200" rtl="0" algn="l">
                <a:spcBef>
                  <a:spcPts val="450"/>
                </a:spcBef>
                <a:spcAft>
                  <a:spcPts val="450"/>
                </a:spcAft>
                <a:buClr>
                  <a:srgbClr val="4B5563"/>
                </a:buClr>
                <a:buSzPts val="1000"/>
                <a:buFont typeface="Arial"/>
                <a:buChar char="●"/>
              </a:pPr>
              <a:r>
                <a:rPr b="1" lang="el" sz="1000">
                  <a:solidFill>
                    <a:srgbClr val="1F2937"/>
                  </a:solidFill>
                  <a:latin typeface="Arial"/>
                  <a:ea typeface="Arial"/>
                  <a:cs typeface="Arial"/>
                  <a:sym typeface="Arial"/>
                </a:rPr>
                <a:t>Επίπτωση:</a:t>
              </a:r>
              <a:r>
                <a:rPr b="0" lang="el" sz="1000">
                  <a:solidFill>
                    <a:srgbClr val="4B5563"/>
                  </a:solidFill>
                  <a:latin typeface="Arial"/>
                  <a:ea typeface="Arial"/>
                  <a:cs typeface="Arial"/>
                  <a:sym typeface="Arial"/>
                </a:rPr>
                <a:t> Αν επηρεάζονται κρίσιμες λειτουργίες</a:t>
              </a:r>
              <a:endParaRPr b="0" sz="1000">
                <a:solidFill>
                  <a:srgbClr val="4B5563"/>
                </a:solidFill>
                <a:latin typeface="Arial"/>
                <a:ea typeface="Arial"/>
                <a:cs typeface="Arial"/>
                <a:sym typeface="Arial"/>
              </a:endParaRPr>
            </a:p>
          </p:txBody>
        </p:sp>
      </p:grpSp>
      <p:grpSp>
        <p:nvGrpSpPr>
          <p:cNvPr id="301" name="Google Shape;301;p27"/>
          <p:cNvGrpSpPr/>
          <p:nvPr/>
        </p:nvGrpSpPr>
        <p:grpSpPr>
          <a:xfrm>
            <a:off x="4714875" y="1857375"/>
            <a:ext cx="4048200" cy="2905200"/>
            <a:chOff x="0" y="0"/>
            <a:chExt cx="4048200" cy="2905200"/>
          </a:xfrm>
        </p:grpSpPr>
        <p:sp>
          <p:nvSpPr>
            <p:cNvPr id="302" name="Google Shape;302;p27"/>
            <p:cNvSpPr/>
            <p:nvPr/>
          </p:nvSpPr>
          <p:spPr>
            <a:xfrm>
              <a:off x="0" y="0"/>
              <a:ext cx="4048200" cy="2905200"/>
            </a:xfrm>
            <a:prstGeom prst="roundRect">
              <a:avLst>
                <a:gd fmla="val 5245" name="adj"/>
              </a:avLst>
            </a:prstGeom>
            <a:solidFill>
              <a:srgbClr val="FEF2F2"/>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7"/>
            <p:cNvSpPr txBox="1"/>
            <p:nvPr/>
          </p:nvSpPr>
          <p:spPr>
            <a:xfrm>
              <a:off x="228600" y="228600"/>
              <a:ext cx="3591000" cy="24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200">
                  <a:solidFill>
                    <a:srgbClr val="DC2626"/>
                  </a:solidFill>
                  <a:latin typeface="Arial"/>
                  <a:ea typeface="Arial"/>
                  <a:cs typeface="Arial"/>
                  <a:sym typeface="Arial"/>
                </a:rPr>
                <a:t>⚠️ Βασικός κανόνας</a:t>
              </a:r>
              <a:endParaRPr b="1" sz="1200">
                <a:solidFill>
                  <a:srgbClr val="DC2626"/>
                </a:solidFill>
                <a:latin typeface="Arial"/>
                <a:ea typeface="Arial"/>
                <a:cs typeface="Arial"/>
                <a:sym typeface="Arial"/>
              </a:endParaRPr>
            </a:p>
            <a:p>
              <a:pPr indent="0" lvl="0" marL="0" rtl="0" algn="l">
                <a:spcBef>
                  <a:spcPts val="900"/>
                </a:spcBef>
                <a:spcAft>
                  <a:spcPts val="0"/>
                </a:spcAft>
                <a:buNone/>
              </a:pPr>
              <a:r>
                <a:rPr b="1" lang="el" sz="1100">
                  <a:solidFill>
                    <a:srgbClr val="991B1B"/>
                  </a:solidFill>
                  <a:latin typeface="Arial"/>
                  <a:ea typeface="Arial"/>
                  <a:cs typeface="Arial"/>
                  <a:sym typeface="Arial"/>
                </a:rPr>
                <a:t>Μην αποδέχεσαι ένα μεγάλο σύνολο αλλαγών μόνο και μόνο επειδή η ΤΝ αναφέρει ότι ολοκλήρωσε επιτυχώς την εργασία.</a:t>
              </a:r>
              <a:endParaRPr b="1" sz="1100">
                <a:solidFill>
                  <a:srgbClr val="991B1B"/>
                </a:solidFill>
                <a:latin typeface="Arial"/>
                <a:ea typeface="Arial"/>
                <a:cs typeface="Arial"/>
                <a:sym typeface="Arial"/>
              </a:endParaRPr>
            </a:p>
            <a:p>
              <a:pPr indent="0" lvl="0" marL="0" rtl="0" algn="l">
                <a:spcBef>
                  <a:spcPts val="1050"/>
                </a:spcBef>
                <a:spcAft>
                  <a:spcPts val="0"/>
                </a:spcAft>
                <a:buNone/>
              </a:pPr>
              <a:r>
                <a:rPr b="0" lang="el" sz="1000">
                  <a:solidFill>
                    <a:srgbClr val="7F1D1D"/>
                  </a:solidFill>
                  <a:latin typeface="Arial"/>
                  <a:ea typeface="Arial"/>
                  <a:cs typeface="Arial"/>
                  <a:sym typeface="Arial"/>
                </a:rPr>
                <a:t>• Χρησιμοποιούμε </a:t>
              </a:r>
              <a:r>
                <a:rPr b="1" lang="el" sz="1000">
                  <a:solidFill>
                    <a:srgbClr val="7F1D1D"/>
                  </a:solidFill>
                  <a:latin typeface="Arial"/>
                  <a:ea typeface="Arial"/>
                  <a:cs typeface="Arial"/>
                  <a:sym typeface="Arial"/>
                </a:rPr>
                <a:t>ξεχωριστά branches</a:t>
              </a:r>
              <a:r>
                <a:rPr b="0" lang="el" sz="1000">
                  <a:solidFill>
                    <a:srgbClr val="7F1D1D"/>
                  </a:solidFill>
                  <a:latin typeface="Arial"/>
                  <a:ea typeface="Arial"/>
                  <a:cs typeface="Arial"/>
                  <a:sym typeface="Arial"/>
                </a:rPr>
                <a:t> για πειραματισμούς.</a:t>
              </a:r>
              <a:br>
                <a:rPr b="0" lang="el" sz="1000">
                  <a:solidFill>
                    <a:srgbClr val="7F1D1D"/>
                  </a:solidFill>
                  <a:latin typeface="Arial"/>
                  <a:ea typeface="Arial"/>
                  <a:cs typeface="Arial"/>
                  <a:sym typeface="Arial"/>
                </a:rPr>
              </a:br>
              <a:r>
                <a:rPr b="0" lang="el" sz="1000">
                  <a:solidFill>
                    <a:srgbClr val="7F1D1D"/>
                  </a:solidFill>
                  <a:latin typeface="Arial"/>
                  <a:ea typeface="Arial"/>
                  <a:cs typeface="Arial"/>
                  <a:sym typeface="Arial"/>
                </a:rPr>
                <a:t>• Κάνουμε </a:t>
              </a:r>
              <a:r>
                <a:rPr b="1" lang="el" sz="1000">
                  <a:solidFill>
                    <a:srgbClr val="7F1D1D"/>
                  </a:solidFill>
                  <a:latin typeface="Arial"/>
                  <a:ea typeface="Arial"/>
                  <a:cs typeface="Arial"/>
                  <a:sym typeface="Arial"/>
                </a:rPr>
                <a:t>συχνά, μικρά commits</a:t>
              </a:r>
              <a:r>
                <a:rPr b="0" lang="el" sz="1000">
                  <a:solidFill>
                    <a:srgbClr val="7F1D1D"/>
                  </a:solidFill>
                  <a:latin typeface="Arial"/>
                  <a:ea typeface="Arial"/>
                  <a:cs typeface="Arial"/>
                  <a:sym typeface="Arial"/>
                </a:rPr>
                <a:t> σε κάθε επιτυχημένο βήμα.</a:t>
              </a:r>
              <a:br>
                <a:rPr b="0" lang="el" sz="1000">
                  <a:solidFill>
                    <a:srgbClr val="7F1D1D"/>
                  </a:solidFill>
                  <a:latin typeface="Arial"/>
                  <a:ea typeface="Arial"/>
                  <a:cs typeface="Arial"/>
                  <a:sym typeface="Arial"/>
                </a:rPr>
              </a:br>
              <a:r>
                <a:rPr b="0" lang="el" sz="1000">
                  <a:solidFill>
                    <a:srgbClr val="7F1D1D"/>
                  </a:solidFill>
                  <a:latin typeface="Arial"/>
                  <a:ea typeface="Arial"/>
                  <a:cs typeface="Arial"/>
                  <a:sym typeface="Arial"/>
                </a:rPr>
                <a:t>• Το Git μας επιτρέπει να επιστρέφουμε πάντα σε μια </a:t>
              </a:r>
              <a:r>
                <a:rPr b="1" lang="el" sz="1000">
                  <a:solidFill>
                    <a:srgbClr val="7F1D1D"/>
                  </a:solidFill>
                  <a:latin typeface="Arial"/>
                  <a:ea typeface="Arial"/>
                  <a:cs typeface="Arial"/>
                  <a:sym typeface="Arial"/>
                </a:rPr>
                <a:t>γνωστή καλή κατάσταση</a:t>
              </a:r>
              <a:r>
                <a:rPr b="0" lang="el" sz="1000">
                  <a:solidFill>
                    <a:srgbClr val="7F1D1D"/>
                  </a:solidFill>
                  <a:latin typeface="Arial"/>
                  <a:ea typeface="Arial"/>
                  <a:cs typeface="Arial"/>
                  <a:sym typeface="Arial"/>
                </a:rPr>
                <a:t>.</a:t>
              </a:r>
              <a:endParaRPr b="0" sz="1000">
                <a:solidFill>
                  <a:srgbClr val="7F1D1D"/>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7" name="Shape 307"/>
        <p:cNvGrpSpPr/>
        <p:nvPr/>
      </p:nvGrpSpPr>
      <p:grpSpPr>
        <a:xfrm>
          <a:off x="0" y="0"/>
          <a:ext cx="0" cy="0"/>
          <a:chOff x="0" y="0"/>
          <a:chExt cx="0" cy="0"/>
        </a:xfrm>
      </p:grpSpPr>
      <p:sp>
        <p:nvSpPr>
          <p:cNvPr id="308" name="Google Shape;308;p28"/>
          <p:cNvSpPr txBox="1"/>
          <p:nvPr/>
        </p:nvSpPr>
        <p:spPr>
          <a:xfrm>
            <a:off x="381000" y="285750"/>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2400">
                <a:solidFill>
                  <a:srgbClr val="111827"/>
                </a:solidFill>
                <a:latin typeface="Arial"/>
                <a:ea typeface="Arial"/>
                <a:cs typeface="Arial"/>
                <a:sym typeface="Arial"/>
              </a:rPr>
              <a:t>Test πρώτα, εμπιστοσύνη μετά</a:t>
            </a:r>
            <a:endParaRPr b="1" sz="2400">
              <a:solidFill>
                <a:srgbClr val="111827"/>
              </a:solidFill>
              <a:latin typeface="Arial"/>
              <a:ea typeface="Arial"/>
              <a:cs typeface="Arial"/>
              <a:sym typeface="Arial"/>
            </a:endParaRPr>
          </a:p>
        </p:txBody>
      </p:sp>
      <p:sp>
        <p:nvSpPr>
          <p:cNvPr id="309" name="Google Shape;309;p28"/>
          <p:cNvSpPr txBox="1"/>
          <p:nvPr/>
        </p:nvSpPr>
        <p:spPr>
          <a:xfrm>
            <a:off x="381000" y="714375"/>
            <a:ext cx="83820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l" sz="1050">
                <a:solidFill>
                  <a:srgbClr val="4B5563"/>
                </a:solidFill>
                <a:latin typeface="Arial"/>
                <a:ea typeface="Arial"/>
                <a:cs typeface="Arial"/>
                <a:sym typeface="Arial"/>
              </a:rPr>
              <a:t>Η </a:t>
            </a:r>
            <a:r>
              <a:rPr lang="el" sz="1050">
                <a:solidFill>
                  <a:srgbClr val="4B5563"/>
                </a:solidFill>
              </a:rPr>
              <a:t>ΤΝ</a:t>
            </a:r>
            <a:r>
              <a:rPr b="0" lang="el" sz="1050">
                <a:solidFill>
                  <a:srgbClr val="4B5563"/>
                </a:solidFill>
                <a:latin typeface="Arial"/>
                <a:ea typeface="Arial"/>
                <a:cs typeface="Arial"/>
                <a:sym typeface="Arial"/>
              </a:rPr>
              <a:t> μπορεί να φτιάξει κώδικα που δουλεύει στο ιδανικό σενάριο, αλλά αποτυγχάνει σε πραγματικές συνθήκες. Η πλήρης κάλυψη απαιτεί έλεγχο όλων των πιθανών διαδρομών.</a:t>
            </a:r>
            <a:endParaRPr b="0" sz="1050">
              <a:solidFill>
                <a:srgbClr val="4B5563"/>
              </a:solidFill>
              <a:latin typeface="Arial"/>
              <a:ea typeface="Arial"/>
              <a:cs typeface="Arial"/>
              <a:sym typeface="Arial"/>
            </a:endParaRPr>
          </a:p>
        </p:txBody>
      </p:sp>
      <p:grpSp>
        <p:nvGrpSpPr>
          <p:cNvPr id="310" name="Google Shape;310;p28"/>
          <p:cNvGrpSpPr/>
          <p:nvPr/>
        </p:nvGrpSpPr>
        <p:grpSpPr>
          <a:xfrm>
            <a:off x="381000" y="1143000"/>
            <a:ext cx="4048200" cy="2381400"/>
            <a:chOff x="0" y="0"/>
            <a:chExt cx="4048200" cy="2381400"/>
          </a:xfrm>
        </p:grpSpPr>
        <p:sp>
          <p:nvSpPr>
            <p:cNvPr id="311" name="Google Shape;311;p28"/>
            <p:cNvSpPr/>
            <p:nvPr/>
          </p:nvSpPr>
          <p:spPr>
            <a:xfrm>
              <a:off x="0" y="0"/>
              <a:ext cx="4048200" cy="2381400"/>
            </a:xfrm>
            <a:prstGeom prst="roundRect">
              <a:avLst>
                <a:gd fmla="val 4800" name="adj"/>
              </a:avLst>
            </a:prstGeom>
            <a:solidFill>
              <a:srgbClr val="FFFFFF"/>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8"/>
            <p:cNvSpPr/>
            <p:nvPr/>
          </p:nvSpPr>
          <p:spPr>
            <a:xfrm>
              <a:off x="0" y="0"/>
              <a:ext cx="4048200" cy="333300"/>
            </a:xfrm>
            <a:prstGeom prst="roundRect">
              <a:avLst>
                <a:gd fmla="val 34285" name="adj"/>
              </a:avLst>
            </a:prstGeom>
            <a:solidFill>
              <a:srgbClr val="ECFD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8"/>
            <p:cNvSpPr txBox="1"/>
            <p:nvPr/>
          </p:nvSpPr>
          <p:spPr>
            <a:xfrm>
              <a:off x="190500" y="66675"/>
              <a:ext cx="36672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300">
                  <a:solidFill>
                    <a:srgbClr val="065F46"/>
                  </a:solidFill>
                  <a:latin typeface="Arial"/>
                  <a:ea typeface="Arial"/>
                  <a:cs typeface="Arial"/>
                  <a:sym typeface="Arial"/>
                </a:rPr>
                <a:t>✓ Happy Path (Ιδανικό Σενάριο)</a:t>
              </a:r>
              <a:endParaRPr b="1" sz="1300">
                <a:solidFill>
                  <a:srgbClr val="065F46"/>
                </a:solidFill>
                <a:latin typeface="Arial"/>
                <a:ea typeface="Arial"/>
                <a:cs typeface="Arial"/>
                <a:sym typeface="Arial"/>
              </a:endParaRPr>
            </a:p>
          </p:txBody>
        </p:sp>
        <p:pic>
          <p:nvPicPr>
            <p:cNvPr descr="A clean modern UI screenshot showing a successful user login with a green checkmark and welcome message, high quality digital interface design" id="314" name="Google Shape;314;p28"/>
            <p:cNvPicPr preferRelativeResize="0"/>
            <p:nvPr/>
          </p:nvPicPr>
          <p:blipFill rotWithShape="1">
            <a:blip r:embed="rId3">
              <a:alphaModFix/>
            </a:blip>
            <a:srcRect b="0" l="140" r="140" t="0"/>
            <a:stretch/>
          </p:blipFill>
          <p:spPr>
            <a:xfrm>
              <a:off x="190500" y="457200"/>
              <a:ext cx="1857300" cy="1047900"/>
            </a:xfrm>
            <a:prstGeom prst="roundRect">
              <a:avLst>
                <a:gd fmla="val 7272" name="adj"/>
              </a:avLst>
            </a:prstGeom>
            <a:noFill/>
            <a:ln>
              <a:noFill/>
            </a:ln>
          </p:spPr>
        </p:pic>
        <p:sp>
          <p:nvSpPr>
            <p:cNvPr id="315" name="Google Shape;315;p28"/>
            <p:cNvSpPr txBox="1"/>
            <p:nvPr/>
          </p:nvSpPr>
          <p:spPr>
            <a:xfrm>
              <a:off x="2143125" y="457200"/>
              <a:ext cx="1714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100">
                  <a:solidFill>
                    <a:srgbClr val="065F46"/>
                  </a:solidFill>
                  <a:latin typeface="Arial"/>
                  <a:ea typeface="Arial"/>
                  <a:cs typeface="Arial"/>
                  <a:sym typeface="Arial"/>
                </a:rPr>
                <a:t>Επιτυχημένη ροή</a:t>
              </a:r>
              <a:endParaRPr b="1" sz="1100">
                <a:solidFill>
                  <a:srgbClr val="065F46"/>
                </a:solidFill>
                <a:latin typeface="Arial"/>
                <a:ea typeface="Arial"/>
                <a:cs typeface="Arial"/>
                <a:sym typeface="Arial"/>
              </a:endParaRPr>
            </a:p>
            <a:p>
              <a:pPr indent="0" lvl="0" marL="0" rtl="0" algn="l">
                <a:spcBef>
                  <a:spcPts val="300"/>
                </a:spcBef>
                <a:spcAft>
                  <a:spcPts val="0"/>
                </a:spcAft>
                <a:buNone/>
              </a:pPr>
              <a:r>
                <a:rPr b="0" lang="el" sz="950">
                  <a:solidFill>
                    <a:srgbClr val="4B5563"/>
                  </a:solidFill>
                  <a:latin typeface="Arial"/>
                  <a:ea typeface="Arial"/>
                  <a:cs typeface="Arial"/>
                  <a:sym typeface="Arial"/>
                </a:rPr>
                <a:t>• Σύνδεση έγκυρου χρήστη με σωστά διαπιστευτήρια.</a:t>
              </a:r>
              <a:endParaRPr b="0" sz="950">
                <a:solidFill>
                  <a:srgbClr val="4B5563"/>
                </a:solidFill>
                <a:latin typeface="Arial"/>
                <a:ea typeface="Arial"/>
                <a:cs typeface="Arial"/>
                <a:sym typeface="Arial"/>
              </a:endParaRPr>
            </a:p>
            <a:p>
              <a:pPr indent="0" lvl="0" marL="0" rtl="0" algn="l">
                <a:spcBef>
                  <a:spcPts val="300"/>
                </a:spcBef>
                <a:spcAft>
                  <a:spcPts val="0"/>
                </a:spcAft>
                <a:buNone/>
              </a:pPr>
              <a:r>
                <a:rPr b="0" lang="el" sz="950">
                  <a:solidFill>
                    <a:srgbClr val="4B5563"/>
                  </a:solidFill>
                  <a:latin typeface="Arial"/>
                  <a:ea typeface="Arial"/>
                  <a:cs typeface="Arial"/>
                  <a:sym typeface="Arial"/>
                </a:rPr>
                <a:t>• Ορθές εισαγωγές δεδομένων &amp; αναμενόμενη συμπεριφορά.</a:t>
              </a:r>
              <a:endParaRPr b="0" sz="950">
                <a:solidFill>
                  <a:srgbClr val="4B5563"/>
                </a:solidFill>
                <a:latin typeface="Arial"/>
                <a:ea typeface="Arial"/>
                <a:cs typeface="Arial"/>
                <a:sym typeface="Arial"/>
              </a:endParaRPr>
            </a:p>
          </p:txBody>
        </p:sp>
        <p:sp>
          <p:nvSpPr>
            <p:cNvPr id="316" name="Google Shape;316;p28"/>
            <p:cNvSpPr txBox="1"/>
            <p:nvPr/>
          </p:nvSpPr>
          <p:spPr>
            <a:xfrm>
              <a:off x="190500" y="1600200"/>
              <a:ext cx="36672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100">
                  <a:solidFill>
                    <a:srgbClr val="1F2937"/>
                  </a:solidFill>
                  <a:latin typeface="Arial"/>
                  <a:ea typeface="Arial"/>
                  <a:cs typeface="Arial"/>
                  <a:sym typeface="Arial"/>
                </a:rPr>
                <a:t>Στόχος ελέγχου:</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950">
                  <a:solidFill>
                    <a:srgbClr val="4B5563"/>
                  </a:solidFill>
                  <a:latin typeface="Arial"/>
                  <a:ea typeface="Arial"/>
                  <a:cs typeface="Arial"/>
                  <a:sym typeface="Arial"/>
                </a:rPr>
                <a:t>Επιβεβαίωση ότι η βασική λειτουργικότητα εκτελείται χωρίς σφάλματα υπό κανονικές συνθήκες.</a:t>
              </a:r>
              <a:endParaRPr b="0" sz="950">
                <a:solidFill>
                  <a:srgbClr val="4B5563"/>
                </a:solidFill>
                <a:latin typeface="Arial"/>
                <a:ea typeface="Arial"/>
                <a:cs typeface="Arial"/>
                <a:sym typeface="Arial"/>
              </a:endParaRPr>
            </a:p>
          </p:txBody>
        </p:sp>
      </p:grpSp>
      <p:grpSp>
        <p:nvGrpSpPr>
          <p:cNvPr id="317" name="Google Shape;317;p28"/>
          <p:cNvGrpSpPr/>
          <p:nvPr/>
        </p:nvGrpSpPr>
        <p:grpSpPr>
          <a:xfrm>
            <a:off x="4714875" y="1143000"/>
            <a:ext cx="4048200" cy="2381400"/>
            <a:chOff x="0" y="0"/>
            <a:chExt cx="4048200" cy="2381400"/>
          </a:xfrm>
        </p:grpSpPr>
        <p:sp>
          <p:nvSpPr>
            <p:cNvPr id="318" name="Google Shape;318;p28"/>
            <p:cNvSpPr/>
            <p:nvPr/>
          </p:nvSpPr>
          <p:spPr>
            <a:xfrm>
              <a:off x="0" y="0"/>
              <a:ext cx="4048200" cy="2381400"/>
            </a:xfrm>
            <a:prstGeom prst="roundRect">
              <a:avLst>
                <a:gd fmla="val 4800" name="adj"/>
              </a:avLst>
            </a:prstGeom>
            <a:solidFill>
              <a:srgbClr val="FFFFFF"/>
            </a:solidFill>
            <a:ln cap="flat" cmpd="sng" w="1430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8"/>
            <p:cNvSpPr/>
            <p:nvPr/>
          </p:nvSpPr>
          <p:spPr>
            <a:xfrm>
              <a:off x="0" y="0"/>
              <a:ext cx="4048200" cy="333300"/>
            </a:xfrm>
            <a:prstGeom prst="roundRect">
              <a:avLst>
                <a:gd fmla="val 34285"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8"/>
            <p:cNvSpPr txBox="1"/>
            <p:nvPr/>
          </p:nvSpPr>
          <p:spPr>
            <a:xfrm>
              <a:off x="190500" y="66675"/>
              <a:ext cx="36672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300">
                  <a:solidFill>
                    <a:srgbClr val="991B1B"/>
                  </a:solidFill>
                  <a:latin typeface="Arial"/>
                  <a:ea typeface="Arial"/>
                  <a:cs typeface="Arial"/>
                  <a:sym typeface="Arial"/>
                </a:rPr>
                <a:t>✕ Unhappy Path (Οριακές Περιπτώσεις)</a:t>
              </a:r>
              <a:endParaRPr b="1" sz="1300">
                <a:solidFill>
                  <a:srgbClr val="991B1B"/>
                </a:solidFill>
                <a:latin typeface="Arial"/>
                <a:ea typeface="Arial"/>
                <a:cs typeface="Arial"/>
                <a:sym typeface="Arial"/>
              </a:endParaRPr>
            </a:p>
          </p:txBody>
        </p:sp>
        <p:pic>
          <p:nvPicPr>
            <p:cNvPr descr="A modern app UI showing error states, red validation messages, access denied warnings, and network failure notifications, technical design style" id="321" name="Google Shape;321;p28"/>
            <p:cNvPicPr preferRelativeResize="0"/>
            <p:nvPr/>
          </p:nvPicPr>
          <p:blipFill rotWithShape="1">
            <a:blip r:embed="rId4">
              <a:alphaModFix/>
            </a:blip>
            <a:srcRect b="0" l="140" r="140" t="0"/>
            <a:stretch/>
          </p:blipFill>
          <p:spPr>
            <a:xfrm>
              <a:off x="190500" y="457200"/>
              <a:ext cx="1857300" cy="1047900"/>
            </a:xfrm>
            <a:prstGeom prst="roundRect">
              <a:avLst>
                <a:gd fmla="val 7272" name="adj"/>
              </a:avLst>
            </a:prstGeom>
            <a:noFill/>
            <a:ln>
              <a:noFill/>
            </a:ln>
          </p:spPr>
        </p:pic>
        <p:sp>
          <p:nvSpPr>
            <p:cNvPr id="322" name="Google Shape;322;p28"/>
            <p:cNvSpPr txBox="1"/>
            <p:nvPr/>
          </p:nvSpPr>
          <p:spPr>
            <a:xfrm>
              <a:off x="2143125" y="457200"/>
              <a:ext cx="1714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100">
                  <a:solidFill>
                    <a:srgbClr val="991B1B"/>
                  </a:solidFill>
                  <a:latin typeface="Arial"/>
                  <a:ea typeface="Arial"/>
                  <a:cs typeface="Arial"/>
                  <a:sym typeface="Arial"/>
                </a:rPr>
                <a:t>Δοκιμασία αντοχής</a:t>
              </a:r>
              <a:endParaRPr b="1" sz="1100">
                <a:solidFill>
                  <a:srgbClr val="991B1B"/>
                </a:solidFill>
                <a:latin typeface="Arial"/>
                <a:ea typeface="Arial"/>
                <a:cs typeface="Arial"/>
                <a:sym typeface="Arial"/>
              </a:endParaRPr>
            </a:p>
            <a:p>
              <a:pPr indent="0" lvl="0" marL="0" rtl="0" algn="l">
                <a:spcBef>
                  <a:spcPts val="300"/>
                </a:spcBef>
                <a:spcAft>
                  <a:spcPts val="0"/>
                </a:spcAft>
                <a:buNone/>
              </a:pPr>
              <a:r>
                <a:rPr b="0" lang="el" sz="950">
                  <a:solidFill>
                    <a:srgbClr val="4B5563"/>
                  </a:solidFill>
                  <a:latin typeface="Arial"/>
                  <a:ea typeface="Arial"/>
                  <a:cs typeface="Arial"/>
                  <a:sym typeface="Arial"/>
                </a:rPr>
                <a:t>• Κενά πεδία &amp; μη έγκυρα δεδομένα.</a:t>
              </a:r>
              <a:endParaRPr b="0" sz="950">
                <a:solidFill>
                  <a:srgbClr val="4B5563"/>
                </a:solidFill>
                <a:latin typeface="Arial"/>
                <a:ea typeface="Arial"/>
                <a:cs typeface="Arial"/>
                <a:sym typeface="Arial"/>
              </a:endParaRPr>
            </a:p>
            <a:p>
              <a:pPr indent="0" lvl="0" marL="0" rtl="0" algn="l">
                <a:spcBef>
                  <a:spcPts val="300"/>
                </a:spcBef>
                <a:spcAft>
                  <a:spcPts val="0"/>
                </a:spcAft>
                <a:buNone/>
              </a:pPr>
              <a:r>
                <a:rPr b="0" lang="el" sz="950">
                  <a:solidFill>
                    <a:srgbClr val="4B5563"/>
                  </a:solidFill>
                  <a:latin typeface="Arial"/>
                  <a:ea typeface="Arial"/>
                  <a:cs typeface="Arial"/>
                  <a:sym typeface="Arial"/>
                </a:rPr>
                <a:t>• Χρήστες χωρίς δικαιώματα &amp; αποτυχία δικτύου.</a:t>
              </a:r>
              <a:endParaRPr b="0" sz="950">
                <a:solidFill>
                  <a:srgbClr val="4B5563"/>
                </a:solidFill>
                <a:latin typeface="Arial"/>
                <a:ea typeface="Arial"/>
                <a:cs typeface="Arial"/>
                <a:sym typeface="Arial"/>
              </a:endParaRPr>
            </a:p>
          </p:txBody>
        </p:sp>
        <p:sp>
          <p:nvSpPr>
            <p:cNvPr id="323" name="Google Shape;323;p28"/>
            <p:cNvSpPr txBox="1"/>
            <p:nvPr/>
          </p:nvSpPr>
          <p:spPr>
            <a:xfrm>
              <a:off x="190500" y="1600200"/>
              <a:ext cx="36672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100">
                  <a:solidFill>
                    <a:srgbClr val="1F2937"/>
                  </a:solidFill>
                  <a:latin typeface="Arial"/>
                  <a:ea typeface="Arial"/>
                  <a:cs typeface="Arial"/>
                  <a:sym typeface="Arial"/>
                </a:rPr>
                <a:t>Στόχος ελέγχου:</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950">
                  <a:solidFill>
                    <a:srgbClr val="4B5563"/>
                  </a:solidFill>
                  <a:latin typeface="Arial"/>
                  <a:ea typeface="Arial"/>
                  <a:cs typeface="Arial"/>
                  <a:sym typeface="Arial"/>
                </a:rPr>
                <a:t>Διασφάλιση ότι το σύστημα διαχειρίζεται σωστά τα σφάλματα χωρίς να καταρρέει.</a:t>
              </a:r>
              <a:endParaRPr b="0" sz="950">
                <a:solidFill>
                  <a:srgbClr val="4B5563"/>
                </a:solidFill>
                <a:latin typeface="Arial"/>
                <a:ea typeface="Arial"/>
                <a:cs typeface="Arial"/>
                <a:sym typeface="Arial"/>
              </a:endParaRPr>
            </a:p>
          </p:txBody>
        </p:sp>
      </p:grpSp>
      <p:grpSp>
        <p:nvGrpSpPr>
          <p:cNvPr id="324" name="Google Shape;324;p28"/>
          <p:cNvGrpSpPr/>
          <p:nvPr/>
        </p:nvGrpSpPr>
        <p:grpSpPr>
          <a:xfrm>
            <a:off x="381000" y="3667125"/>
            <a:ext cx="8382000" cy="1143000"/>
            <a:chOff x="0" y="0"/>
            <a:chExt cx="8382000" cy="1143000"/>
          </a:xfrm>
        </p:grpSpPr>
        <p:sp>
          <p:nvSpPr>
            <p:cNvPr id="325" name="Google Shape;325;p28"/>
            <p:cNvSpPr/>
            <p:nvPr/>
          </p:nvSpPr>
          <p:spPr>
            <a:xfrm>
              <a:off x="0" y="0"/>
              <a:ext cx="8382000" cy="1143000"/>
            </a:xfrm>
            <a:prstGeom prst="roundRect">
              <a:avLst>
                <a:gd fmla="val 1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28"/>
            <p:cNvSpPr txBox="1"/>
            <p:nvPr/>
          </p:nvSpPr>
          <p:spPr>
            <a:xfrm>
              <a:off x="228600" y="152400"/>
              <a:ext cx="7924800" cy="8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100">
                  <a:solidFill>
                    <a:srgbClr val="1F2937"/>
                  </a:solidFill>
                  <a:latin typeface="Arial"/>
                  <a:ea typeface="Arial"/>
                  <a:cs typeface="Arial"/>
                  <a:sym typeface="Arial"/>
                </a:rPr>
                <a:t>Βασικές πρακτικές επαλήθευσης:</a:t>
              </a:r>
              <a:endParaRPr b="1" sz="1100">
                <a:solidFill>
                  <a:srgbClr val="1F2937"/>
                </a:solidFill>
                <a:latin typeface="Arial"/>
                <a:ea typeface="Arial"/>
                <a:cs typeface="Arial"/>
                <a:sym typeface="Arial"/>
              </a:endParaRPr>
            </a:p>
            <a:p>
              <a:pPr indent="-288925" lvl="0" marL="457200" rtl="0" algn="l">
                <a:spcBef>
                  <a:spcPts val="450"/>
                </a:spcBef>
                <a:spcAft>
                  <a:spcPts val="0"/>
                </a:spcAft>
                <a:buClr>
                  <a:srgbClr val="4B5563"/>
                </a:buClr>
                <a:buSzPts val="950"/>
                <a:buFont typeface="Arial"/>
                <a:buChar char="●"/>
              </a:pPr>
              <a:r>
                <a:rPr b="1" lang="el" sz="950">
                  <a:solidFill>
                    <a:srgbClr val="1F2937"/>
                  </a:solidFill>
                  <a:latin typeface="Arial"/>
                  <a:ea typeface="Arial"/>
                  <a:cs typeface="Arial"/>
                  <a:sym typeface="Arial"/>
                </a:rPr>
                <a:t>Συνεχής </a:t>
              </a:r>
              <a:r>
                <a:rPr b="1" lang="el" sz="950">
                  <a:solidFill>
                    <a:srgbClr val="1F2937"/>
                  </a:solidFill>
                  <a:latin typeface="Arial"/>
                  <a:ea typeface="Arial"/>
                  <a:cs typeface="Arial"/>
                  <a:sym typeface="Arial"/>
                </a:rPr>
                <a:t>έ</a:t>
              </a:r>
              <a:r>
                <a:rPr b="1" lang="el" sz="950">
                  <a:solidFill>
                    <a:srgbClr val="1F2937"/>
                  </a:solidFill>
                  <a:latin typeface="Arial"/>
                  <a:ea typeface="Arial"/>
                  <a:cs typeface="Arial"/>
                  <a:sym typeface="Arial"/>
                </a:rPr>
                <a:t>λεγχος:</a:t>
              </a:r>
              <a:r>
                <a:rPr b="0" lang="el" sz="950">
                  <a:solidFill>
                    <a:srgbClr val="4B5563"/>
                  </a:solidFill>
                  <a:latin typeface="Arial"/>
                  <a:ea typeface="Arial"/>
                  <a:cs typeface="Arial"/>
                  <a:sym typeface="Arial"/>
                </a:rPr>
                <a:t> Εκτέλεση σχετικών tests, type checking &amp; linting μετά από κάθε μικρή αλλαγή.</a:t>
              </a:r>
              <a:endParaRPr b="0" sz="950">
                <a:solidFill>
                  <a:srgbClr val="4B5563"/>
                </a:solidFill>
                <a:latin typeface="Arial"/>
                <a:ea typeface="Arial"/>
                <a:cs typeface="Arial"/>
                <a:sym typeface="Arial"/>
              </a:endParaRPr>
            </a:p>
            <a:p>
              <a:pPr indent="-288925" lvl="0" marL="457200" rtl="0" algn="l">
                <a:spcBef>
                  <a:spcPts val="300"/>
                </a:spcBef>
                <a:spcAft>
                  <a:spcPts val="0"/>
                </a:spcAft>
                <a:buClr>
                  <a:srgbClr val="4B5563"/>
                </a:buClr>
                <a:buSzPts val="950"/>
                <a:buFont typeface="Arial"/>
                <a:buChar char="●"/>
              </a:pPr>
              <a:r>
                <a:rPr b="1" lang="el" sz="950">
                  <a:solidFill>
                    <a:srgbClr val="1F2937"/>
                  </a:solidFill>
                  <a:latin typeface="Arial"/>
                  <a:ea typeface="Arial"/>
                  <a:cs typeface="Arial"/>
                  <a:sym typeface="Arial"/>
                </a:rPr>
                <a:t>Εντοπισμός Bugs:</a:t>
              </a:r>
              <a:r>
                <a:rPr b="0" lang="el" sz="950">
                  <a:solidFill>
                    <a:srgbClr val="4B5563"/>
                  </a:solidFill>
                  <a:latin typeface="Arial"/>
                  <a:ea typeface="Arial"/>
                  <a:cs typeface="Arial"/>
                  <a:sym typeface="Arial"/>
                </a:rPr>
                <a:t> Η επιτυχία των tests επιβεβαιώνει συγκεκριμένες συμπεριφορές, δεν αποδεικνύει την απουσία σφαλμάτων.</a:t>
              </a:r>
              <a:endParaRPr b="0" sz="950">
                <a:solidFill>
                  <a:srgbClr val="4B5563"/>
                </a:solidFill>
                <a:latin typeface="Arial"/>
                <a:ea typeface="Arial"/>
                <a:cs typeface="Arial"/>
                <a:sym typeface="Arial"/>
              </a:endParaRPr>
            </a:p>
            <a:p>
              <a:pPr indent="0" lvl="0" marL="0" rtl="0" algn="l">
                <a:spcBef>
                  <a:spcPts val="600"/>
                </a:spcBef>
                <a:spcAft>
                  <a:spcPts val="0"/>
                </a:spcAft>
                <a:buNone/>
              </a:pPr>
              <a:r>
                <a:rPr b="1" lang="el" sz="1100">
                  <a:solidFill>
                    <a:srgbClr val="059669"/>
                  </a:solidFill>
                  <a:latin typeface="Arial"/>
                  <a:ea typeface="Arial"/>
                  <a:cs typeface="Arial"/>
                  <a:sym typeface="Arial"/>
                </a:rPr>
                <a:t>«Εξετάζουμε πάντα το αποτέλεσμα αντί να υποθέτουμε ότι όλα λειτουργούν ρολόι.»</a:t>
              </a:r>
              <a:endParaRPr b="1" sz="1100">
                <a:solidFill>
                  <a:srgbClr val="059669"/>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30" name="Shape 330"/>
        <p:cNvGrpSpPr/>
        <p:nvPr/>
      </p:nvGrpSpPr>
      <p:grpSpPr>
        <a:xfrm>
          <a:off x="0" y="0"/>
          <a:ext cx="0" cy="0"/>
          <a:chOff x="0" y="0"/>
          <a:chExt cx="0" cy="0"/>
        </a:xfrm>
      </p:grpSpPr>
      <p:sp>
        <p:nvSpPr>
          <p:cNvPr id="331" name="Google Shape;331;p29"/>
          <p:cNvSpPr txBox="1"/>
          <p:nvPr/>
        </p:nvSpPr>
        <p:spPr>
          <a:xfrm>
            <a:off x="381000" y="285750"/>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2200">
                <a:solidFill>
                  <a:srgbClr val="111827"/>
                </a:solidFill>
                <a:latin typeface="Arial"/>
                <a:ea typeface="Arial"/>
                <a:cs typeface="Arial"/>
                <a:sym typeface="Arial"/>
              </a:rPr>
              <a:t>Ασφάλεια: Μην εμπιστεύεσαι τυφλά τον κώδικα AI</a:t>
            </a:r>
            <a:endParaRPr b="1" sz="2200">
              <a:solidFill>
                <a:srgbClr val="111827"/>
              </a:solidFill>
              <a:latin typeface="Arial"/>
              <a:ea typeface="Arial"/>
              <a:cs typeface="Arial"/>
              <a:sym typeface="Arial"/>
            </a:endParaRPr>
          </a:p>
        </p:txBody>
      </p:sp>
      <p:sp>
        <p:nvSpPr>
          <p:cNvPr id="332" name="Google Shape;332;p29"/>
          <p:cNvSpPr txBox="1"/>
          <p:nvPr/>
        </p:nvSpPr>
        <p:spPr>
          <a:xfrm>
            <a:off x="381000" y="685800"/>
            <a:ext cx="8382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l" sz="1050">
                <a:solidFill>
                  <a:srgbClr val="4B5563"/>
                </a:solidFill>
                <a:latin typeface="Arial"/>
                <a:ea typeface="Arial"/>
                <a:cs typeface="Arial"/>
                <a:sym typeface="Arial"/>
              </a:rPr>
              <a:t>Όταν διαχειριζόμαστε προσωπικά δεδομένα ή πληρωμές, το κόστος ενός λάθους είναι τεράστιο.</a:t>
            </a:r>
            <a:endParaRPr b="0" sz="1050">
              <a:solidFill>
                <a:srgbClr val="4B5563"/>
              </a:solidFill>
              <a:latin typeface="Arial"/>
              <a:ea typeface="Arial"/>
              <a:cs typeface="Arial"/>
              <a:sym typeface="Arial"/>
            </a:endParaRPr>
          </a:p>
        </p:txBody>
      </p:sp>
      <p:grpSp>
        <p:nvGrpSpPr>
          <p:cNvPr id="333" name="Google Shape;333;p29"/>
          <p:cNvGrpSpPr/>
          <p:nvPr/>
        </p:nvGrpSpPr>
        <p:grpSpPr>
          <a:xfrm>
            <a:off x="381000" y="1066800"/>
            <a:ext cx="1524000" cy="714300"/>
            <a:chOff x="0" y="0"/>
            <a:chExt cx="1524000" cy="714300"/>
          </a:xfrm>
        </p:grpSpPr>
        <p:sp>
          <p:nvSpPr>
            <p:cNvPr id="334" name="Google Shape;334;p29"/>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9"/>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879">
                  <a:solidFill>
                    <a:srgbClr val="2563EB"/>
                  </a:solidFill>
                  <a:latin typeface="Arial"/>
                  <a:ea typeface="Arial"/>
                  <a:cs typeface="Arial"/>
                  <a:sym typeface="Arial"/>
                </a:rPr>
                <a:t>1. Authorization / Authentication</a:t>
              </a:r>
              <a:endParaRPr b="1" sz="879">
                <a:solidFill>
                  <a:srgbClr val="2563EB"/>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Έλεγχος πρόσβασης &amp; ρόλων</a:t>
              </a:r>
              <a:endParaRPr b="0" sz="850">
                <a:solidFill>
                  <a:srgbClr val="4B5563"/>
                </a:solidFill>
                <a:latin typeface="Arial"/>
                <a:ea typeface="Arial"/>
                <a:cs typeface="Arial"/>
                <a:sym typeface="Arial"/>
              </a:endParaRPr>
            </a:p>
          </p:txBody>
        </p:sp>
      </p:grpSp>
      <p:grpSp>
        <p:nvGrpSpPr>
          <p:cNvPr id="336" name="Google Shape;336;p29"/>
          <p:cNvGrpSpPr/>
          <p:nvPr/>
        </p:nvGrpSpPr>
        <p:grpSpPr>
          <a:xfrm>
            <a:off x="2095500" y="1066800"/>
            <a:ext cx="1524000" cy="714300"/>
            <a:chOff x="0" y="0"/>
            <a:chExt cx="1524000" cy="714300"/>
          </a:xfrm>
        </p:grpSpPr>
        <p:sp>
          <p:nvSpPr>
            <p:cNvPr id="337" name="Google Shape;337;p29"/>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9"/>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879">
                  <a:solidFill>
                    <a:srgbClr val="D97706"/>
                  </a:solidFill>
                  <a:latin typeface="Arial"/>
                  <a:ea typeface="Arial"/>
                  <a:cs typeface="Arial"/>
                  <a:sym typeface="Arial"/>
                </a:rPr>
                <a:t>2. Secrets</a:t>
              </a:r>
              <a:endParaRPr b="1" sz="879">
                <a:solidFill>
                  <a:srgbClr val="D97706"/>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Διαχείριση κλειδιών</a:t>
              </a:r>
              <a:endParaRPr b="0" sz="850">
                <a:solidFill>
                  <a:srgbClr val="4B5563"/>
                </a:solidFill>
                <a:latin typeface="Arial"/>
                <a:ea typeface="Arial"/>
                <a:cs typeface="Arial"/>
                <a:sym typeface="Arial"/>
              </a:endParaRPr>
            </a:p>
          </p:txBody>
        </p:sp>
      </p:grpSp>
      <p:grpSp>
        <p:nvGrpSpPr>
          <p:cNvPr id="339" name="Google Shape;339;p29"/>
          <p:cNvGrpSpPr/>
          <p:nvPr/>
        </p:nvGrpSpPr>
        <p:grpSpPr>
          <a:xfrm>
            <a:off x="3810000" y="1066800"/>
            <a:ext cx="1524000" cy="714300"/>
            <a:chOff x="0" y="0"/>
            <a:chExt cx="1524000" cy="714300"/>
          </a:xfrm>
        </p:grpSpPr>
        <p:sp>
          <p:nvSpPr>
            <p:cNvPr id="340" name="Google Shape;340;p29"/>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9"/>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879">
                  <a:solidFill>
                    <a:srgbClr val="059669"/>
                  </a:solidFill>
                  <a:latin typeface="Arial"/>
                  <a:ea typeface="Arial"/>
                  <a:cs typeface="Arial"/>
                  <a:sym typeface="Arial"/>
                </a:rPr>
                <a:t>3. Validation</a:t>
              </a:r>
              <a:endParaRPr b="1" sz="879">
                <a:solidFill>
                  <a:srgbClr val="059669"/>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Επικύρωση εισόδων</a:t>
              </a:r>
              <a:endParaRPr b="0" sz="850">
                <a:solidFill>
                  <a:srgbClr val="4B5563"/>
                </a:solidFill>
                <a:latin typeface="Arial"/>
                <a:ea typeface="Arial"/>
                <a:cs typeface="Arial"/>
                <a:sym typeface="Arial"/>
              </a:endParaRPr>
            </a:p>
          </p:txBody>
        </p:sp>
      </p:grpSp>
      <p:grpSp>
        <p:nvGrpSpPr>
          <p:cNvPr id="342" name="Google Shape;342;p29"/>
          <p:cNvGrpSpPr/>
          <p:nvPr/>
        </p:nvGrpSpPr>
        <p:grpSpPr>
          <a:xfrm>
            <a:off x="5524500" y="1066800"/>
            <a:ext cx="1524000" cy="714300"/>
            <a:chOff x="0" y="0"/>
            <a:chExt cx="1524000" cy="714300"/>
          </a:xfrm>
        </p:grpSpPr>
        <p:sp>
          <p:nvSpPr>
            <p:cNvPr id="343" name="Google Shape;343;p29"/>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29"/>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879">
                  <a:solidFill>
                    <a:srgbClr val="7C3AED"/>
                  </a:solidFill>
                  <a:latin typeface="Arial"/>
                  <a:ea typeface="Arial"/>
                  <a:cs typeface="Arial"/>
                  <a:sym typeface="Arial"/>
                </a:rPr>
                <a:t>4. Dependencies</a:t>
              </a:r>
              <a:endParaRPr b="1" sz="879">
                <a:solidFill>
                  <a:srgbClr val="7C3AED"/>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Έλεγχος βιβλιοθηκών</a:t>
              </a:r>
              <a:endParaRPr b="0" sz="850">
                <a:solidFill>
                  <a:srgbClr val="4B5563"/>
                </a:solidFill>
                <a:latin typeface="Arial"/>
                <a:ea typeface="Arial"/>
                <a:cs typeface="Arial"/>
                <a:sym typeface="Arial"/>
              </a:endParaRPr>
            </a:p>
          </p:txBody>
        </p:sp>
      </p:grpSp>
      <p:grpSp>
        <p:nvGrpSpPr>
          <p:cNvPr id="345" name="Google Shape;345;p29"/>
          <p:cNvGrpSpPr/>
          <p:nvPr/>
        </p:nvGrpSpPr>
        <p:grpSpPr>
          <a:xfrm>
            <a:off x="7239000" y="1066800"/>
            <a:ext cx="1524000" cy="714300"/>
            <a:chOff x="0" y="0"/>
            <a:chExt cx="1524000" cy="714300"/>
          </a:xfrm>
        </p:grpSpPr>
        <p:sp>
          <p:nvSpPr>
            <p:cNvPr id="346" name="Google Shape;346;p29"/>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9"/>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879">
                  <a:solidFill>
                    <a:srgbClr val="DC2626"/>
                  </a:solidFill>
                  <a:latin typeface="Arial"/>
                  <a:ea typeface="Arial"/>
                  <a:cs typeface="Arial"/>
                  <a:sym typeface="Arial"/>
                </a:rPr>
                <a:t>5. Auditing</a:t>
              </a:r>
              <a:endParaRPr b="1" sz="879">
                <a:solidFill>
                  <a:srgbClr val="DC2626"/>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Στατικοί αναλυτές</a:t>
              </a:r>
              <a:endParaRPr b="0" sz="850">
                <a:solidFill>
                  <a:srgbClr val="4B5563"/>
                </a:solidFill>
                <a:latin typeface="Arial"/>
                <a:ea typeface="Arial"/>
                <a:cs typeface="Arial"/>
                <a:sym typeface="Arial"/>
              </a:endParaRPr>
            </a:p>
          </p:txBody>
        </p:sp>
      </p:grpSp>
      <p:grpSp>
        <p:nvGrpSpPr>
          <p:cNvPr id="348" name="Google Shape;348;p29"/>
          <p:cNvGrpSpPr/>
          <p:nvPr/>
        </p:nvGrpSpPr>
        <p:grpSpPr>
          <a:xfrm>
            <a:off x="381000" y="1924050"/>
            <a:ext cx="4048200" cy="1952700"/>
            <a:chOff x="0" y="0"/>
            <a:chExt cx="4048200" cy="1952700"/>
          </a:xfrm>
        </p:grpSpPr>
        <p:sp>
          <p:nvSpPr>
            <p:cNvPr id="349" name="Google Shape;349;p29"/>
            <p:cNvSpPr/>
            <p:nvPr/>
          </p:nvSpPr>
          <p:spPr>
            <a:xfrm>
              <a:off x="0" y="0"/>
              <a:ext cx="4048200" cy="1952700"/>
            </a:xfrm>
            <a:prstGeom prst="roundRect">
              <a:avLst>
                <a:gd fmla="val 585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9"/>
            <p:cNvSpPr txBox="1"/>
            <p:nvPr/>
          </p:nvSpPr>
          <p:spPr>
            <a:xfrm>
              <a:off x="190500" y="190500"/>
              <a:ext cx="36672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110">
                  <a:solidFill>
                    <a:srgbClr val="111827"/>
                  </a:solidFill>
                  <a:latin typeface="Arial"/>
                  <a:ea typeface="Arial"/>
                  <a:cs typeface="Arial"/>
                  <a:sym typeface="Arial"/>
                </a:rPr>
                <a:t>Ανεξάρτητη επαλήθευση</a:t>
              </a:r>
              <a:endParaRPr b="1" sz="1110">
                <a:solidFill>
                  <a:srgbClr val="111827"/>
                </a:solidFill>
                <a:latin typeface="Arial"/>
                <a:ea typeface="Arial"/>
                <a:cs typeface="Arial"/>
                <a:sym typeface="Arial"/>
              </a:endParaRPr>
            </a:p>
            <a:p>
              <a:pPr indent="0" lvl="0" marL="0" rtl="0" algn="l">
                <a:spcBef>
                  <a:spcPts val="600"/>
                </a:spcBef>
                <a:spcAft>
                  <a:spcPts val="0"/>
                </a:spcAft>
                <a:buNone/>
              </a:pPr>
              <a:r>
                <a:rPr b="0" lang="el" sz="879">
                  <a:solidFill>
                    <a:srgbClr val="4B5563"/>
                  </a:solidFill>
                  <a:latin typeface="Arial"/>
                  <a:ea typeface="Arial"/>
                  <a:cs typeface="Arial"/>
                  <a:sym typeface="Arial"/>
                </a:rPr>
                <a:t>• Δεν αρκούμαστε στις διαβεβαιώσεις της ίδιας της AI.</a:t>
              </a:r>
              <a:endParaRPr b="0" sz="879">
                <a:solidFill>
                  <a:srgbClr val="4B5563"/>
                </a:solidFill>
                <a:latin typeface="Arial"/>
                <a:ea typeface="Arial"/>
                <a:cs typeface="Arial"/>
                <a:sym typeface="Arial"/>
              </a:endParaRPr>
            </a:p>
            <a:p>
              <a:pPr indent="0" lvl="0" marL="0" rtl="0" algn="l">
                <a:spcBef>
                  <a:spcPts val="600"/>
                </a:spcBef>
                <a:spcAft>
                  <a:spcPts val="0"/>
                </a:spcAft>
                <a:buNone/>
              </a:pPr>
              <a:r>
                <a:rPr b="0" lang="el" sz="879">
                  <a:solidFill>
                    <a:srgbClr val="4B5563"/>
                  </a:solidFill>
                  <a:latin typeface="Arial"/>
                  <a:ea typeface="Arial"/>
                  <a:cs typeface="Arial"/>
                  <a:sym typeface="Arial"/>
                </a:rPr>
                <a:t>• Χρήση </a:t>
              </a:r>
              <a:r>
                <a:rPr b="1" lang="el" sz="879">
                  <a:solidFill>
                    <a:srgbClr val="4B5563"/>
                  </a:solidFill>
                  <a:latin typeface="Arial"/>
                  <a:ea typeface="Arial"/>
                  <a:cs typeface="Arial"/>
                  <a:sym typeface="Arial"/>
                </a:rPr>
                <a:t>SAST tools</a:t>
              </a:r>
              <a:r>
                <a:rPr b="0" lang="el" sz="879">
                  <a:solidFill>
                    <a:srgbClr val="4B5563"/>
                  </a:solidFill>
                  <a:latin typeface="Arial"/>
                  <a:ea typeface="Arial"/>
                  <a:cs typeface="Arial"/>
                  <a:sym typeface="Arial"/>
                </a:rPr>
                <a:t> &amp; </a:t>
              </a:r>
              <a:r>
                <a:rPr b="1" lang="el" sz="879">
                  <a:solidFill>
                    <a:srgbClr val="4B5563"/>
                  </a:solidFill>
                  <a:latin typeface="Arial"/>
                  <a:ea typeface="Arial"/>
                  <a:cs typeface="Arial"/>
                  <a:sym typeface="Arial"/>
                </a:rPr>
                <a:t>dependency scanners</a:t>
              </a:r>
              <a:r>
                <a:rPr b="0" lang="el" sz="879">
                  <a:solidFill>
                    <a:srgbClr val="4B5563"/>
                  </a:solidFill>
                  <a:latin typeface="Arial"/>
                  <a:ea typeface="Arial"/>
                  <a:cs typeface="Arial"/>
                  <a:sym typeface="Arial"/>
                </a:rPr>
                <a:t>.</a:t>
              </a:r>
              <a:endParaRPr b="0" sz="879">
                <a:solidFill>
                  <a:srgbClr val="4B5563"/>
                </a:solidFill>
                <a:latin typeface="Arial"/>
                <a:ea typeface="Arial"/>
                <a:cs typeface="Arial"/>
                <a:sym typeface="Arial"/>
              </a:endParaRPr>
            </a:p>
            <a:p>
              <a:pPr indent="0" lvl="0" marL="0" rtl="0" algn="l">
                <a:spcBef>
                  <a:spcPts val="600"/>
                </a:spcBef>
                <a:spcAft>
                  <a:spcPts val="0"/>
                </a:spcAft>
                <a:buNone/>
              </a:pPr>
              <a:r>
                <a:rPr b="0" lang="el" sz="879">
                  <a:solidFill>
                    <a:srgbClr val="4B5563"/>
                  </a:solidFill>
                  <a:latin typeface="Arial"/>
                  <a:ea typeface="Arial"/>
                  <a:cs typeface="Arial"/>
                  <a:sym typeface="Arial"/>
                </a:rPr>
                <a:t>• Ο έλεγχος βασίζεται σε </a:t>
              </a:r>
              <a:r>
                <a:rPr b="1" lang="el" sz="879">
                  <a:solidFill>
                    <a:srgbClr val="4B5563"/>
                  </a:solidFill>
                  <a:latin typeface="Arial"/>
                  <a:ea typeface="Arial"/>
                  <a:cs typeface="Arial"/>
                  <a:sym typeface="Arial"/>
                </a:rPr>
                <a:t>πραγματικά ευρήματα</a:t>
              </a:r>
              <a:r>
                <a:rPr b="0" lang="el" sz="879">
                  <a:solidFill>
                    <a:srgbClr val="4B5563"/>
                  </a:solidFill>
                  <a:latin typeface="Arial"/>
                  <a:ea typeface="Arial"/>
                  <a:cs typeface="Arial"/>
                  <a:sym typeface="Arial"/>
                </a:rPr>
                <a:t>.</a:t>
              </a:r>
              <a:endParaRPr b="0" sz="879">
                <a:solidFill>
                  <a:srgbClr val="4B5563"/>
                </a:solidFill>
                <a:latin typeface="Arial"/>
                <a:ea typeface="Arial"/>
                <a:cs typeface="Arial"/>
                <a:sym typeface="Arial"/>
              </a:endParaRPr>
            </a:p>
            <a:p>
              <a:pPr indent="0" lvl="0" marL="0" rtl="0" algn="l">
                <a:spcBef>
                  <a:spcPts val="900"/>
                </a:spcBef>
                <a:spcAft>
                  <a:spcPts val="0"/>
                </a:spcAft>
                <a:buNone/>
              </a:pPr>
              <a:r>
                <a:rPr b="1" lang="el" sz="1050">
                  <a:solidFill>
                    <a:srgbClr val="991B1B"/>
                  </a:solidFill>
                  <a:latin typeface="Arial"/>
                  <a:ea typeface="Arial"/>
                  <a:cs typeface="Arial"/>
                  <a:sym typeface="Arial"/>
                </a:rPr>
                <a:t>«Το Open Source προσφέρει διαφάνεια, αλλά δεν εγγυάται αυτόματα την ασφάλεια.»</a:t>
              </a:r>
              <a:endParaRPr b="1" sz="1050">
                <a:solidFill>
                  <a:srgbClr val="991B1B"/>
                </a:solidFill>
                <a:latin typeface="Arial"/>
                <a:ea typeface="Arial"/>
                <a:cs typeface="Arial"/>
                <a:sym typeface="Arial"/>
              </a:endParaRPr>
            </a:p>
          </p:txBody>
        </p:sp>
      </p:grpSp>
      <p:grpSp>
        <p:nvGrpSpPr>
          <p:cNvPr id="351" name="Google Shape;351;p29"/>
          <p:cNvGrpSpPr/>
          <p:nvPr/>
        </p:nvGrpSpPr>
        <p:grpSpPr>
          <a:xfrm>
            <a:off x="4714875" y="1924050"/>
            <a:ext cx="4048200" cy="1952700"/>
            <a:chOff x="0" y="0"/>
            <a:chExt cx="4048200" cy="1952700"/>
          </a:xfrm>
        </p:grpSpPr>
        <p:sp>
          <p:nvSpPr>
            <p:cNvPr id="352" name="Google Shape;352;p29"/>
            <p:cNvSpPr/>
            <p:nvPr/>
          </p:nvSpPr>
          <p:spPr>
            <a:xfrm>
              <a:off x="0" y="0"/>
              <a:ext cx="4048200" cy="1952700"/>
            </a:xfrm>
            <a:prstGeom prst="roundRect">
              <a:avLst>
                <a:gd fmla="val 5853" name="adj"/>
              </a:avLst>
            </a:prstGeom>
            <a:solidFill>
              <a:srgbClr val="FEF2F2"/>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29"/>
            <p:cNvSpPr txBox="1"/>
            <p:nvPr/>
          </p:nvSpPr>
          <p:spPr>
            <a:xfrm>
              <a:off x="190500" y="190500"/>
              <a:ext cx="36672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110">
                  <a:solidFill>
                    <a:srgbClr val="991B1B"/>
                  </a:solidFill>
                  <a:latin typeface="Arial"/>
                  <a:ea typeface="Arial"/>
                  <a:cs typeface="Arial"/>
                  <a:sym typeface="Arial"/>
                </a:rPr>
                <a:t>⚠️ Κρίσιμη προειδοποίηση</a:t>
              </a:r>
              <a:endParaRPr b="1" sz="1110">
                <a:solidFill>
                  <a:srgbClr val="991B1B"/>
                </a:solidFill>
                <a:latin typeface="Arial"/>
                <a:ea typeface="Arial"/>
                <a:cs typeface="Arial"/>
                <a:sym typeface="Arial"/>
              </a:endParaRPr>
            </a:p>
            <a:p>
              <a:pPr indent="0" lvl="0" marL="0" rtl="0" algn="l">
                <a:spcBef>
                  <a:spcPts val="600"/>
                </a:spcBef>
                <a:spcAft>
                  <a:spcPts val="0"/>
                </a:spcAft>
                <a:buNone/>
              </a:pPr>
              <a:r>
                <a:rPr b="1" lang="el" sz="1000">
                  <a:solidFill>
                    <a:srgbClr val="991B1B"/>
                  </a:solidFill>
                  <a:latin typeface="Arial"/>
                  <a:ea typeface="Arial"/>
                  <a:cs typeface="Arial"/>
                  <a:sym typeface="Arial"/>
                </a:rPr>
                <a:t>ΠΟΤΕ μην κοινοποιείτε ή ανεβάζετε:</a:t>
              </a:r>
              <a:endParaRPr b="1" sz="1000">
                <a:solidFill>
                  <a:srgbClr val="991B1B"/>
                </a:solidFill>
                <a:latin typeface="Arial"/>
                <a:ea typeface="Arial"/>
                <a:cs typeface="Arial"/>
                <a:sym typeface="Arial"/>
              </a:endParaRPr>
            </a:p>
            <a:p>
              <a:pPr indent="0" lvl="0" marL="0" rtl="0" algn="l">
                <a:spcBef>
                  <a:spcPts val="600"/>
                </a:spcBef>
                <a:spcAft>
                  <a:spcPts val="0"/>
                </a:spcAft>
                <a:buNone/>
              </a:pPr>
              <a:r>
                <a:rPr b="0" lang="el" sz="879">
                  <a:solidFill>
                    <a:srgbClr val="7F1D1D"/>
                  </a:solidFill>
                  <a:latin typeface="Arial"/>
                  <a:ea typeface="Arial"/>
                  <a:cs typeface="Arial"/>
                  <a:sym typeface="Arial"/>
                </a:rPr>
                <a:t>• API Keys &amp; Passwords</a:t>
              </a:r>
              <a:endParaRPr b="0" sz="879">
                <a:solidFill>
                  <a:srgbClr val="7F1D1D"/>
                </a:solidFill>
                <a:latin typeface="Arial"/>
                <a:ea typeface="Arial"/>
                <a:cs typeface="Arial"/>
                <a:sym typeface="Arial"/>
              </a:endParaRPr>
            </a:p>
            <a:p>
              <a:pPr indent="0" lvl="0" marL="0" rtl="0" algn="l">
                <a:spcBef>
                  <a:spcPts val="300"/>
                </a:spcBef>
                <a:spcAft>
                  <a:spcPts val="0"/>
                </a:spcAft>
                <a:buNone/>
              </a:pPr>
              <a:r>
                <a:rPr b="0" lang="el" sz="879">
                  <a:solidFill>
                    <a:srgbClr val="7F1D1D"/>
                  </a:solidFill>
                  <a:latin typeface="Arial"/>
                  <a:ea typeface="Arial"/>
                  <a:cs typeface="Arial"/>
                  <a:sym typeface="Arial"/>
                </a:rPr>
                <a:t>• Serial Numbers &amp; Διαπιστευτήρια</a:t>
              </a:r>
              <a:endParaRPr b="0" sz="879">
                <a:solidFill>
                  <a:srgbClr val="7F1D1D"/>
                </a:solidFill>
                <a:latin typeface="Arial"/>
                <a:ea typeface="Arial"/>
                <a:cs typeface="Arial"/>
                <a:sym typeface="Arial"/>
              </a:endParaRPr>
            </a:p>
            <a:p>
              <a:pPr indent="0" lvl="0" marL="0" rtl="0" algn="l">
                <a:spcBef>
                  <a:spcPts val="300"/>
                </a:spcBef>
                <a:spcAft>
                  <a:spcPts val="0"/>
                </a:spcAft>
                <a:buNone/>
              </a:pPr>
              <a:r>
                <a:rPr b="0" lang="el" sz="879">
                  <a:solidFill>
                    <a:srgbClr val="7F1D1D"/>
                  </a:solidFill>
                  <a:latin typeface="Arial"/>
                  <a:ea typeface="Arial"/>
                  <a:cs typeface="Arial"/>
                  <a:sym typeface="Arial"/>
                </a:rPr>
                <a:t>• Ιδιωτικά keys σε AI prompts ή Git repositories</a:t>
              </a:r>
              <a:endParaRPr b="0" sz="879">
                <a:solidFill>
                  <a:srgbClr val="7F1D1D"/>
                </a:solidFill>
                <a:latin typeface="Arial"/>
                <a:ea typeface="Arial"/>
                <a:cs typeface="Arial"/>
                <a:sym typeface="Arial"/>
              </a:endParaRPr>
            </a:p>
            <a:p>
              <a:pPr indent="0" lvl="0" marL="0" rtl="0" algn="l">
                <a:spcBef>
                  <a:spcPts val="900"/>
                </a:spcBef>
                <a:spcAft>
                  <a:spcPts val="0"/>
                </a:spcAft>
                <a:buNone/>
              </a:pPr>
              <a:r>
                <a:rPr b="1" lang="el" sz="879">
                  <a:solidFill>
                    <a:srgbClr val="991B1B"/>
                  </a:solidFill>
                  <a:latin typeface="Arial"/>
                  <a:ea typeface="Arial"/>
                  <a:cs typeface="Arial"/>
                  <a:sym typeface="Arial"/>
                </a:rPr>
                <a:t>Χρησιμοποιείτε πάντα περιβάλλον μεταβλητών (.env).</a:t>
              </a:r>
              <a:endParaRPr b="1" sz="879">
                <a:solidFill>
                  <a:srgbClr val="991B1B"/>
                </a:solidFill>
                <a:latin typeface="Arial"/>
                <a:ea typeface="Arial"/>
                <a:cs typeface="Arial"/>
                <a:sym typeface="Arial"/>
              </a:endParaRPr>
            </a:p>
          </p:txBody>
        </p:sp>
      </p:grpSp>
      <p:grpSp>
        <p:nvGrpSpPr>
          <p:cNvPr id="354" name="Google Shape;354;p29"/>
          <p:cNvGrpSpPr/>
          <p:nvPr/>
        </p:nvGrpSpPr>
        <p:grpSpPr>
          <a:xfrm>
            <a:off x="381000" y="4019550"/>
            <a:ext cx="8382000" cy="809700"/>
            <a:chOff x="0" y="0"/>
            <a:chExt cx="8382000" cy="809700"/>
          </a:xfrm>
        </p:grpSpPr>
        <p:sp>
          <p:nvSpPr>
            <p:cNvPr id="355" name="Google Shape;355;p29"/>
            <p:cNvSpPr/>
            <p:nvPr/>
          </p:nvSpPr>
          <p:spPr>
            <a:xfrm>
              <a:off x="0" y="0"/>
              <a:ext cx="8382000" cy="809700"/>
            </a:xfrm>
            <a:prstGeom prst="roundRect">
              <a:avLst>
                <a:gd fmla="val 14117"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29"/>
            <p:cNvSpPr txBox="1"/>
            <p:nvPr/>
          </p:nvSpPr>
          <p:spPr>
            <a:xfrm>
              <a:off x="190500" y="142875"/>
              <a:ext cx="8001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110">
                  <a:solidFill>
                    <a:srgbClr val="1F2937"/>
                  </a:solidFill>
                  <a:latin typeface="Arial"/>
                  <a:ea typeface="Arial"/>
                  <a:cs typeface="Arial"/>
                  <a:sym typeface="Arial"/>
                </a:rPr>
                <a:t>Βασική Αρχή Asymmetric Trust</a:t>
              </a:r>
              <a:endParaRPr b="1" sz="1110">
                <a:solidFill>
                  <a:srgbClr val="1F2937"/>
                </a:solidFill>
                <a:latin typeface="Arial"/>
                <a:ea typeface="Arial"/>
                <a:cs typeface="Arial"/>
                <a:sym typeface="Arial"/>
              </a:endParaRPr>
            </a:p>
            <a:p>
              <a:pPr indent="0" lvl="0" marL="0" rtl="0" algn="l">
                <a:spcBef>
                  <a:spcPts val="450"/>
                </a:spcBef>
                <a:spcAft>
                  <a:spcPts val="0"/>
                </a:spcAft>
                <a:buNone/>
              </a:pPr>
              <a:r>
                <a:rPr b="0" lang="el" sz="879">
                  <a:solidFill>
                    <a:srgbClr val="4B5563"/>
                  </a:solidFill>
                  <a:latin typeface="Arial"/>
                  <a:ea typeface="Arial"/>
                  <a:cs typeface="Arial"/>
                  <a:sym typeface="Arial"/>
                </a:rPr>
                <a:t>Η παραγωγή κώδικα από την AI είναι γρήγορη, αλλά η ευθύνη της ασφάλειας παραμένει 100% στον μηχανικό. Κάθε γραμμή δικτύου, εισόδου και ταυτοποίησης πρέπει να αντιμετωπίζεται ως δυνητικά ευάλωτη.</a:t>
              </a:r>
              <a:endParaRPr b="0" sz="879">
                <a:solidFill>
                  <a:srgbClr val="4B5563"/>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0" name="Shape 360"/>
        <p:cNvGrpSpPr/>
        <p:nvPr/>
      </p:nvGrpSpPr>
      <p:grpSpPr>
        <a:xfrm>
          <a:off x="0" y="0"/>
          <a:ext cx="0" cy="0"/>
          <a:chOff x="0" y="0"/>
          <a:chExt cx="0" cy="0"/>
        </a:xfrm>
      </p:grpSpPr>
      <p:sp>
        <p:nvSpPr>
          <p:cNvPr id="361" name="Google Shape;361;p30"/>
          <p:cNvSpPr txBox="1"/>
          <p:nvPr/>
        </p:nvSpPr>
        <p:spPr>
          <a:xfrm>
            <a:off x="381000" y="285750"/>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2200">
                <a:solidFill>
                  <a:srgbClr val="111827"/>
                </a:solidFill>
                <a:latin typeface="Arial"/>
                <a:ea typeface="Arial"/>
                <a:cs typeface="Arial"/>
                <a:sym typeface="Arial"/>
              </a:rPr>
              <a:t>Σπάσε τον φαύλο κύκλο του debugging</a:t>
            </a:r>
            <a:endParaRPr b="1" sz="2200">
              <a:solidFill>
                <a:srgbClr val="111827"/>
              </a:solidFill>
              <a:latin typeface="Arial"/>
              <a:ea typeface="Arial"/>
              <a:cs typeface="Arial"/>
              <a:sym typeface="Arial"/>
            </a:endParaRPr>
          </a:p>
        </p:txBody>
      </p:sp>
      <p:sp>
        <p:nvSpPr>
          <p:cNvPr id="362" name="Google Shape;362;p30"/>
          <p:cNvSpPr txBox="1"/>
          <p:nvPr/>
        </p:nvSpPr>
        <p:spPr>
          <a:xfrm>
            <a:off x="381000" y="685800"/>
            <a:ext cx="8382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l" sz="1050">
                <a:solidFill>
                  <a:srgbClr val="4B5563"/>
                </a:solidFill>
                <a:latin typeface="Arial"/>
                <a:ea typeface="Arial"/>
                <a:cs typeface="Arial"/>
                <a:sym typeface="Arial"/>
              </a:rPr>
              <a:t>Διαχωρισμός διάγνωσης από τη διόρθωση για την αποφυγή του "Vibe Coding Doom Loop".</a:t>
            </a:r>
            <a:endParaRPr b="0" sz="1050">
              <a:solidFill>
                <a:srgbClr val="4B5563"/>
              </a:solidFill>
              <a:latin typeface="Arial"/>
              <a:ea typeface="Arial"/>
              <a:cs typeface="Arial"/>
              <a:sym typeface="Arial"/>
            </a:endParaRPr>
          </a:p>
        </p:txBody>
      </p:sp>
      <p:grpSp>
        <p:nvGrpSpPr>
          <p:cNvPr id="363" name="Google Shape;363;p30"/>
          <p:cNvGrpSpPr/>
          <p:nvPr/>
        </p:nvGrpSpPr>
        <p:grpSpPr>
          <a:xfrm>
            <a:off x="381000" y="1066800"/>
            <a:ext cx="1524000" cy="714300"/>
            <a:chOff x="0" y="0"/>
            <a:chExt cx="1524000" cy="714300"/>
          </a:xfrm>
        </p:grpSpPr>
        <p:sp>
          <p:nvSpPr>
            <p:cNvPr id="364" name="Google Shape;364;p30"/>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30"/>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900">
                  <a:solidFill>
                    <a:srgbClr val="2563EB"/>
                  </a:solidFill>
                  <a:latin typeface="Arial"/>
                  <a:ea typeface="Arial"/>
                  <a:cs typeface="Arial"/>
                  <a:sym typeface="Arial"/>
                </a:rPr>
                <a:t>1. Observe</a:t>
              </a:r>
              <a:endParaRPr b="1" sz="900">
                <a:solidFill>
                  <a:srgbClr val="2563EB"/>
                </a:solidFill>
                <a:latin typeface="Arial"/>
                <a:ea typeface="Arial"/>
                <a:cs typeface="Arial"/>
                <a:sym typeface="Arial"/>
              </a:endParaRPr>
            </a:p>
            <a:p>
              <a:pPr indent="0" lvl="0" marL="0" rtl="0" algn="l">
                <a:spcBef>
                  <a:spcPts val="300"/>
                </a:spcBef>
                <a:spcAft>
                  <a:spcPts val="0"/>
                </a:spcAft>
                <a:buNone/>
              </a:pPr>
              <a:r>
                <a:rPr b="0" lang="el" sz="750">
                  <a:solidFill>
                    <a:srgbClr val="6B7280"/>
                  </a:solidFill>
                  <a:latin typeface="Arial"/>
                  <a:ea typeface="Arial"/>
                  <a:cs typeface="Arial"/>
                  <a:sym typeface="Arial"/>
                </a:rPr>
                <a:t>Ανάλυση logs &amp; συμπτωμάτων</a:t>
              </a:r>
              <a:endParaRPr b="0" sz="750">
                <a:solidFill>
                  <a:srgbClr val="6B7280"/>
                </a:solidFill>
                <a:latin typeface="Arial"/>
                <a:ea typeface="Arial"/>
                <a:cs typeface="Arial"/>
                <a:sym typeface="Arial"/>
              </a:endParaRPr>
            </a:p>
          </p:txBody>
        </p:sp>
      </p:grpSp>
      <p:sp>
        <p:nvSpPr>
          <p:cNvPr id="366" name="Google Shape;366;p30"/>
          <p:cNvSpPr/>
          <p:nvPr/>
        </p:nvSpPr>
        <p:spPr>
          <a:xfrm>
            <a:off x="1952625" y="1343025"/>
            <a:ext cx="95400" cy="76200"/>
          </a:xfrm>
          <a:custGeom>
            <a:rect b="b" l="l" r="r" t="t"/>
            <a:pathLst>
              <a:path extrusionOk="0" h="120000" w="120000">
                <a:moveTo>
                  <a:pt x="0" y="60000"/>
                </a:moveTo>
                <a:lnTo>
                  <a:pt x="120000" y="60000"/>
                </a:lnTo>
                <a:moveTo>
                  <a:pt x="72000" y="0"/>
                </a:moveTo>
                <a:lnTo>
                  <a:pt x="120000" y="60000"/>
                </a:lnTo>
                <a:lnTo>
                  <a:pt x="72000" y="120000"/>
                </a:lnTo>
              </a:path>
            </a:pathLst>
          </a:custGeom>
          <a:solidFill>
            <a:srgbClr val="000000">
              <a:alpha val="0"/>
            </a:srgbClr>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7" name="Google Shape;367;p30"/>
          <p:cNvGrpSpPr/>
          <p:nvPr/>
        </p:nvGrpSpPr>
        <p:grpSpPr>
          <a:xfrm>
            <a:off x="2095500" y="1066800"/>
            <a:ext cx="1524000" cy="714300"/>
            <a:chOff x="0" y="0"/>
            <a:chExt cx="1524000" cy="714300"/>
          </a:xfrm>
        </p:grpSpPr>
        <p:sp>
          <p:nvSpPr>
            <p:cNvPr id="368" name="Google Shape;368;p30"/>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30"/>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900">
                  <a:solidFill>
                    <a:srgbClr val="2563EB"/>
                  </a:solidFill>
                  <a:latin typeface="Arial"/>
                  <a:ea typeface="Arial"/>
                  <a:cs typeface="Arial"/>
                  <a:sym typeface="Arial"/>
                </a:rPr>
                <a:t>2. Diagnose</a:t>
              </a:r>
              <a:endParaRPr b="1" sz="900">
                <a:solidFill>
                  <a:srgbClr val="2563EB"/>
                </a:solidFill>
                <a:latin typeface="Arial"/>
                <a:ea typeface="Arial"/>
                <a:cs typeface="Arial"/>
                <a:sym typeface="Arial"/>
              </a:endParaRPr>
            </a:p>
            <a:p>
              <a:pPr indent="0" lvl="0" marL="0" rtl="0" algn="l">
                <a:spcBef>
                  <a:spcPts val="300"/>
                </a:spcBef>
                <a:spcAft>
                  <a:spcPts val="0"/>
                </a:spcAft>
                <a:buNone/>
              </a:pPr>
              <a:r>
                <a:rPr b="0" lang="el" sz="750">
                  <a:solidFill>
                    <a:srgbClr val="6B7280"/>
                  </a:solidFill>
                  <a:latin typeface="Arial"/>
                  <a:ea typeface="Arial"/>
                  <a:cs typeface="Arial"/>
                  <a:sym typeface="Arial"/>
                </a:rPr>
                <a:t>Εντοπισμός πιθανής αιτίας</a:t>
              </a:r>
              <a:endParaRPr b="0" sz="750">
                <a:solidFill>
                  <a:srgbClr val="6B7280"/>
                </a:solidFill>
                <a:latin typeface="Arial"/>
                <a:ea typeface="Arial"/>
                <a:cs typeface="Arial"/>
                <a:sym typeface="Arial"/>
              </a:endParaRPr>
            </a:p>
          </p:txBody>
        </p:sp>
      </p:grpSp>
      <p:sp>
        <p:nvSpPr>
          <p:cNvPr id="370" name="Google Shape;370;p30"/>
          <p:cNvSpPr/>
          <p:nvPr/>
        </p:nvSpPr>
        <p:spPr>
          <a:xfrm>
            <a:off x="3667125" y="1343025"/>
            <a:ext cx="95400" cy="76200"/>
          </a:xfrm>
          <a:custGeom>
            <a:rect b="b" l="l" r="r" t="t"/>
            <a:pathLst>
              <a:path extrusionOk="0" h="120000" w="120000">
                <a:moveTo>
                  <a:pt x="0" y="60000"/>
                </a:moveTo>
                <a:lnTo>
                  <a:pt x="120000" y="60000"/>
                </a:lnTo>
                <a:moveTo>
                  <a:pt x="72000" y="0"/>
                </a:moveTo>
                <a:lnTo>
                  <a:pt x="120000" y="60000"/>
                </a:lnTo>
                <a:lnTo>
                  <a:pt x="72000" y="120000"/>
                </a:lnTo>
              </a:path>
            </a:pathLst>
          </a:custGeom>
          <a:solidFill>
            <a:srgbClr val="000000">
              <a:alpha val="0"/>
            </a:srgbClr>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1" name="Google Shape;371;p30"/>
          <p:cNvGrpSpPr/>
          <p:nvPr/>
        </p:nvGrpSpPr>
        <p:grpSpPr>
          <a:xfrm>
            <a:off x="3810000" y="1066800"/>
            <a:ext cx="1524000" cy="714300"/>
            <a:chOff x="0" y="0"/>
            <a:chExt cx="1524000" cy="714300"/>
          </a:xfrm>
        </p:grpSpPr>
        <p:sp>
          <p:nvSpPr>
            <p:cNvPr id="372" name="Google Shape;372;p30"/>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30"/>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900">
                  <a:solidFill>
                    <a:srgbClr val="2563EB"/>
                  </a:solidFill>
                  <a:latin typeface="Arial"/>
                  <a:ea typeface="Arial"/>
                  <a:cs typeface="Arial"/>
                  <a:sym typeface="Arial"/>
                </a:rPr>
                <a:t>3. Hypothesis</a:t>
              </a:r>
              <a:endParaRPr b="1" sz="900">
                <a:solidFill>
                  <a:srgbClr val="2563EB"/>
                </a:solidFill>
                <a:latin typeface="Arial"/>
                <a:ea typeface="Arial"/>
                <a:cs typeface="Arial"/>
                <a:sym typeface="Arial"/>
              </a:endParaRPr>
            </a:p>
            <a:p>
              <a:pPr indent="0" lvl="0" marL="0" rtl="0" algn="l">
                <a:spcBef>
                  <a:spcPts val="300"/>
                </a:spcBef>
                <a:spcAft>
                  <a:spcPts val="0"/>
                </a:spcAft>
                <a:buNone/>
              </a:pPr>
              <a:r>
                <a:rPr b="0" lang="el" sz="750">
                  <a:solidFill>
                    <a:srgbClr val="6B7280"/>
                  </a:solidFill>
                  <a:latin typeface="Arial"/>
                  <a:ea typeface="Arial"/>
                  <a:cs typeface="Arial"/>
                  <a:sym typeface="Arial"/>
                </a:rPr>
                <a:t>Εξήγηση στοιχείων</a:t>
              </a:r>
              <a:endParaRPr b="0" sz="750">
                <a:solidFill>
                  <a:srgbClr val="6B7280"/>
                </a:solidFill>
                <a:latin typeface="Arial"/>
                <a:ea typeface="Arial"/>
                <a:cs typeface="Arial"/>
                <a:sym typeface="Arial"/>
              </a:endParaRPr>
            </a:p>
          </p:txBody>
        </p:sp>
      </p:grpSp>
      <p:sp>
        <p:nvSpPr>
          <p:cNvPr id="374" name="Google Shape;374;p30"/>
          <p:cNvSpPr/>
          <p:nvPr/>
        </p:nvSpPr>
        <p:spPr>
          <a:xfrm>
            <a:off x="5381625" y="1343025"/>
            <a:ext cx="95400" cy="76200"/>
          </a:xfrm>
          <a:custGeom>
            <a:rect b="b" l="l" r="r" t="t"/>
            <a:pathLst>
              <a:path extrusionOk="0" h="120000" w="120000">
                <a:moveTo>
                  <a:pt x="0" y="60000"/>
                </a:moveTo>
                <a:lnTo>
                  <a:pt x="120000" y="60000"/>
                </a:lnTo>
                <a:moveTo>
                  <a:pt x="72000" y="0"/>
                </a:moveTo>
                <a:lnTo>
                  <a:pt x="120000" y="60000"/>
                </a:lnTo>
                <a:lnTo>
                  <a:pt x="72000" y="120000"/>
                </a:lnTo>
              </a:path>
            </a:pathLst>
          </a:custGeom>
          <a:solidFill>
            <a:srgbClr val="000000">
              <a:alpha val="0"/>
            </a:srgbClr>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5" name="Google Shape;375;p30"/>
          <p:cNvGrpSpPr/>
          <p:nvPr/>
        </p:nvGrpSpPr>
        <p:grpSpPr>
          <a:xfrm>
            <a:off x="5524500" y="1066800"/>
            <a:ext cx="1524000" cy="714300"/>
            <a:chOff x="0" y="0"/>
            <a:chExt cx="1524000" cy="714300"/>
          </a:xfrm>
        </p:grpSpPr>
        <p:sp>
          <p:nvSpPr>
            <p:cNvPr id="376" name="Google Shape;376;p30"/>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30"/>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900">
                  <a:solidFill>
                    <a:srgbClr val="2563EB"/>
                  </a:solidFill>
                  <a:latin typeface="Arial"/>
                  <a:ea typeface="Arial"/>
                  <a:cs typeface="Arial"/>
                  <a:sym typeface="Arial"/>
                </a:rPr>
                <a:t>4. Fix</a:t>
              </a:r>
              <a:endParaRPr b="1" sz="900">
                <a:solidFill>
                  <a:srgbClr val="2563EB"/>
                </a:solidFill>
                <a:latin typeface="Arial"/>
                <a:ea typeface="Arial"/>
                <a:cs typeface="Arial"/>
                <a:sym typeface="Arial"/>
              </a:endParaRPr>
            </a:p>
            <a:p>
              <a:pPr indent="0" lvl="0" marL="0" rtl="0" algn="l">
                <a:spcBef>
                  <a:spcPts val="300"/>
                </a:spcBef>
                <a:spcAft>
                  <a:spcPts val="0"/>
                </a:spcAft>
                <a:buNone/>
              </a:pPr>
              <a:r>
                <a:rPr b="0" lang="el" sz="750">
                  <a:solidFill>
                    <a:srgbClr val="6B7280"/>
                  </a:solidFill>
                  <a:latin typeface="Arial"/>
                  <a:ea typeface="Arial"/>
                  <a:cs typeface="Arial"/>
                  <a:sym typeface="Arial"/>
                </a:rPr>
                <a:t>Ελεγχόμενη αλλαγή</a:t>
              </a:r>
              <a:endParaRPr b="0" sz="750">
                <a:solidFill>
                  <a:srgbClr val="6B7280"/>
                </a:solidFill>
                <a:latin typeface="Arial"/>
                <a:ea typeface="Arial"/>
                <a:cs typeface="Arial"/>
                <a:sym typeface="Arial"/>
              </a:endParaRPr>
            </a:p>
          </p:txBody>
        </p:sp>
      </p:grpSp>
      <p:sp>
        <p:nvSpPr>
          <p:cNvPr id="378" name="Google Shape;378;p30"/>
          <p:cNvSpPr/>
          <p:nvPr/>
        </p:nvSpPr>
        <p:spPr>
          <a:xfrm>
            <a:off x="7096125" y="1343025"/>
            <a:ext cx="95400" cy="76200"/>
          </a:xfrm>
          <a:custGeom>
            <a:rect b="b" l="l" r="r" t="t"/>
            <a:pathLst>
              <a:path extrusionOk="0" h="120000" w="120000">
                <a:moveTo>
                  <a:pt x="0" y="60000"/>
                </a:moveTo>
                <a:lnTo>
                  <a:pt x="120000" y="60000"/>
                </a:lnTo>
                <a:moveTo>
                  <a:pt x="72000" y="0"/>
                </a:moveTo>
                <a:lnTo>
                  <a:pt x="120000" y="60000"/>
                </a:lnTo>
                <a:lnTo>
                  <a:pt x="72000" y="120000"/>
                </a:lnTo>
              </a:path>
            </a:pathLst>
          </a:custGeom>
          <a:solidFill>
            <a:srgbClr val="000000">
              <a:alpha val="0"/>
            </a:srgbClr>
          </a:solidFill>
          <a:ln cap="rnd" cmpd="sng" w="19050">
            <a:solidFill>
              <a:srgbClr val="9CA3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9" name="Google Shape;379;p30"/>
          <p:cNvGrpSpPr/>
          <p:nvPr/>
        </p:nvGrpSpPr>
        <p:grpSpPr>
          <a:xfrm>
            <a:off x="7239000" y="1066800"/>
            <a:ext cx="1524000" cy="714300"/>
            <a:chOff x="0" y="0"/>
            <a:chExt cx="1524000" cy="714300"/>
          </a:xfrm>
        </p:grpSpPr>
        <p:sp>
          <p:nvSpPr>
            <p:cNvPr id="380" name="Google Shape;380;p30"/>
            <p:cNvSpPr/>
            <p:nvPr/>
          </p:nvSpPr>
          <p:spPr>
            <a:xfrm>
              <a:off x="0" y="0"/>
              <a:ext cx="1524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30"/>
            <p:cNvSpPr txBox="1"/>
            <p:nvPr/>
          </p:nvSpPr>
          <p:spPr>
            <a:xfrm>
              <a:off x="114300" y="114300"/>
              <a:ext cx="1295400" cy="48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900">
                  <a:solidFill>
                    <a:srgbClr val="2563EB"/>
                  </a:solidFill>
                  <a:latin typeface="Arial"/>
                  <a:ea typeface="Arial"/>
                  <a:cs typeface="Arial"/>
                  <a:sym typeface="Arial"/>
                </a:rPr>
                <a:t>5. Test</a:t>
              </a:r>
              <a:endParaRPr b="1" sz="900">
                <a:solidFill>
                  <a:srgbClr val="2563EB"/>
                </a:solidFill>
                <a:latin typeface="Arial"/>
                <a:ea typeface="Arial"/>
                <a:cs typeface="Arial"/>
                <a:sym typeface="Arial"/>
              </a:endParaRPr>
            </a:p>
            <a:p>
              <a:pPr indent="0" lvl="0" marL="0" rtl="0" algn="l">
                <a:spcBef>
                  <a:spcPts val="300"/>
                </a:spcBef>
                <a:spcAft>
                  <a:spcPts val="0"/>
                </a:spcAft>
                <a:buNone/>
              </a:pPr>
              <a:r>
                <a:rPr b="0" lang="el" sz="750">
                  <a:solidFill>
                    <a:srgbClr val="6B7280"/>
                  </a:solidFill>
                  <a:latin typeface="Arial"/>
                  <a:ea typeface="Arial"/>
                  <a:cs typeface="Arial"/>
                  <a:sym typeface="Arial"/>
                </a:rPr>
                <a:t>Επαλήθευση αποτελέσματος</a:t>
              </a:r>
              <a:endParaRPr b="0" sz="750">
                <a:solidFill>
                  <a:srgbClr val="6B7280"/>
                </a:solidFill>
                <a:latin typeface="Arial"/>
                <a:ea typeface="Arial"/>
                <a:cs typeface="Arial"/>
                <a:sym typeface="Arial"/>
              </a:endParaRPr>
            </a:p>
          </p:txBody>
        </p:sp>
      </p:grpSp>
      <p:grpSp>
        <p:nvGrpSpPr>
          <p:cNvPr id="382" name="Google Shape;382;p30"/>
          <p:cNvGrpSpPr/>
          <p:nvPr/>
        </p:nvGrpSpPr>
        <p:grpSpPr>
          <a:xfrm>
            <a:off x="381000" y="1924050"/>
            <a:ext cx="4048200" cy="1952700"/>
            <a:chOff x="0" y="0"/>
            <a:chExt cx="4048200" cy="1952700"/>
          </a:xfrm>
        </p:grpSpPr>
        <p:sp>
          <p:nvSpPr>
            <p:cNvPr id="383" name="Google Shape;383;p30"/>
            <p:cNvSpPr/>
            <p:nvPr/>
          </p:nvSpPr>
          <p:spPr>
            <a:xfrm>
              <a:off x="0" y="0"/>
              <a:ext cx="4048200" cy="1952700"/>
            </a:xfrm>
            <a:prstGeom prst="roundRect">
              <a:avLst>
                <a:gd fmla="val 5853" name="adj"/>
              </a:avLst>
            </a:prstGeom>
            <a:solidFill>
              <a:srgbClr val="FEF2F2"/>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30"/>
            <p:cNvSpPr txBox="1"/>
            <p:nvPr/>
          </p:nvSpPr>
          <p:spPr>
            <a:xfrm>
              <a:off x="190500" y="190500"/>
              <a:ext cx="36672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018">
                  <a:solidFill>
                    <a:srgbClr val="991B1B"/>
                  </a:solidFill>
                  <a:latin typeface="Arial"/>
                  <a:ea typeface="Arial"/>
                  <a:cs typeface="Arial"/>
                  <a:sym typeface="Arial"/>
                </a:rPr>
                <a:t>⚠️ Vibe Coding Doom Loop</a:t>
              </a:r>
              <a:endParaRPr b="1" sz="1018">
                <a:solidFill>
                  <a:srgbClr val="991B1B"/>
                </a:solidFill>
                <a:latin typeface="Arial"/>
                <a:ea typeface="Arial"/>
                <a:cs typeface="Arial"/>
                <a:sym typeface="Arial"/>
              </a:endParaRPr>
            </a:p>
            <a:p>
              <a:pPr indent="0" lvl="0" marL="0" rtl="0" algn="l">
                <a:spcBef>
                  <a:spcPts val="600"/>
                </a:spcBef>
                <a:spcAft>
                  <a:spcPts val="0"/>
                </a:spcAft>
                <a:buNone/>
              </a:pPr>
              <a:r>
                <a:rPr b="0" lang="el" sz="812">
                  <a:solidFill>
                    <a:srgbClr val="7F1D1D"/>
                  </a:solidFill>
                  <a:latin typeface="Arial"/>
                  <a:ea typeface="Arial"/>
                  <a:cs typeface="Arial"/>
                  <a:sym typeface="Arial"/>
                </a:rPr>
                <a:t>• Η </a:t>
              </a:r>
              <a:r>
                <a:rPr lang="el" sz="812">
                  <a:solidFill>
                    <a:srgbClr val="7F1D1D"/>
                  </a:solidFill>
                </a:rPr>
                <a:t>ΤΝ</a:t>
              </a:r>
              <a:r>
                <a:rPr b="0" lang="el" sz="812">
                  <a:solidFill>
                    <a:srgbClr val="7F1D1D"/>
                  </a:solidFill>
                  <a:latin typeface="Arial"/>
                  <a:ea typeface="Arial"/>
                  <a:cs typeface="Arial"/>
                  <a:sym typeface="Arial"/>
                </a:rPr>
                <a:t> διορθώνει ένα bug αλλά δημιουργεί νέο.</a:t>
              </a:r>
              <a:endParaRPr b="0" sz="812">
                <a:solidFill>
                  <a:srgbClr val="7F1D1D"/>
                </a:solidFill>
                <a:latin typeface="Arial"/>
                <a:ea typeface="Arial"/>
                <a:cs typeface="Arial"/>
                <a:sym typeface="Arial"/>
              </a:endParaRPr>
            </a:p>
            <a:p>
              <a:pPr indent="0" lvl="0" marL="0" rtl="0" algn="l">
                <a:spcBef>
                  <a:spcPts val="400"/>
                </a:spcBef>
                <a:spcAft>
                  <a:spcPts val="0"/>
                </a:spcAft>
                <a:buNone/>
              </a:pPr>
              <a:r>
                <a:rPr b="0" lang="el" sz="812">
                  <a:solidFill>
                    <a:srgbClr val="7F1D1D"/>
                  </a:solidFill>
                  <a:latin typeface="Arial"/>
                  <a:ea typeface="Arial"/>
                  <a:cs typeface="Arial"/>
                  <a:sym typeface="Arial"/>
                </a:rPr>
                <a:t>• Συνεχείς τυφλές διορθώσεις χωρίς διάγνωση.</a:t>
              </a:r>
              <a:endParaRPr b="0" sz="812">
                <a:solidFill>
                  <a:srgbClr val="7F1D1D"/>
                </a:solidFill>
                <a:latin typeface="Arial"/>
                <a:ea typeface="Arial"/>
                <a:cs typeface="Arial"/>
                <a:sym typeface="Arial"/>
              </a:endParaRPr>
            </a:p>
            <a:p>
              <a:pPr indent="0" lvl="0" marL="0" rtl="0" algn="l">
                <a:spcBef>
                  <a:spcPts val="400"/>
                </a:spcBef>
                <a:spcAft>
                  <a:spcPts val="0"/>
                </a:spcAft>
                <a:buNone/>
              </a:pPr>
              <a:r>
                <a:rPr b="0" lang="el" sz="812">
                  <a:solidFill>
                    <a:srgbClr val="7F1D1D"/>
                  </a:solidFill>
                  <a:latin typeface="Arial"/>
                  <a:ea typeface="Arial"/>
                  <a:cs typeface="Arial"/>
                  <a:sym typeface="Arial"/>
                </a:rPr>
                <a:t>• Άγνωστο ποια αλλαγή προκάλεσε ποιο πρόβλημα.</a:t>
              </a:r>
              <a:endParaRPr b="0" sz="812">
                <a:solidFill>
                  <a:srgbClr val="7F1D1D"/>
                </a:solidFill>
                <a:latin typeface="Arial"/>
                <a:ea typeface="Arial"/>
                <a:cs typeface="Arial"/>
                <a:sym typeface="Arial"/>
              </a:endParaRPr>
            </a:p>
            <a:p>
              <a:pPr indent="0" lvl="0" marL="0" rtl="0" algn="l">
                <a:spcBef>
                  <a:spcPts val="800"/>
                </a:spcBef>
                <a:spcAft>
                  <a:spcPts val="0"/>
                </a:spcAft>
                <a:buNone/>
              </a:pPr>
              <a:r>
                <a:rPr b="1" lang="el" sz="812">
                  <a:solidFill>
                    <a:srgbClr val="991B1B"/>
                  </a:solidFill>
                  <a:latin typeface="Arial"/>
                  <a:ea typeface="Arial"/>
                  <a:cs typeface="Arial"/>
                  <a:sym typeface="Arial"/>
                </a:rPr>
                <a:t>Μην στέλνεις απλώς το ίδιο prompt πιο δυνατά!</a:t>
              </a:r>
              <a:endParaRPr b="1" sz="812">
                <a:solidFill>
                  <a:srgbClr val="991B1B"/>
                </a:solidFill>
                <a:latin typeface="Arial"/>
                <a:ea typeface="Arial"/>
                <a:cs typeface="Arial"/>
                <a:sym typeface="Arial"/>
              </a:endParaRPr>
            </a:p>
          </p:txBody>
        </p:sp>
      </p:grpSp>
      <p:grpSp>
        <p:nvGrpSpPr>
          <p:cNvPr id="385" name="Google Shape;385;p30"/>
          <p:cNvGrpSpPr/>
          <p:nvPr/>
        </p:nvGrpSpPr>
        <p:grpSpPr>
          <a:xfrm>
            <a:off x="4714875" y="1924050"/>
            <a:ext cx="4048200" cy="1952700"/>
            <a:chOff x="0" y="0"/>
            <a:chExt cx="4048200" cy="1952700"/>
          </a:xfrm>
        </p:grpSpPr>
        <p:sp>
          <p:nvSpPr>
            <p:cNvPr id="386" name="Google Shape;386;p30"/>
            <p:cNvSpPr/>
            <p:nvPr/>
          </p:nvSpPr>
          <p:spPr>
            <a:xfrm>
              <a:off x="0" y="0"/>
              <a:ext cx="4048200" cy="1952700"/>
            </a:xfrm>
            <a:prstGeom prst="roundRect">
              <a:avLst>
                <a:gd fmla="val 5853" name="adj"/>
              </a:avLst>
            </a:prstGeom>
            <a:solidFill>
              <a:srgbClr val="ECFDF5"/>
            </a:solidFill>
            <a:ln cap="flat" cmpd="sng" w="14300">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30"/>
            <p:cNvSpPr txBox="1"/>
            <p:nvPr/>
          </p:nvSpPr>
          <p:spPr>
            <a:xfrm>
              <a:off x="190500" y="190500"/>
              <a:ext cx="36672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018">
                  <a:solidFill>
                    <a:srgbClr val="065F46"/>
                  </a:solidFill>
                  <a:latin typeface="Arial"/>
                  <a:ea typeface="Arial"/>
                  <a:cs typeface="Arial"/>
                  <a:sym typeface="Arial"/>
                </a:rPr>
                <a:t>✓ Συστηματική προσέγγιση</a:t>
              </a:r>
              <a:endParaRPr b="1" sz="1018">
                <a:solidFill>
                  <a:srgbClr val="065F46"/>
                </a:solidFill>
                <a:latin typeface="Arial"/>
                <a:ea typeface="Arial"/>
                <a:cs typeface="Arial"/>
                <a:sym typeface="Arial"/>
              </a:endParaRPr>
            </a:p>
            <a:p>
              <a:pPr indent="0" lvl="0" marL="0" rtl="0" algn="l">
                <a:spcBef>
                  <a:spcPts val="600"/>
                </a:spcBef>
                <a:spcAft>
                  <a:spcPts val="0"/>
                </a:spcAft>
                <a:buNone/>
              </a:pPr>
              <a:r>
                <a:rPr b="1" lang="el" sz="812">
                  <a:solidFill>
                    <a:srgbClr val="047857"/>
                  </a:solidFill>
                  <a:latin typeface="Arial"/>
                  <a:ea typeface="Arial"/>
                  <a:cs typeface="Arial"/>
                  <a:sym typeface="Arial"/>
                </a:rPr>
                <a:t>1. Διάγνωση:</a:t>
              </a:r>
              <a:r>
                <a:rPr b="0" lang="el" sz="812">
                  <a:solidFill>
                    <a:srgbClr val="047857"/>
                  </a:solidFill>
                  <a:latin typeface="Arial"/>
                  <a:ea typeface="Arial"/>
                  <a:cs typeface="Arial"/>
                  <a:sym typeface="Arial"/>
                </a:rPr>
                <a:t> Ζήτα ανάλυση logs χωρίς αλλαγή κώδικα.</a:t>
              </a:r>
              <a:endParaRPr b="0" sz="812">
                <a:solidFill>
                  <a:srgbClr val="047857"/>
                </a:solidFill>
                <a:latin typeface="Arial"/>
                <a:ea typeface="Arial"/>
                <a:cs typeface="Arial"/>
                <a:sym typeface="Arial"/>
              </a:endParaRPr>
            </a:p>
            <a:p>
              <a:pPr indent="0" lvl="0" marL="0" rtl="0" algn="l">
                <a:spcBef>
                  <a:spcPts val="400"/>
                </a:spcBef>
                <a:spcAft>
                  <a:spcPts val="0"/>
                </a:spcAft>
                <a:buNone/>
              </a:pPr>
              <a:r>
                <a:rPr b="1" lang="el" sz="812">
                  <a:solidFill>
                    <a:srgbClr val="047857"/>
                  </a:solidFill>
                  <a:latin typeface="Arial"/>
                  <a:ea typeface="Arial"/>
                  <a:cs typeface="Arial"/>
                  <a:sym typeface="Arial"/>
                </a:rPr>
                <a:t>2. Αξιολόγηση:</a:t>
              </a:r>
              <a:r>
                <a:rPr b="0" lang="el" sz="812">
                  <a:solidFill>
                    <a:srgbClr val="047857"/>
                  </a:solidFill>
                  <a:latin typeface="Arial"/>
                  <a:ea typeface="Arial"/>
                  <a:cs typeface="Arial"/>
                  <a:sym typeface="Arial"/>
                </a:rPr>
                <a:t> Επιβεβαίωσε την πιθανή αιτία.</a:t>
              </a:r>
              <a:endParaRPr b="0" sz="812">
                <a:solidFill>
                  <a:srgbClr val="047857"/>
                </a:solidFill>
                <a:latin typeface="Arial"/>
                <a:ea typeface="Arial"/>
                <a:cs typeface="Arial"/>
                <a:sym typeface="Arial"/>
              </a:endParaRPr>
            </a:p>
            <a:p>
              <a:pPr indent="0" lvl="0" marL="0" rtl="0" algn="l">
                <a:spcBef>
                  <a:spcPts val="400"/>
                </a:spcBef>
                <a:spcAft>
                  <a:spcPts val="0"/>
                </a:spcAft>
                <a:buNone/>
              </a:pPr>
              <a:r>
                <a:rPr b="1" lang="el" sz="812">
                  <a:solidFill>
                    <a:srgbClr val="047857"/>
                  </a:solidFill>
                  <a:latin typeface="Arial"/>
                  <a:ea typeface="Arial"/>
                  <a:cs typeface="Arial"/>
                  <a:sym typeface="Arial"/>
                </a:rPr>
                <a:t>3. Διόρθωση:</a:t>
              </a:r>
              <a:r>
                <a:rPr b="0" lang="el" sz="812">
                  <a:solidFill>
                    <a:srgbClr val="047857"/>
                  </a:solidFill>
                  <a:latin typeface="Arial"/>
                  <a:ea typeface="Arial"/>
                  <a:cs typeface="Arial"/>
                  <a:sym typeface="Arial"/>
                </a:rPr>
                <a:t> Εφάρμοσε μία ελεγχόμενη αλλαγή &amp; test.</a:t>
              </a:r>
              <a:endParaRPr b="0" sz="812">
                <a:solidFill>
                  <a:srgbClr val="047857"/>
                </a:solidFill>
                <a:latin typeface="Arial"/>
                <a:ea typeface="Arial"/>
                <a:cs typeface="Arial"/>
                <a:sym typeface="Arial"/>
              </a:endParaRPr>
            </a:p>
            <a:p>
              <a:pPr indent="0" lvl="0" marL="0" rtl="0" algn="l">
                <a:spcBef>
                  <a:spcPts val="800"/>
                </a:spcBef>
                <a:spcAft>
                  <a:spcPts val="0"/>
                </a:spcAft>
                <a:buNone/>
              </a:pPr>
              <a:r>
                <a:rPr b="1" lang="el" sz="812">
                  <a:solidFill>
                    <a:srgbClr val="065F46"/>
                  </a:solidFill>
                  <a:latin typeface="Arial"/>
                  <a:ea typeface="Arial"/>
                  <a:cs typeface="Arial"/>
                  <a:sym typeface="Arial"/>
                </a:rPr>
                <a:t>Αλλαγή στρατηγικής, καθαρότερο context ή human review.</a:t>
              </a:r>
              <a:endParaRPr b="1" sz="812">
                <a:solidFill>
                  <a:srgbClr val="065F46"/>
                </a:solidFill>
                <a:latin typeface="Arial"/>
                <a:ea typeface="Arial"/>
                <a:cs typeface="Arial"/>
                <a:sym typeface="Arial"/>
              </a:endParaRPr>
            </a:p>
          </p:txBody>
        </p:sp>
      </p:grpSp>
      <p:grpSp>
        <p:nvGrpSpPr>
          <p:cNvPr id="388" name="Google Shape;388;p30"/>
          <p:cNvGrpSpPr/>
          <p:nvPr/>
        </p:nvGrpSpPr>
        <p:grpSpPr>
          <a:xfrm>
            <a:off x="381000" y="4019550"/>
            <a:ext cx="8382000" cy="809700"/>
            <a:chOff x="0" y="0"/>
            <a:chExt cx="8382000" cy="809700"/>
          </a:xfrm>
        </p:grpSpPr>
        <p:sp>
          <p:nvSpPr>
            <p:cNvPr id="389" name="Google Shape;389;p30"/>
            <p:cNvSpPr/>
            <p:nvPr/>
          </p:nvSpPr>
          <p:spPr>
            <a:xfrm>
              <a:off x="0" y="0"/>
              <a:ext cx="8382000" cy="809700"/>
            </a:xfrm>
            <a:prstGeom prst="roundRect">
              <a:avLst>
                <a:gd fmla="val 14117"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30"/>
            <p:cNvSpPr txBox="1"/>
            <p:nvPr/>
          </p:nvSpPr>
          <p:spPr>
            <a:xfrm>
              <a:off x="190500" y="171450"/>
              <a:ext cx="8001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018">
                  <a:solidFill>
                    <a:srgbClr val="1F2937"/>
                  </a:solidFill>
                  <a:latin typeface="Arial"/>
                  <a:ea typeface="Arial"/>
                  <a:cs typeface="Arial"/>
                  <a:sym typeface="Arial"/>
                </a:rPr>
                <a:t>Βασική Αρχή: Διαχωρισμός διάγνωσης &amp; διόρθωσης</a:t>
              </a:r>
              <a:endParaRPr b="1" sz="1018">
                <a:solidFill>
                  <a:srgbClr val="1F2937"/>
                </a:solidFill>
                <a:latin typeface="Arial"/>
                <a:ea typeface="Arial"/>
                <a:cs typeface="Arial"/>
                <a:sym typeface="Arial"/>
              </a:endParaRPr>
            </a:p>
            <a:p>
              <a:pPr indent="0" lvl="0" marL="0" rtl="0" algn="l">
                <a:spcBef>
                  <a:spcPts val="450"/>
                </a:spcBef>
                <a:spcAft>
                  <a:spcPts val="0"/>
                </a:spcAft>
                <a:buNone/>
              </a:pPr>
              <a:r>
                <a:rPr b="0" lang="el" sz="812">
                  <a:solidFill>
                    <a:srgbClr val="4B5563"/>
                  </a:solidFill>
                  <a:latin typeface="Arial"/>
                  <a:ea typeface="Arial"/>
                  <a:cs typeface="Arial"/>
                  <a:sym typeface="Arial"/>
                </a:rPr>
                <a:t>Πριν αλλάξει οτιδήποτε στον κώδικα, απαιτείται πλήρης κατανόηση του προβλήματος. Αν το μοντέλο επαναλαμβάνει λάθη, άλλαξε προσέγγιση ή δώσε καλύτερο context.</a:t>
              </a:r>
              <a:endParaRPr b="0" sz="812">
                <a:solidFill>
                  <a:srgbClr val="4B5563"/>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94" name="Shape 394"/>
        <p:cNvGrpSpPr/>
        <p:nvPr/>
      </p:nvGrpSpPr>
      <p:grpSpPr>
        <a:xfrm>
          <a:off x="0" y="0"/>
          <a:ext cx="0" cy="0"/>
          <a:chOff x="0" y="0"/>
          <a:chExt cx="0" cy="0"/>
        </a:xfrm>
      </p:grpSpPr>
      <p:sp>
        <p:nvSpPr>
          <p:cNvPr id="395" name="Google Shape;395;p31"/>
          <p:cNvSpPr txBox="1"/>
          <p:nvPr/>
        </p:nvSpPr>
        <p:spPr>
          <a:xfrm>
            <a:off x="381000" y="285750"/>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2200">
                <a:solidFill>
                  <a:srgbClr val="111827"/>
                </a:solidFill>
                <a:latin typeface="Arial"/>
                <a:ea typeface="Arial"/>
                <a:cs typeface="Arial"/>
                <a:sym typeface="Arial"/>
              </a:rPr>
              <a:t>Μάθε πότε να σταματάς και να επανεκτιμάς</a:t>
            </a:r>
            <a:endParaRPr b="1" sz="2200">
              <a:solidFill>
                <a:srgbClr val="111827"/>
              </a:solidFill>
              <a:latin typeface="Arial"/>
              <a:ea typeface="Arial"/>
              <a:cs typeface="Arial"/>
              <a:sym typeface="Arial"/>
            </a:endParaRPr>
          </a:p>
        </p:txBody>
      </p:sp>
      <p:sp>
        <p:nvSpPr>
          <p:cNvPr id="396" name="Google Shape;396;p31"/>
          <p:cNvSpPr txBox="1"/>
          <p:nvPr/>
        </p:nvSpPr>
        <p:spPr>
          <a:xfrm>
            <a:off x="381000" y="685800"/>
            <a:ext cx="8382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l" sz="1050">
                <a:solidFill>
                  <a:srgbClr val="4B5563"/>
                </a:solidFill>
                <a:latin typeface="Arial"/>
                <a:ea typeface="Arial"/>
                <a:cs typeface="Arial"/>
                <a:sym typeface="Arial"/>
              </a:rPr>
              <a:t>Η επιμονή είναι χρήσιμη, αλλά η ατέρμονη επανάληψη δεν είναι στρατηγική.</a:t>
            </a:r>
            <a:endParaRPr b="0" sz="1050">
              <a:solidFill>
                <a:srgbClr val="4B5563"/>
              </a:solidFill>
              <a:latin typeface="Arial"/>
              <a:ea typeface="Arial"/>
              <a:cs typeface="Arial"/>
              <a:sym typeface="Arial"/>
            </a:endParaRPr>
          </a:p>
        </p:txBody>
      </p:sp>
      <p:grpSp>
        <p:nvGrpSpPr>
          <p:cNvPr id="397" name="Google Shape;397;p31"/>
          <p:cNvGrpSpPr/>
          <p:nvPr/>
        </p:nvGrpSpPr>
        <p:grpSpPr>
          <a:xfrm>
            <a:off x="4714875" y="1066800"/>
            <a:ext cx="4048200" cy="1952700"/>
            <a:chOff x="0" y="0"/>
            <a:chExt cx="4048200" cy="1952700"/>
          </a:xfrm>
        </p:grpSpPr>
        <p:sp>
          <p:nvSpPr>
            <p:cNvPr id="398" name="Google Shape;398;p31"/>
            <p:cNvSpPr/>
            <p:nvPr/>
          </p:nvSpPr>
          <p:spPr>
            <a:xfrm>
              <a:off x="0" y="0"/>
              <a:ext cx="4048200" cy="1952700"/>
            </a:xfrm>
            <a:prstGeom prst="roundRect">
              <a:avLst>
                <a:gd fmla="val 5853" name="adj"/>
              </a:avLst>
            </a:prstGeom>
            <a:solidFill>
              <a:srgbClr val="FEF2F2"/>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31"/>
            <p:cNvSpPr txBox="1"/>
            <p:nvPr/>
          </p:nvSpPr>
          <p:spPr>
            <a:xfrm>
              <a:off x="190500" y="171450"/>
              <a:ext cx="36672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064">
                  <a:solidFill>
                    <a:srgbClr val="991B1B"/>
                  </a:solidFill>
                  <a:latin typeface="Arial"/>
                  <a:ea typeface="Arial"/>
                  <a:cs typeface="Arial"/>
                  <a:sym typeface="Arial"/>
                </a:rPr>
                <a:t>⚠️ Σημάδια ότι πρέπει να σταματήσεις</a:t>
              </a:r>
              <a:endParaRPr b="1" sz="1064">
                <a:solidFill>
                  <a:srgbClr val="991B1B"/>
                </a:solidFill>
                <a:latin typeface="Arial"/>
                <a:ea typeface="Arial"/>
                <a:cs typeface="Arial"/>
                <a:sym typeface="Arial"/>
              </a:endParaRPr>
            </a:p>
            <a:p>
              <a:pPr indent="-278527" lvl="0" marL="457200" rtl="0" algn="l">
                <a:spcBef>
                  <a:spcPts val="600"/>
                </a:spcBef>
                <a:spcAft>
                  <a:spcPts val="0"/>
                </a:spcAft>
                <a:buClr>
                  <a:srgbClr val="7F1D1D"/>
                </a:buClr>
                <a:buSzPts val="786"/>
                <a:buFont typeface="Arial"/>
                <a:buChar char="●"/>
              </a:pPr>
              <a:r>
                <a:rPr b="1" lang="el" sz="786">
                  <a:solidFill>
                    <a:srgbClr val="7F1D1D"/>
                  </a:solidFill>
                  <a:latin typeface="Arial"/>
                  <a:ea typeface="Arial"/>
                  <a:cs typeface="Arial"/>
                  <a:sym typeface="Arial"/>
                </a:rPr>
                <a:t>Επαναλαμβανόμενα bugs:</a:t>
              </a:r>
              <a:r>
                <a:rPr b="0" lang="el" sz="786">
                  <a:solidFill>
                    <a:srgbClr val="7F1D1D"/>
                  </a:solidFill>
                  <a:latin typeface="Arial"/>
                  <a:ea typeface="Arial"/>
                  <a:cs typeface="Arial"/>
                  <a:sym typeface="Arial"/>
                </a:rPr>
                <a:t> Η </a:t>
              </a:r>
              <a:r>
                <a:rPr lang="el" sz="786">
                  <a:solidFill>
                    <a:srgbClr val="7F1D1D"/>
                  </a:solidFill>
                </a:rPr>
                <a:t>ΤΝ</a:t>
              </a:r>
              <a:r>
                <a:rPr b="0" lang="el" sz="786">
                  <a:solidFill>
                    <a:srgbClr val="7F1D1D"/>
                  </a:solidFill>
                  <a:latin typeface="Arial"/>
                  <a:ea typeface="Arial"/>
                  <a:cs typeface="Arial"/>
                  <a:sym typeface="Arial"/>
                </a:rPr>
                <a:t> ξαναφέρνει το ίδιο πρόβλημα.</a:t>
              </a:r>
              <a:endParaRPr b="0" sz="786">
                <a:solidFill>
                  <a:srgbClr val="7F1D1D"/>
                </a:solidFill>
                <a:latin typeface="Arial"/>
                <a:ea typeface="Arial"/>
                <a:cs typeface="Arial"/>
                <a:sym typeface="Arial"/>
              </a:endParaRPr>
            </a:p>
            <a:p>
              <a:pPr indent="-278527" lvl="0" marL="457200" rtl="0" algn="l">
                <a:spcBef>
                  <a:spcPts val="300"/>
                </a:spcBef>
                <a:spcAft>
                  <a:spcPts val="0"/>
                </a:spcAft>
                <a:buClr>
                  <a:srgbClr val="7F1D1D"/>
                </a:buClr>
                <a:buSzPts val="786"/>
                <a:buFont typeface="Arial"/>
                <a:buChar char="●"/>
              </a:pPr>
              <a:r>
                <a:rPr b="1" lang="el" sz="786">
                  <a:solidFill>
                    <a:srgbClr val="7F1D1D"/>
                  </a:solidFill>
                  <a:latin typeface="Arial"/>
                  <a:ea typeface="Arial"/>
                  <a:cs typeface="Arial"/>
                  <a:sym typeface="Arial"/>
                </a:rPr>
                <a:t>Cascading failures:</a:t>
              </a:r>
              <a:r>
                <a:rPr b="0" lang="el" sz="786">
                  <a:solidFill>
                    <a:srgbClr val="7F1D1D"/>
                  </a:solidFill>
                  <a:latin typeface="Arial"/>
                  <a:ea typeface="Arial"/>
                  <a:cs typeface="Arial"/>
                  <a:sym typeface="Arial"/>
                </a:rPr>
                <a:t> Μια διόρθωση σπάει μια άλλη λειτουργία.</a:t>
              </a:r>
              <a:endParaRPr b="0" sz="786">
                <a:solidFill>
                  <a:srgbClr val="7F1D1D"/>
                </a:solidFill>
                <a:latin typeface="Arial"/>
                <a:ea typeface="Arial"/>
                <a:cs typeface="Arial"/>
                <a:sym typeface="Arial"/>
              </a:endParaRPr>
            </a:p>
            <a:p>
              <a:pPr indent="-278527" lvl="0" marL="457200" rtl="0" algn="l">
                <a:spcBef>
                  <a:spcPts val="300"/>
                </a:spcBef>
                <a:spcAft>
                  <a:spcPts val="0"/>
                </a:spcAft>
                <a:buClr>
                  <a:srgbClr val="7F1D1D"/>
                </a:buClr>
                <a:buSzPts val="786"/>
                <a:buFont typeface="Arial"/>
                <a:buChar char="●"/>
              </a:pPr>
              <a:r>
                <a:rPr b="1" lang="el" sz="786">
                  <a:solidFill>
                    <a:srgbClr val="7F1D1D"/>
                  </a:solidFill>
                  <a:latin typeface="Arial"/>
                  <a:ea typeface="Arial"/>
                  <a:cs typeface="Arial"/>
                  <a:sym typeface="Arial"/>
                </a:rPr>
                <a:t>Αυξανόμενη πολυπλοκότητα:</a:t>
              </a:r>
              <a:r>
                <a:rPr b="0" lang="el" sz="786">
                  <a:solidFill>
                    <a:srgbClr val="7F1D1D"/>
                  </a:solidFill>
                  <a:latin typeface="Arial"/>
                  <a:ea typeface="Arial"/>
                  <a:cs typeface="Arial"/>
                  <a:sym typeface="Arial"/>
                </a:rPr>
                <a:t> Ο κώδικας γίνεται πιο περίπλοκος χωρίς λόγο.</a:t>
              </a:r>
              <a:endParaRPr b="0" sz="786">
                <a:solidFill>
                  <a:srgbClr val="7F1D1D"/>
                </a:solidFill>
                <a:latin typeface="Arial"/>
                <a:ea typeface="Arial"/>
                <a:cs typeface="Arial"/>
                <a:sym typeface="Arial"/>
              </a:endParaRPr>
            </a:p>
            <a:p>
              <a:pPr indent="0" lvl="0" marL="0" rtl="0" algn="l">
                <a:spcBef>
                  <a:spcPts val="600"/>
                </a:spcBef>
                <a:spcAft>
                  <a:spcPts val="0"/>
                </a:spcAft>
                <a:buNone/>
              </a:pPr>
              <a:r>
                <a:rPr b="1" lang="el" sz="786">
                  <a:solidFill>
                    <a:srgbClr val="991B1B"/>
                  </a:solidFill>
                  <a:latin typeface="Arial"/>
                  <a:ea typeface="Arial"/>
                  <a:cs typeface="Arial"/>
                  <a:sym typeface="Arial"/>
                </a:rPr>
                <a:t>Μην συνεχίζεις το ίδιο μοτίβο ελπίζοντας σε διαφορετικό αποτέλεσμα!</a:t>
              </a:r>
              <a:endParaRPr b="1" sz="786">
                <a:solidFill>
                  <a:srgbClr val="991B1B"/>
                </a:solidFill>
                <a:latin typeface="Arial"/>
                <a:ea typeface="Arial"/>
                <a:cs typeface="Arial"/>
                <a:sym typeface="Arial"/>
              </a:endParaRPr>
            </a:p>
          </p:txBody>
        </p:sp>
      </p:grpSp>
      <p:grpSp>
        <p:nvGrpSpPr>
          <p:cNvPr id="400" name="Google Shape;400;p31"/>
          <p:cNvGrpSpPr/>
          <p:nvPr/>
        </p:nvGrpSpPr>
        <p:grpSpPr>
          <a:xfrm>
            <a:off x="381000" y="3162300"/>
            <a:ext cx="8382000" cy="904800"/>
            <a:chOff x="0" y="0"/>
            <a:chExt cx="8382000" cy="904800"/>
          </a:xfrm>
        </p:grpSpPr>
        <p:sp>
          <p:nvSpPr>
            <p:cNvPr id="401" name="Google Shape;401;p31"/>
            <p:cNvSpPr/>
            <p:nvPr/>
          </p:nvSpPr>
          <p:spPr>
            <a:xfrm>
              <a:off x="0" y="0"/>
              <a:ext cx="8382000" cy="904800"/>
            </a:xfrm>
            <a:prstGeom prst="roundRect">
              <a:avLst>
                <a:gd fmla="val 12631" name="adj"/>
              </a:avLst>
            </a:prstGeom>
            <a:solidFill>
              <a:srgbClr val="ECFDF5"/>
            </a:solidFill>
            <a:ln cap="flat" cmpd="sng" w="14300">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31"/>
            <p:cNvSpPr txBox="1"/>
            <p:nvPr/>
          </p:nvSpPr>
          <p:spPr>
            <a:xfrm>
              <a:off x="190500" y="133350"/>
              <a:ext cx="8001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064">
                  <a:solidFill>
                    <a:srgbClr val="065F46"/>
                  </a:solidFill>
                  <a:latin typeface="Arial"/>
                  <a:ea typeface="Arial"/>
                  <a:cs typeface="Arial"/>
                  <a:sym typeface="Arial"/>
                </a:rPr>
                <a:t>✓ Εναλλακτικές στρατηγικές επανεκκίνησης</a:t>
              </a:r>
              <a:endParaRPr b="1" sz="1064">
                <a:solidFill>
                  <a:srgbClr val="065F46"/>
                </a:solidFill>
                <a:latin typeface="Arial"/>
                <a:ea typeface="Arial"/>
                <a:cs typeface="Arial"/>
                <a:sym typeface="Arial"/>
              </a:endParaRPr>
            </a:p>
            <a:p>
              <a:pPr indent="-278527" lvl="0" marL="457200" rtl="0" algn="l">
                <a:spcBef>
                  <a:spcPts val="450"/>
                </a:spcBef>
                <a:spcAft>
                  <a:spcPts val="0"/>
                </a:spcAft>
                <a:buClr>
                  <a:srgbClr val="047857"/>
                </a:buClr>
                <a:buSzPts val="786"/>
                <a:buFont typeface="Arial"/>
                <a:buChar char="●"/>
              </a:pPr>
              <a:r>
                <a:rPr b="1" lang="el" sz="786">
                  <a:solidFill>
                    <a:srgbClr val="047857"/>
                  </a:solidFill>
                  <a:latin typeface="Arial"/>
                  <a:ea typeface="Arial"/>
                  <a:cs typeface="Arial"/>
                  <a:sym typeface="Arial"/>
                </a:rPr>
                <a:t>Νέα συνομιλία:</a:t>
              </a:r>
              <a:r>
                <a:rPr b="0" lang="el" sz="786">
                  <a:solidFill>
                    <a:srgbClr val="047857"/>
                  </a:solidFill>
                  <a:latin typeface="Arial"/>
                  <a:ea typeface="Arial"/>
                  <a:cs typeface="Arial"/>
                  <a:sym typeface="Arial"/>
                </a:rPr>
                <a:t> Ξεκίνα από την αρχή με καθαρή και ακριβή περιγραφή του προβλήματος.</a:t>
              </a:r>
              <a:endParaRPr b="0" sz="786">
                <a:solidFill>
                  <a:srgbClr val="047857"/>
                </a:solidFill>
                <a:latin typeface="Arial"/>
                <a:ea typeface="Arial"/>
                <a:cs typeface="Arial"/>
                <a:sym typeface="Arial"/>
              </a:endParaRPr>
            </a:p>
            <a:p>
              <a:pPr indent="-278527" lvl="0" marL="457200" rtl="0" algn="l">
                <a:spcBef>
                  <a:spcPts val="300"/>
                </a:spcBef>
                <a:spcAft>
                  <a:spcPts val="0"/>
                </a:spcAft>
                <a:buClr>
                  <a:srgbClr val="047857"/>
                </a:buClr>
                <a:buSzPts val="786"/>
                <a:buFont typeface="Arial"/>
                <a:buChar char="●"/>
              </a:pPr>
              <a:r>
                <a:rPr b="1" lang="el" sz="786">
                  <a:solidFill>
                    <a:srgbClr val="047857"/>
                  </a:solidFill>
                  <a:latin typeface="Arial"/>
                  <a:ea typeface="Arial"/>
                  <a:cs typeface="Arial"/>
                  <a:sym typeface="Arial"/>
                </a:rPr>
                <a:t>Τεκμηρίωση &amp; Review:</a:t>
              </a:r>
              <a:r>
                <a:rPr b="0" lang="el" sz="786">
                  <a:solidFill>
                    <a:srgbClr val="047857"/>
                  </a:solidFill>
                  <a:latin typeface="Arial"/>
                  <a:ea typeface="Arial"/>
                  <a:cs typeface="Arial"/>
                  <a:sym typeface="Arial"/>
                </a:rPr>
                <a:t> Συμβουλέψου την επίσημη τεκμηρίωση ή ζήτησε ανεξάρτητη αξιολόγηση.</a:t>
              </a:r>
              <a:endParaRPr b="0" sz="786">
                <a:solidFill>
                  <a:srgbClr val="047857"/>
                </a:solidFill>
                <a:latin typeface="Arial"/>
                <a:ea typeface="Arial"/>
                <a:cs typeface="Arial"/>
                <a:sym typeface="Arial"/>
              </a:endParaRPr>
            </a:p>
            <a:p>
              <a:pPr indent="-278527" lvl="0" marL="457200" rtl="0" algn="l">
                <a:spcBef>
                  <a:spcPts val="300"/>
                </a:spcBef>
                <a:spcAft>
                  <a:spcPts val="300"/>
                </a:spcAft>
                <a:buClr>
                  <a:srgbClr val="047857"/>
                </a:buClr>
                <a:buSzPts val="786"/>
                <a:buFont typeface="Arial"/>
                <a:buChar char="●"/>
              </a:pPr>
              <a:r>
                <a:rPr b="1" lang="el" sz="786">
                  <a:solidFill>
                    <a:srgbClr val="047857"/>
                  </a:solidFill>
                  <a:latin typeface="Arial"/>
                  <a:ea typeface="Arial"/>
                  <a:cs typeface="Arial"/>
                  <a:sym typeface="Arial"/>
                </a:rPr>
                <a:t>Manual Implementation:</a:t>
              </a:r>
              <a:r>
                <a:rPr b="0" lang="el" sz="786">
                  <a:solidFill>
                    <a:srgbClr val="047857"/>
                  </a:solidFill>
                  <a:latin typeface="Arial"/>
                  <a:ea typeface="Arial"/>
                  <a:cs typeface="Arial"/>
                  <a:sym typeface="Arial"/>
                </a:rPr>
                <a:t> Γράψε εσύ το κρίσιμο τμήμα του κώδικα.</a:t>
              </a:r>
              <a:endParaRPr b="0" sz="786">
                <a:solidFill>
                  <a:srgbClr val="047857"/>
                </a:solidFill>
                <a:latin typeface="Arial"/>
                <a:ea typeface="Arial"/>
                <a:cs typeface="Arial"/>
                <a:sym typeface="Arial"/>
              </a:endParaRPr>
            </a:p>
          </p:txBody>
        </p:sp>
      </p:grpSp>
      <p:grpSp>
        <p:nvGrpSpPr>
          <p:cNvPr id="403" name="Google Shape;403;p31"/>
          <p:cNvGrpSpPr/>
          <p:nvPr/>
        </p:nvGrpSpPr>
        <p:grpSpPr>
          <a:xfrm>
            <a:off x="381000" y="4210050"/>
            <a:ext cx="8382000" cy="619200"/>
            <a:chOff x="0" y="0"/>
            <a:chExt cx="8382000" cy="619200"/>
          </a:xfrm>
        </p:grpSpPr>
        <p:sp>
          <p:nvSpPr>
            <p:cNvPr id="404" name="Google Shape;404;p31"/>
            <p:cNvSpPr/>
            <p:nvPr/>
          </p:nvSpPr>
          <p:spPr>
            <a:xfrm>
              <a:off x="0" y="0"/>
              <a:ext cx="8382000" cy="619200"/>
            </a:xfrm>
            <a:prstGeom prst="roundRect">
              <a:avLst>
                <a:gd fmla="val 1846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31"/>
            <p:cNvSpPr txBox="1"/>
            <p:nvPr/>
          </p:nvSpPr>
          <p:spPr>
            <a:xfrm>
              <a:off x="190500" y="114300"/>
              <a:ext cx="8001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050">
                  <a:solidFill>
                    <a:srgbClr val="1F2937"/>
                  </a:solidFill>
                  <a:latin typeface="Arial"/>
                  <a:ea typeface="Arial"/>
                  <a:cs typeface="Arial"/>
                  <a:sym typeface="Arial"/>
                </a:rPr>
                <a:t>Βασική Αρχή: Εστίαση στο πραγματικό πρόβλημα</a:t>
              </a:r>
              <a:endParaRPr b="1" sz="1050">
                <a:solidFill>
                  <a:srgbClr val="1F2937"/>
                </a:solidFill>
                <a:latin typeface="Arial"/>
                <a:ea typeface="Arial"/>
                <a:cs typeface="Arial"/>
                <a:sym typeface="Arial"/>
              </a:endParaRPr>
            </a:p>
            <a:p>
              <a:pPr indent="0" lvl="0" marL="0" rtl="0" algn="l">
                <a:spcBef>
                  <a:spcPts val="300"/>
                </a:spcBef>
                <a:spcAft>
                  <a:spcPts val="0"/>
                </a:spcAft>
                <a:buNone/>
              </a:pPr>
              <a:r>
                <a:rPr b="0" lang="el" sz="786">
                  <a:solidFill>
                    <a:srgbClr val="4B5563"/>
                  </a:solidFill>
                  <a:latin typeface="Arial"/>
                  <a:ea typeface="Arial"/>
                  <a:cs typeface="Arial"/>
                  <a:sym typeface="Arial"/>
                </a:rPr>
                <a:t>Το ζητούμενο δεν είναι να κερδίσεις μια διαφωνία με το μοντέλο. Είναι να λύσεις το πραγματικό πρόβλημα με τον λιγότερο κίνδυνο και τη μεγαλύτερη δυνατή σαφήνεια.</a:t>
              </a:r>
              <a:endParaRPr b="0" sz="786">
                <a:solidFill>
                  <a:srgbClr val="4B5563"/>
                </a:solidFill>
                <a:latin typeface="Arial"/>
                <a:ea typeface="Arial"/>
                <a:cs typeface="Arial"/>
                <a:sym typeface="Arial"/>
              </a:endParaRPr>
            </a:p>
          </p:txBody>
        </p:sp>
      </p:grpSp>
      <p:pic>
        <p:nvPicPr>
          <p:cNvPr descr="Να είναι σε 16:9 για να την εισάγω καλύτερα" id="406" name="Google Shape;406;p31"/>
          <p:cNvPicPr preferRelativeResize="0"/>
          <p:nvPr/>
        </p:nvPicPr>
        <p:blipFill>
          <a:blip r:embed="rId3">
            <a:alphaModFix/>
          </a:blip>
          <a:stretch>
            <a:fillRect/>
          </a:stretch>
        </p:blipFill>
        <p:spPr>
          <a:xfrm>
            <a:off x="572775" y="1061025"/>
            <a:ext cx="3507996" cy="1952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10" name="Shape 410"/>
        <p:cNvGrpSpPr/>
        <p:nvPr/>
      </p:nvGrpSpPr>
      <p:grpSpPr>
        <a:xfrm>
          <a:off x="0" y="0"/>
          <a:ext cx="0" cy="0"/>
          <a:chOff x="0" y="0"/>
          <a:chExt cx="0" cy="0"/>
        </a:xfrm>
      </p:grpSpPr>
      <p:sp>
        <p:nvSpPr>
          <p:cNvPr id="411" name="Google Shape;411;p32"/>
          <p:cNvSpPr txBox="1"/>
          <p:nvPr/>
        </p:nvSpPr>
        <p:spPr>
          <a:xfrm>
            <a:off x="381000" y="285750"/>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2200">
                <a:solidFill>
                  <a:srgbClr val="111827"/>
                </a:solidFill>
                <a:latin typeface="Arial"/>
                <a:ea typeface="Arial"/>
                <a:cs typeface="Arial"/>
                <a:sym typeface="Arial"/>
              </a:rPr>
              <a:t>Ένα workflow που αξίζει να υιοθετήσεις</a:t>
            </a:r>
            <a:endParaRPr b="1" sz="2200">
              <a:solidFill>
                <a:srgbClr val="111827"/>
              </a:solidFill>
              <a:latin typeface="Arial"/>
              <a:ea typeface="Arial"/>
              <a:cs typeface="Arial"/>
              <a:sym typeface="Arial"/>
            </a:endParaRPr>
          </a:p>
        </p:txBody>
      </p:sp>
      <p:sp>
        <p:nvSpPr>
          <p:cNvPr id="412" name="Google Shape;412;p32"/>
          <p:cNvSpPr txBox="1"/>
          <p:nvPr/>
        </p:nvSpPr>
        <p:spPr>
          <a:xfrm>
            <a:off x="381000" y="666750"/>
            <a:ext cx="8382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l" sz="1050">
                <a:solidFill>
                  <a:srgbClr val="4B5563"/>
                </a:solidFill>
                <a:latin typeface="Arial"/>
                <a:ea typeface="Arial"/>
                <a:cs typeface="Arial"/>
                <a:sym typeface="Arial"/>
              </a:rPr>
              <a:t>Μία ολοκληρωμένη ροή εργασίας για αποτελεσματική και ασφαλή ανάπτυξη με </a:t>
            </a:r>
            <a:r>
              <a:rPr lang="el" sz="1050">
                <a:solidFill>
                  <a:srgbClr val="4B5563"/>
                </a:solidFill>
              </a:rPr>
              <a:t>ΤΝ</a:t>
            </a:r>
            <a:r>
              <a:rPr b="0" lang="el" sz="1050">
                <a:solidFill>
                  <a:srgbClr val="4B5563"/>
                </a:solidFill>
                <a:latin typeface="Arial"/>
                <a:ea typeface="Arial"/>
                <a:cs typeface="Arial"/>
                <a:sym typeface="Arial"/>
              </a:rPr>
              <a:t>.</a:t>
            </a:r>
            <a:endParaRPr b="0" sz="1050">
              <a:solidFill>
                <a:srgbClr val="4B5563"/>
              </a:solidFill>
              <a:latin typeface="Arial"/>
              <a:ea typeface="Arial"/>
              <a:cs typeface="Arial"/>
              <a:sym typeface="Arial"/>
            </a:endParaRPr>
          </a:p>
        </p:txBody>
      </p:sp>
      <p:grpSp>
        <p:nvGrpSpPr>
          <p:cNvPr id="413" name="Google Shape;413;p32"/>
          <p:cNvGrpSpPr/>
          <p:nvPr/>
        </p:nvGrpSpPr>
        <p:grpSpPr>
          <a:xfrm>
            <a:off x="381000" y="1047750"/>
            <a:ext cx="2571900" cy="857400"/>
            <a:chOff x="0" y="0"/>
            <a:chExt cx="2571900" cy="857400"/>
          </a:xfrm>
        </p:grpSpPr>
        <p:sp>
          <p:nvSpPr>
            <p:cNvPr id="414" name="Google Shape;414;p32"/>
            <p:cNvSpPr/>
            <p:nvPr/>
          </p:nvSpPr>
          <p:spPr>
            <a:xfrm>
              <a:off x="0" y="0"/>
              <a:ext cx="2571900" cy="857400"/>
            </a:xfrm>
            <a:prstGeom prst="roundRect">
              <a:avLst>
                <a:gd fmla="val 1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32"/>
            <p:cNvSpPr txBox="1"/>
            <p:nvPr/>
          </p:nvSpPr>
          <p:spPr>
            <a:xfrm>
              <a:off x="152400" y="133350"/>
              <a:ext cx="2267100" cy="5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400">
                  <a:solidFill>
                    <a:srgbClr val="2563EB"/>
                  </a:solidFill>
                  <a:latin typeface="Arial"/>
                  <a:ea typeface="Arial"/>
                  <a:cs typeface="Arial"/>
                  <a:sym typeface="Arial"/>
                </a:rPr>
                <a:t>01</a:t>
              </a:r>
              <a:endParaRPr b="1" sz="1400">
                <a:solidFill>
                  <a:srgbClr val="2563EB"/>
                </a:solidFill>
                <a:latin typeface="Arial"/>
                <a:ea typeface="Arial"/>
                <a:cs typeface="Arial"/>
                <a:sym typeface="Arial"/>
              </a:endParaRPr>
            </a:p>
            <a:p>
              <a:pPr indent="0" lvl="0" marL="0" rtl="0" algn="l">
                <a:spcBef>
                  <a:spcPts val="150"/>
                </a:spcBef>
                <a:spcAft>
                  <a:spcPts val="0"/>
                </a:spcAft>
                <a:buNone/>
              </a:pPr>
              <a:r>
                <a:rPr b="1" lang="el" sz="1100">
                  <a:solidFill>
                    <a:srgbClr val="1F2937"/>
                  </a:solidFill>
                  <a:latin typeface="Arial"/>
                  <a:ea typeface="Arial"/>
                  <a:cs typeface="Arial"/>
                  <a:sym typeface="Arial"/>
                </a:rPr>
                <a:t>Σχεδίασε</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Απαίτηση και κριτήρια αποδοχής</a:t>
              </a:r>
              <a:endParaRPr b="0" sz="850">
                <a:solidFill>
                  <a:srgbClr val="4B5563"/>
                </a:solidFill>
                <a:latin typeface="Arial"/>
                <a:ea typeface="Arial"/>
                <a:cs typeface="Arial"/>
                <a:sym typeface="Arial"/>
              </a:endParaRPr>
            </a:p>
          </p:txBody>
        </p:sp>
      </p:grpSp>
      <p:grpSp>
        <p:nvGrpSpPr>
          <p:cNvPr id="416" name="Google Shape;416;p32"/>
          <p:cNvGrpSpPr/>
          <p:nvPr/>
        </p:nvGrpSpPr>
        <p:grpSpPr>
          <a:xfrm>
            <a:off x="3286125" y="1047750"/>
            <a:ext cx="2571900" cy="857400"/>
            <a:chOff x="0" y="0"/>
            <a:chExt cx="2571900" cy="857400"/>
          </a:xfrm>
        </p:grpSpPr>
        <p:sp>
          <p:nvSpPr>
            <p:cNvPr id="417" name="Google Shape;417;p32"/>
            <p:cNvSpPr/>
            <p:nvPr/>
          </p:nvSpPr>
          <p:spPr>
            <a:xfrm>
              <a:off x="0" y="0"/>
              <a:ext cx="2571900" cy="857400"/>
            </a:xfrm>
            <a:prstGeom prst="roundRect">
              <a:avLst>
                <a:gd fmla="val 1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32"/>
            <p:cNvSpPr txBox="1"/>
            <p:nvPr/>
          </p:nvSpPr>
          <p:spPr>
            <a:xfrm>
              <a:off x="152400" y="133350"/>
              <a:ext cx="2267100" cy="5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400">
                  <a:solidFill>
                    <a:srgbClr val="2563EB"/>
                  </a:solidFill>
                  <a:latin typeface="Arial"/>
                  <a:ea typeface="Arial"/>
                  <a:cs typeface="Arial"/>
                  <a:sym typeface="Arial"/>
                </a:rPr>
                <a:t>02</a:t>
              </a:r>
              <a:endParaRPr b="1" sz="1400">
                <a:solidFill>
                  <a:srgbClr val="2563EB"/>
                </a:solidFill>
                <a:latin typeface="Arial"/>
                <a:ea typeface="Arial"/>
                <a:cs typeface="Arial"/>
                <a:sym typeface="Arial"/>
              </a:endParaRPr>
            </a:p>
            <a:p>
              <a:pPr indent="0" lvl="0" marL="0" rtl="0" algn="l">
                <a:spcBef>
                  <a:spcPts val="150"/>
                </a:spcBef>
                <a:spcAft>
                  <a:spcPts val="0"/>
                </a:spcAft>
                <a:buNone/>
              </a:pPr>
              <a:r>
                <a:rPr b="1" lang="el" sz="1100">
                  <a:solidFill>
                    <a:srgbClr val="1F2937"/>
                  </a:solidFill>
                  <a:latin typeface="Arial"/>
                  <a:ea typeface="Arial"/>
                  <a:cs typeface="Arial"/>
                  <a:sym typeface="Arial"/>
                </a:rPr>
                <a:t>Συμφώνησε το πλάνο</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Έλεγξε τις υποθέσεις της </a:t>
              </a:r>
              <a:r>
                <a:rPr lang="el" sz="850">
                  <a:solidFill>
                    <a:srgbClr val="4B5563"/>
                  </a:solidFill>
                </a:rPr>
                <a:t>ΤΝ</a:t>
              </a:r>
              <a:endParaRPr b="0" sz="850">
                <a:solidFill>
                  <a:srgbClr val="4B5563"/>
                </a:solidFill>
                <a:latin typeface="Arial"/>
                <a:ea typeface="Arial"/>
                <a:cs typeface="Arial"/>
                <a:sym typeface="Arial"/>
              </a:endParaRPr>
            </a:p>
          </p:txBody>
        </p:sp>
      </p:grpSp>
      <p:grpSp>
        <p:nvGrpSpPr>
          <p:cNvPr id="419" name="Google Shape;419;p32"/>
          <p:cNvGrpSpPr/>
          <p:nvPr/>
        </p:nvGrpSpPr>
        <p:grpSpPr>
          <a:xfrm>
            <a:off x="6191250" y="1047750"/>
            <a:ext cx="2571900" cy="857400"/>
            <a:chOff x="0" y="0"/>
            <a:chExt cx="2571900" cy="857400"/>
          </a:xfrm>
        </p:grpSpPr>
        <p:sp>
          <p:nvSpPr>
            <p:cNvPr id="420" name="Google Shape;420;p32"/>
            <p:cNvSpPr/>
            <p:nvPr/>
          </p:nvSpPr>
          <p:spPr>
            <a:xfrm>
              <a:off x="0" y="0"/>
              <a:ext cx="2571900" cy="857400"/>
            </a:xfrm>
            <a:prstGeom prst="roundRect">
              <a:avLst>
                <a:gd fmla="val 1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32"/>
            <p:cNvSpPr txBox="1"/>
            <p:nvPr/>
          </p:nvSpPr>
          <p:spPr>
            <a:xfrm>
              <a:off x="152400" y="133350"/>
              <a:ext cx="2267100" cy="5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400">
                  <a:solidFill>
                    <a:srgbClr val="2563EB"/>
                  </a:solidFill>
                  <a:latin typeface="Arial"/>
                  <a:ea typeface="Arial"/>
                  <a:cs typeface="Arial"/>
                  <a:sym typeface="Arial"/>
                </a:rPr>
                <a:t>03</a:t>
              </a:r>
              <a:endParaRPr b="1" sz="1400">
                <a:solidFill>
                  <a:srgbClr val="2563EB"/>
                </a:solidFill>
                <a:latin typeface="Arial"/>
                <a:ea typeface="Arial"/>
                <a:cs typeface="Arial"/>
                <a:sym typeface="Arial"/>
              </a:endParaRPr>
            </a:p>
            <a:p>
              <a:pPr indent="0" lvl="0" marL="0" rtl="0" algn="l">
                <a:spcBef>
                  <a:spcPts val="150"/>
                </a:spcBef>
                <a:spcAft>
                  <a:spcPts val="0"/>
                </a:spcAft>
                <a:buNone/>
              </a:pPr>
              <a:r>
                <a:rPr b="1" lang="el" sz="1100">
                  <a:solidFill>
                    <a:srgbClr val="1F2937"/>
                  </a:solidFill>
                  <a:latin typeface="Arial"/>
                  <a:ea typeface="Arial"/>
                  <a:cs typeface="Arial"/>
                  <a:sym typeface="Arial"/>
                </a:rPr>
                <a:t>Υλοποίησε μικρά βήματα</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Ένα feature κάθε φορά</a:t>
              </a:r>
              <a:endParaRPr b="0" sz="850">
                <a:solidFill>
                  <a:srgbClr val="4B5563"/>
                </a:solidFill>
                <a:latin typeface="Arial"/>
                <a:ea typeface="Arial"/>
                <a:cs typeface="Arial"/>
                <a:sym typeface="Arial"/>
              </a:endParaRPr>
            </a:p>
          </p:txBody>
        </p:sp>
      </p:grpSp>
      <p:grpSp>
        <p:nvGrpSpPr>
          <p:cNvPr id="422" name="Google Shape;422;p32"/>
          <p:cNvGrpSpPr/>
          <p:nvPr/>
        </p:nvGrpSpPr>
        <p:grpSpPr>
          <a:xfrm>
            <a:off x="381000" y="2047875"/>
            <a:ext cx="2571900" cy="857400"/>
            <a:chOff x="0" y="0"/>
            <a:chExt cx="2571900" cy="857400"/>
          </a:xfrm>
        </p:grpSpPr>
        <p:sp>
          <p:nvSpPr>
            <p:cNvPr id="423" name="Google Shape;423;p32"/>
            <p:cNvSpPr/>
            <p:nvPr/>
          </p:nvSpPr>
          <p:spPr>
            <a:xfrm>
              <a:off x="0" y="0"/>
              <a:ext cx="2571900" cy="857400"/>
            </a:xfrm>
            <a:prstGeom prst="roundRect">
              <a:avLst>
                <a:gd fmla="val 1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p32"/>
            <p:cNvSpPr txBox="1"/>
            <p:nvPr/>
          </p:nvSpPr>
          <p:spPr>
            <a:xfrm>
              <a:off x="152400" y="133350"/>
              <a:ext cx="2267100" cy="5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400">
                  <a:solidFill>
                    <a:srgbClr val="2563EB"/>
                  </a:solidFill>
                  <a:latin typeface="Arial"/>
                  <a:ea typeface="Arial"/>
                  <a:cs typeface="Arial"/>
                  <a:sym typeface="Arial"/>
                </a:rPr>
                <a:t>04</a:t>
              </a:r>
              <a:endParaRPr b="1" sz="1400">
                <a:solidFill>
                  <a:srgbClr val="2563EB"/>
                </a:solidFill>
                <a:latin typeface="Arial"/>
                <a:ea typeface="Arial"/>
                <a:cs typeface="Arial"/>
                <a:sym typeface="Arial"/>
              </a:endParaRPr>
            </a:p>
            <a:p>
              <a:pPr indent="0" lvl="0" marL="0" rtl="0" algn="l">
                <a:spcBef>
                  <a:spcPts val="150"/>
                </a:spcBef>
                <a:spcAft>
                  <a:spcPts val="0"/>
                </a:spcAft>
                <a:buNone/>
              </a:pPr>
              <a:r>
                <a:rPr b="1" lang="el" sz="1100">
                  <a:solidFill>
                    <a:srgbClr val="1F2937"/>
                  </a:solidFill>
                  <a:latin typeface="Arial"/>
                  <a:ea typeface="Arial"/>
                  <a:cs typeface="Arial"/>
                  <a:sym typeface="Arial"/>
                </a:rPr>
                <a:t>Έλεγξε τις αλλαγές</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Diff, Git και code review</a:t>
              </a:r>
              <a:endParaRPr b="0" sz="850">
                <a:solidFill>
                  <a:srgbClr val="4B5563"/>
                </a:solidFill>
                <a:latin typeface="Arial"/>
                <a:ea typeface="Arial"/>
                <a:cs typeface="Arial"/>
                <a:sym typeface="Arial"/>
              </a:endParaRPr>
            </a:p>
          </p:txBody>
        </p:sp>
      </p:grpSp>
      <p:grpSp>
        <p:nvGrpSpPr>
          <p:cNvPr id="425" name="Google Shape;425;p32"/>
          <p:cNvGrpSpPr/>
          <p:nvPr/>
        </p:nvGrpSpPr>
        <p:grpSpPr>
          <a:xfrm>
            <a:off x="3286125" y="2047875"/>
            <a:ext cx="2571900" cy="857400"/>
            <a:chOff x="0" y="0"/>
            <a:chExt cx="2571900" cy="857400"/>
          </a:xfrm>
        </p:grpSpPr>
        <p:sp>
          <p:nvSpPr>
            <p:cNvPr id="426" name="Google Shape;426;p32"/>
            <p:cNvSpPr/>
            <p:nvPr/>
          </p:nvSpPr>
          <p:spPr>
            <a:xfrm>
              <a:off x="0" y="0"/>
              <a:ext cx="2571900" cy="857400"/>
            </a:xfrm>
            <a:prstGeom prst="roundRect">
              <a:avLst>
                <a:gd fmla="val 1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32"/>
            <p:cNvSpPr txBox="1"/>
            <p:nvPr/>
          </p:nvSpPr>
          <p:spPr>
            <a:xfrm>
              <a:off x="152400" y="133350"/>
              <a:ext cx="2267100" cy="5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400">
                  <a:solidFill>
                    <a:srgbClr val="2563EB"/>
                  </a:solidFill>
                  <a:latin typeface="Arial"/>
                  <a:ea typeface="Arial"/>
                  <a:cs typeface="Arial"/>
                  <a:sym typeface="Arial"/>
                </a:rPr>
                <a:t>05</a:t>
              </a:r>
              <a:endParaRPr b="1" sz="1400">
                <a:solidFill>
                  <a:srgbClr val="2563EB"/>
                </a:solidFill>
                <a:latin typeface="Arial"/>
                <a:ea typeface="Arial"/>
                <a:cs typeface="Arial"/>
                <a:sym typeface="Arial"/>
              </a:endParaRPr>
            </a:p>
            <a:p>
              <a:pPr indent="0" lvl="0" marL="0" rtl="0" algn="l">
                <a:spcBef>
                  <a:spcPts val="150"/>
                </a:spcBef>
                <a:spcAft>
                  <a:spcPts val="0"/>
                </a:spcAft>
                <a:buNone/>
              </a:pPr>
              <a:r>
                <a:rPr b="1" lang="el" sz="1100">
                  <a:solidFill>
                    <a:srgbClr val="1F2937"/>
                  </a:solidFill>
                  <a:latin typeface="Arial"/>
                  <a:ea typeface="Arial"/>
                  <a:cs typeface="Arial"/>
                  <a:sym typeface="Arial"/>
                </a:rPr>
                <a:t>Επαλήθευσε</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Tests, ασφάλεια και συμπεριφορά</a:t>
              </a:r>
              <a:endParaRPr b="0" sz="850">
                <a:solidFill>
                  <a:srgbClr val="4B5563"/>
                </a:solidFill>
                <a:latin typeface="Arial"/>
                <a:ea typeface="Arial"/>
                <a:cs typeface="Arial"/>
                <a:sym typeface="Arial"/>
              </a:endParaRPr>
            </a:p>
          </p:txBody>
        </p:sp>
      </p:grpSp>
      <p:grpSp>
        <p:nvGrpSpPr>
          <p:cNvPr id="428" name="Google Shape;428;p32"/>
          <p:cNvGrpSpPr/>
          <p:nvPr/>
        </p:nvGrpSpPr>
        <p:grpSpPr>
          <a:xfrm>
            <a:off x="6191250" y="2047875"/>
            <a:ext cx="2571900" cy="857400"/>
            <a:chOff x="0" y="0"/>
            <a:chExt cx="2571900" cy="857400"/>
          </a:xfrm>
        </p:grpSpPr>
        <p:sp>
          <p:nvSpPr>
            <p:cNvPr id="429" name="Google Shape;429;p32"/>
            <p:cNvSpPr/>
            <p:nvPr/>
          </p:nvSpPr>
          <p:spPr>
            <a:xfrm>
              <a:off x="0" y="0"/>
              <a:ext cx="2571900" cy="857400"/>
            </a:xfrm>
            <a:prstGeom prst="roundRect">
              <a:avLst>
                <a:gd fmla="val 1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32"/>
            <p:cNvSpPr txBox="1"/>
            <p:nvPr/>
          </p:nvSpPr>
          <p:spPr>
            <a:xfrm>
              <a:off x="152400" y="133350"/>
              <a:ext cx="2267100" cy="5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400">
                  <a:solidFill>
                    <a:srgbClr val="2563EB"/>
                  </a:solidFill>
                  <a:latin typeface="Arial"/>
                  <a:ea typeface="Arial"/>
                  <a:cs typeface="Arial"/>
                  <a:sym typeface="Arial"/>
                </a:rPr>
                <a:t>06</a:t>
              </a:r>
              <a:endParaRPr b="1" sz="1400">
                <a:solidFill>
                  <a:srgbClr val="2563EB"/>
                </a:solidFill>
                <a:latin typeface="Arial"/>
                <a:ea typeface="Arial"/>
                <a:cs typeface="Arial"/>
                <a:sym typeface="Arial"/>
              </a:endParaRPr>
            </a:p>
            <a:p>
              <a:pPr indent="0" lvl="0" marL="0" rtl="0" algn="l">
                <a:spcBef>
                  <a:spcPts val="150"/>
                </a:spcBef>
                <a:spcAft>
                  <a:spcPts val="0"/>
                </a:spcAft>
                <a:buNone/>
              </a:pPr>
              <a:r>
                <a:rPr b="1" lang="el" sz="1100">
                  <a:solidFill>
                    <a:srgbClr val="1F2937"/>
                  </a:solidFill>
                  <a:latin typeface="Arial"/>
                  <a:ea typeface="Arial"/>
                  <a:cs typeface="Arial"/>
                  <a:sym typeface="Arial"/>
                </a:rPr>
                <a:t>Κάνε release και μάθε</a:t>
              </a:r>
              <a:endParaRPr b="1" sz="110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Τεκμηρίωση και feedback</a:t>
              </a:r>
              <a:endParaRPr b="0" sz="850">
                <a:solidFill>
                  <a:srgbClr val="4B5563"/>
                </a:solidFill>
                <a:latin typeface="Arial"/>
                <a:ea typeface="Arial"/>
                <a:cs typeface="Arial"/>
                <a:sym typeface="Arial"/>
              </a:endParaRPr>
            </a:p>
          </p:txBody>
        </p:sp>
      </p:grpSp>
      <p:pic>
        <p:nvPicPr>
          <p:cNvPr descr="A sleek, modern digital illustration showing a continuous software development workflow process with interconnected nodes, clean lines, subtle neon accents on a neutral dark tech environment." id="431" name="Google Shape;431;p32"/>
          <p:cNvPicPr preferRelativeResize="0"/>
          <p:nvPr/>
        </p:nvPicPr>
        <p:blipFill rotWithShape="1">
          <a:blip r:embed="rId3">
            <a:alphaModFix/>
          </a:blip>
          <a:srcRect b="39899" l="0" r="0" t="39899"/>
          <a:stretch/>
        </p:blipFill>
        <p:spPr>
          <a:xfrm>
            <a:off x="381000" y="3048000"/>
            <a:ext cx="8382000" cy="952500"/>
          </a:xfrm>
          <a:prstGeom prst="roundRect">
            <a:avLst>
              <a:gd fmla="val 12000" name="adj"/>
            </a:avLst>
          </a:prstGeom>
          <a:noFill/>
          <a:ln>
            <a:noFill/>
          </a:ln>
        </p:spPr>
      </p:pic>
      <p:grpSp>
        <p:nvGrpSpPr>
          <p:cNvPr id="432" name="Google Shape;432;p32"/>
          <p:cNvGrpSpPr/>
          <p:nvPr/>
        </p:nvGrpSpPr>
        <p:grpSpPr>
          <a:xfrm>
            <a:off x="381000" y="4143375"/>
            <a:ext cx="8382000" cy="714300"/>
            <a:chOff x="0" y="0"/>
            <a:chExt cx="8382000" cy="714300"/>
          </a:xfrm>
        </p:grpSpPr>
        <p:sp>
          <p:nvSpPr>
            <p:cNvPr id="433" name="Google Shape;433;p32"/>
            <p:cNvSpPr/>
            <p:nvPr/>
          </p:nvSpPr>
          <p:spPr>
            <a:xfrm>
              <a:off x="0" y="0"/>
              <a:ext cx="8382000" cy="714300"/>
            </a:xfrm>
            <a:prstGeom prst="roundRect">
              <a:avLst>
                <a:gd fmla="val 1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32"/>
            <p:cNvSpPr txBox="1"/>
            <p:nvPr/>
          </p:nvSpPr>
          <p:spPr>
            <a:xfrm>
              <a:off x="190500" y="142875"/>
              <a:ext cx="8001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l" sz="1050">
                  <a:solidFill>
                    <a:srgbClr val="1F2937"/>
                  </a:solidFill>
                  <a:latin typeface="Arial"/>
                  <a:ea typeface="Arial"/>
                  <a:cs typeface="Arial"/>
                  <a:sym typeface="Arial"/>
                </a:rPr>
                <a:t>Βασική Αρχή: Συστηματική &amp; Επαναλαμβανόμενη Διαδικασία</a:t>
              </a:r>
              <a:endParaRPr b="1" sz="1050">
                <a:solidFill>
                  <a:srgbClr val="1F2937"/>
                </a:solidFill>
                <a:latin typeface="Arial"/>
                <a:ea typeface="Arial"/>
                <a:cs typeface="Arial"/>
                <a:sym typeface="Arial"/>
              </a:endParaRPr>
            </a:p>
            <a:p>
              <a:pPr indent="0" lvl="0" marL="0" rtl="0" algn="l">
                <a:spcBef>
                  <a:spcPts val="300"/>
                </a:spcBef>
                <a:spcAft>
                  <a:spcPts val="0"/>
                </a:spcAft>
                <a:buNone/>
              </a:pPr>
              <a:r>
                <a:rPr b="0" lang="el" sz="850">
                  <a:solidFill>
                    <a:srgbClr val="4B5563"/>
                  </a:solidFill>
                  <a:latin typeface="Arial"/>
                  <a:ea typeface="Arial"/>
                  <a:cs typeface="Arial"/>
                  <a:sym typeface="Arial"/>
                </a:rPr>
                <a:t>Η υιοθέτηση ενός δομημένου κύκλου εργασίας εξασφαλίζει υψηλή ποιότητα κώδικα, μειώνει τα σφάλματα και μεγιστοποιεί την παραγωγικότητα της ομάδας.</a:t>
              </a:r>
              <a:endParaRPr b="0" sz="850">
                <a:solidFill>
                  <a:srgbClr val="4B5563"/>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id="439" name="Google Shape;439;p33" title="slide17.jpeg"/>
          <p:cNvPicPr preferRelativeResize="0"/>
          <p:nvPr/>
        </p:nvPicPr>
        <p:blipFill>
          <a:blip r:embed="rId3">
            <a:alphaModFix/>
          </a:blip>
          <a:stretch>
            <a:fillRect/>
          </a:stretch>
        </p:blipFill>
        <p:spPr>
          <a:xfrm>
            <a:off x="0" y="79576"/>
            <a:ext cx="9143997" cy="4987240"/>
          </a:xfrm>
          <a:prstGeom prst="rect">
            <a:avLst/>
          </a:prstGeom>
          <a:noFill/>
          <a:ln>
            <a:noFill/>
          </a:ln>
        </p:spPr>
      </p:pic>
      <p:sp>
        <p:nvSpPr>
          <p:cNvPr id="440" name="Google Shape;440;p33"/>
          <p:cNvSpPr txBox="1"/>
          <p:nvPr/>
        </p:nvSpPr>
        <p:spPr>
          <a:xfrm>
            <a:off x="1649386" y="332775"/>
            <a:ext cx="609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sz="1800">
                <a:solidFill>
                  <a:schemeClr val="dk1"/>
                </a:solidFill>
              </a:rPr>
              <a:t>Ο στόχος δεν είναι να γράφουμε περισσότερο κώδικα</a:t>
            </a:r>
            <a:endParaRPr b="1" sz="1800">
              <a:solidFill>
                <a:schemeClr val="dk1"/>
              </a:solidFill>
            </a:endParaRPr>
          </a:p>
        </p:txBody>
      </p:sp>
      <p:sp>
        <p:nvSpPr>
          <p:cNvPr id="441" name="Google Shape;441;p33"/>
          <p:cNvSpPr txBox="1"/>
          <p:nvPr/>
        </p:nvSpPr>
        <p:spPr>
          <a:xfrm>
            <a:off x="2254557" y="3866195"/>
            <a:ext cx="4937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 sz="1800">
                <a:solidFill>
                  <a:schemeClr val="dk2"/>
                </a:solidFill>
              </a:rPr>
              <a:t>Efstathios Iosifidis</a:t>
            </a:r>
            <a:endParaRPr sz="1800">
              <a:solidFill>
                <a:schemeClr val="dk2"/>
              </a:solidFill>
            </a:endParaRPr>
          </a:p>
          <a:p>
            <a:pPr indent="0" lvl="0" marL="0" rtl="0" algn="l">
              <a:spcBef>
                <a:spcPts val="0"/>
              </a:spcBef>
              <a:spcAft>
                <a:spcPts val="0"/>
              </a:spcAft>
              <a:buNone/>
            </a:pPr>
            <a:r>
              <a:rPr lang="el" sz="1800">
                <a:solidFill>
                  <a:schemeClr val="dk2"/>
                </a:solidFill>
              </a:rPr>
              <a:t>https://www.linkedin.com/in/eiosifidis</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